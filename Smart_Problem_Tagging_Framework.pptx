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4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 proposal based on the user discussion and the supplied MVD Guiding Principle and Framework reference image. Integrations are proposed, not existing capabilities. The four principles link visibility, prioritization, verified resolution and relevant operational data. Exact role permissions and workflow rules remain requirements to confirm.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 proposal based on the user discussion and the supplied MVD Guiding Principle and Framework reference image. Integrations are proposed, not existing capabilities. The four principles link visibility, prioritization, verified resolution and relevant operational data. Exact role permissions and workflow rules remain requirements to confirm.</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5171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 proposal based on the user discussion and the supplied MVD Guiding Principle and Framework reference image. Integrations are proposed, not existing capabilities. The four principles link visibility, prioritization, verified resolution and relevant operational data. Exact role permissions and workflow rules remain requirements to confirm.</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64731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 proposal based on the user discussion and the supplied MVD Guiding Principle and Framework reference image. Integrations are proposed, not existing capabilities. The four principles link visibility, prioritization, verified resolution and relevant operational data. Exact role permissions and workflow rules remain requirements to confirm.</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4369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 proposal based on the user discussion and the supplied MVD Guiding Principle and Framework reference image. Integrations are proposed, not existing capabilities. The four principles link visibility, prioritization, verified resolution and relevant operational data. Exact role permissions and workflow rules remain requirements to confirm.</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43904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 proposal based on the user discussion and the supplied MVD Guiding Principle and Framework reference image. Integrations are proposed, not existing capabilities. The four principles link visibility, prioritization, verified resolution and relevant operational data. Exact role permissions and workflow rules remain requirements to confirm.</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03166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57B1B91-EBF6-49F3-945B-3051E16E6913}"/>
              </a:ext>
            </a:extLst>
          </p:cNvPr>
          <p:cNvSpPr>
            <a:spLocks noGrp="1"/>
          </p:cNvSpPr>
          <p:nvPr/>
        </p:nvSpPr>
        <p:spPr>
          <a:xfrm>
            <a:off x="304800" y="200025"/>
            <a:ext cx="8572500" cy="400050"/>
          </a:xfrm>
          <a:prstGeom prst="rect">
            <a:avLst/>
          </a:prstGeom>
          <a:noFill/>
          <a:ln w="0">
            <a:noFill/>
          </a:ln>
        </p:spPr>
        <p:txBody>
          <a:bodyPr>
            <a:noAutofit/>
          </a:bodyPr>
          <a:lstStyle/>
          <a:p>
            <a:pPr>
              <a:defRPr sz="2400" b="1">
                <a:solidFill>
                  <a:srgbClr val="172B3F"/>
                </a:solidFill>
                <a:latin typeface="Arial"/>
                <a:ea typeface="Arial"/>
                <a:cs typeface="Arial"/>
              </a:defRPr>
            </a:pPr>
            <a:r>
              <a:rPr sz="2400" b="1">
                <a:solidFill>
                  <a:srgbClr val="172B3F"/>
                </a:solidFill>
                <a:latin typeface="Arial"/>
                <a:ea typeface="Arial"/>
                <a:cs typeface="Arial"/>
              </a:rPr>
              <a:t>Smart Problem Tagging</a:t>
            </a:r>
          </a:p>
        </p:txBody>
      </p:sp>
      <p:sp>
        <p:nvSpPr>
          <p:cNvPr id="2" name="Rectangle 1">
            <a:extLst>
              <a:ext uri="{FF2B5EF4-FFF2-40B4-BE49-F238E27FC236}">
                <a16:creationId xmlns:a16="http://schemas.microsoft.com/office/drawing/2014/main" id="{C065EADD-D1C3-4101-B155-1CA8A3192513}"/>
              </a:ext>
            </a:extLst>
          </p:cNvPr>
          <p:cNvSpPr>
            <a:spLocks noGrp="1"/>
          </p:cNvSpPr>
          <p:nvPr/>
        </p:nvSpPr>
        <p:spPr>
          <a:xfrm>
            <a:off x="323850" y="619125"/>
            <a:ext cx="8763000" cy="285750"/>
          </a:xfrm>
          <a:prstGeom prst="rect">
            <a:avLst/>
          </a:prstGeom>
          <a:noFill/>
          <a:ln w="0">
            <a:noFill/>
          </a:ln>
        </p:spPr>
        <p:txBody>
          <a:bodyPr>
            <a:noAutofit/>
          </a:bodyPr>
          <a:lstStyle/>
          <a:p>
            <a:pPr>
              <a:defRPr sz="1650" b="0">
                <a:solidFill>
                  <a:srgbClr val="526171"/>
                </a:solidFill>
                <a:latin typeface="Arial"/>
                <a:ea typeface="Arial"/>
                <a:cs typeface="Arial"/>
              </a:defRPr>
            </a:pPr>
            <a:r>
              <a:rPr sz="1650" b="0" dirty="0">
                <a:solidFill>
                  <a:srgbClr val="526171"/>
                </a:solidFill>
                <a:latin typeface="Arial"/>
                <a:ea typeface="Arial"/>
                <a:cs typeface="Arial"/>
              </a:rPr>
              <a:t>Guiding Principles and Framework</a:t>
            </a:r>
          </a:p>
        </p:txBody>
      </p:sp>
      <p:sp>
        <p:nvSpPr>
          <p:cNvPr id="3" name="Rectangle 2">
            <a:extLst>
              <a:ext uri="{FF2B5EF4-FFF2-40B4-BE49-F238E27FC236}">
                <a16:creationId xmlns:a16="http://schemas.microsoft.com/office/drawing/2014/main" id="{8D92998A-0561-4AB5-8E96-E40E409B8F05}"/>
              </a:ext>
            </a:extLst>
          </p:cNvPr>
          <p:cNvSpPr>
            <a:spLocks noGrp="1"/>
          </p:cNvSpPr>
          <p:nvPr/>
        </p:nvSpPr>
        <p:spPr>
          <a:xfrm>
            <a:off x="10858500" y="323850"/>
            <a:ext cx="952500" cy="381000"/>
          </a:xfrm>
          <a:prstGeom prst="rect">
            <a:avLst/>
          </a:prstGeom>
          <a:noFill/>
          <a:ln w="0">
            <a:noFill/>
          </a:ln>
        </p:spPr>
        <p:txBody>
          <a:bodyPr>
            <a:noAutofit/>
          </a:bodyPr>
          <a:lstStyle/>
          <a:p>
            <a:pPr>
              <a:defRPr sz="1875" b="1">
                <a:solidFill>
                  <a:srgbClr val="ED1C24"/>
                </a:solidFill>
                <a:latin typeface="Arial"/>
                <a:ea typeface="Arial"/>
                <a:cs typeface="Arial"/>
              </a:defRPr>
            </a:pPr>
            <a:r>
              <a:rPr sz="1875" b="1">
                <a:solidFill>
                  <a:srgbClr val="ED1C24"/>
                </a:solidFill>
                <a:latin typeface="Arial"/>
                <a:ea typeface="Arial"/>
                <a:cs typeface="Arial"/>
              </a:rPr>
              <a:t>OPTR</a:t>
            </a:r>
          </a:p>
        </p:txBody>
      </p:sp>
      <p:sp>
        <p:nvSpPr>
          <p:cNvPr id="4" name="Rectangle 3">
            <a:extLst>
              <a:ext uri="{FF2B5EF4-FFF2-40B4-BE49-F238E27FC236}">
                <a16:creationId xmlns:a16="http://schemas.microsoft.com/office/drawing/2014/main" id="{4031E2F5-A8FA-4CD2-9F1B-1DB7A17F3C23}"/>
              </a:ext>
            </a:extLst>
          </p:cNvPr>
          <p:cNvSpPr>
            <a:spLocks noGrp="1"/>
          </p:cNvSpPr>
          <p:nvPr/>
        </p:nvSpPr>
        <p:spPr>
          <a:xfrm>
            <a:off x="304800" y="1009650"/>
            <a:ext cx="11582400" cy="28575"/>
          </a:xfrm>
          <a:prstGeom prst="rect">
            <a:avLst/>
          </a:prstGeom>
          <a:solidFill>
            <a:srgbClr val="ED1C24"/>
          </a:solidFill>
          <a:ln w="0">
            <a:noFill/>
          </a:ln>
        </p:spPr>
      </p:sp>
      <p:sp>
        <p:nvSpPr>
          <p:cNvPr id="5" name="Rectangle 4">
            <a:extLst>
              <a:ext uri="{FF2B5EF4-FFF2-40B4-BE49-F238E27FC236}">
                <a16:creationId xmlns:a16="http://schemas.microsoft.com/office/drawing/2014/main" id="{725713FB-0892-4C4E-8AEE-88FFC079B371}"/>
              </a:ext>
            </a:extLst>
          </p:cNvPr>
          <p:cNvSpPr>
            <a:spLocks noGrp="1"/>
          </p:cNvSpPr>
          <p:nvPr/>
        </p:nvSpPr>
        <p:spPr>
          <a:xfrm>
            <a:off x="323850" y="1238250"/>
            <a:ext cx="3762375" cy="238125"/>
          </a:xfrm>
          <a:prstGeom prst="rect">
            <a:avLst/>
          </a:prstGeom>
          <a:noFill/>
          <a:ln w="0">
            <a:noFill/>
          </a:ln>
        </p:spPr>
        <p:txBody>
          <a:bodyPr>
            <a:noAutofit/>
          </a:bodyPr>
          <a:lstStyle/>
          <a:p>
            <a:pPr>
              <a:defRPr sz="1200" b="1">
                <a:solidFill>
                  <a:srgbClr val="214E78"/>
                </a:solidFill>
                <a:latin typeface="Arial"/>
                <a:ea typeface="Arial"/>
                <a:cs typeface="Arial"/>
              </a:defRPr>
            </a:pPr>
            <a:r>
              <a:rPr sz="1200" b="1">
                <a:solidFill>
                  <a:srgbClr val="214E78"/>
                </a:solidFill>
                <a:latin typeface="Arial"/>
                <a:ea typeface="Arial"/>
                <a:cs typeface="Arial"/>
              </a:rPr>
              <a:t>GUIDING PRINCIPLES</a:t>
            </a:r>
          </a:p>
        </p:txBody>
      </p:sp>
      <p:sp>
        <p:nvSpPr>
          <p:cNvPr id="6" name="Rectangle 5">
            <a:extLst>
              <a:ext uri="{FF2B5EF4-FFF2-40B4-BE49-F238E27FC236}">
                <a16:creationId xmlns:a16="http://schemas.microsoft.com/office/drawing/2014/main" id="{0BB071F8-B54A-45F6-B086-D14A67E8391C}"/>
              </a:ext>
            </a:extLst>
          </p:cNvPr>
          <p:cNvSpPr>
            <a:spLocks noGrp="1"/>
          </p:cNvSpPr>
          <p:nvPr/>
        </p:nvSpPr>
        <p:spPr>
          <a:xfrm>
            <a:off x="323850" y="1628775"/>
            <a:ext cx="1924050" cy="2009775"/>
          </a:xfrm>
          <a:prstGeom prst="rect">
            <a:avLst/>
          </a:prstGeom>
          <a:solidFill>
            <a:srgbClr val="5184BD"/>
          </a:solidFill>
          <a:ln w="0">
            <a:noFill/>
          </a:ln>
        </p:spPr>
      </p:sp>
      <p:sp>
        <p:nvSpPr>
          <p:cNvPr id="7" name="Rectangle 6">
            <a:extLst>
              <a:ext uri="{FF2B5EF4-FFF2-40B4-BE49-F238E27FC236}">
                <a16:creationId xmlns:a16="http://schemas.microsoft.com/office/drawing/2014/main" id="{F7F8FFEF-1066-4D1D-B218-D5759C46D00B}"/>
              </a:ext>
            </a:extLst>
          </p:cNvPr>
          <p:cNvSpPr>
            <a:spLocks noGrp="1"/>
          </p:cNvSpPr>
          <p:nvPr/>
        </p:nvSpPr>
        <p:spPr>
          <a:xfrm>
            <a:off x="466725" y="1914525"/>
            <a:ext cx="1638300" cy="704850"/>
          </a:xfrm>
          <a:prstGeom prst="rect">
            <a:avLst/>
          </a:prstGeom>
          <a:noFill/>
          <a:ln w="0">
            <a:noFill/>
          </a:ln>
        </p:spPr>
        <p:txBody>
          <a:bodyPr>
            <a:noAutofit/>
          </a:bodyPr>
          <a:lstStyle/>
          <a:p>
            <a:pPr>
              <a:defRPr sz="1650" b="1">
                <a:solidFill>
                  <a:srgbClr val="FFFFFF"/>
                </a:solidFill>
                <a:latin typeface="Arial"/>
                <a:ea typeface="Arial"/>
                <a:cs typeface="Arial"/>
              </a:defRPr>
            </a:pPr>
            <a:r>
              <a:rPr sz="1650" b="1">
                <a:solidFill>
                  <a:srgbClr val="FFFFFF"/>
                </a:solidFill>
                <a:latin typeface="Arial"/>
                <a:ea typeface="Arial"/>
                <a:cs typeface="Arial"/>
              </a:rPr>
              <a:t>Enhance Visibility</a:t>
            </a:r>
          </a:p>
        </p:txBody>
      </p:sp>
      <p:sp>
        <p:nvSpPr>
          <p:cNvPr id="8" name="Rectangle 7">
            <a:extLst>
              <a:ext uri="{FF2B5EF4-FFF2-40B4-BE49-F238E27FC236}">
                <a16:creationId xmlns:a16="http://schemas.microsoft.com/office/drawing/2014/main" id="{A1BD728F-EE6D-4CAB-BE51-A9E59A47FB10}"/>
              </a:ext>
            </a:extLst>
          </p:cNvPr>
          <p:cNvSpPr>
            <a:spLocks noGrp="1"/>
          </p:cNvSpPr>
          <p:nvPr/>
        </p:nvSpPr>
        <p:spPr>
          <a:xfrm>
            <a:off x="466725" y="2695575"/>
            <a:ext cx="1638300" cy="704850"/>
          </a:xfrm>
          <a:prstGeom prst="rect">
            <a:avLst/>
          </a:prstGeom>
          <a:no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through spatial visualization</a:t>
            </a:r>
          </a:p>
        </p:txBody>
      </p:sp>
      <p:sp>
        <p:nvSpPr>
          <p:cNvPr id="9" name="Rectangle 8">
            <a:extLst>
              <a:ext uri="{FF2B5EF4-FFF2-40B4-BE49-F238E27FC236}">
                <a16:creationId xmlns:a16="http://schemas.microsoft.com/office/drawing/2014/main" id="{4CE0E162-4134-420B-A11B-1BF82A9D5BC8}"/>
              </a:ext>
            </a:extLst>
          </p:cNvPr>
          <p:cNvSpPr>
            <a:spLocks noGrp="1"/>
          </p:cNvSpPr>
          <p:nvPr/>
        </p:nvSpPr>
        <p:spPr>
          <a:xfrm>
            <a:off x="2276475" y="1628775"/>
            <a:ext cx="1924050" cy="2009775"/>
          </a:xfrm>
          <a:prstGeom prst="rect">
            <a:avLst/>
          </a:prstGeom>
          <a:solidFill>
            <a:srgbClr val="5184BD"/>
          </a:solidFill>
          <a:ln w="0">
            <a:noFill/>
          </a:ln>
        </p:spPr>
      </p:sp>
      <p:sp>
        <p:nvSpPr>
          <p:cNvPr id="10" name="Rectangle 9">
            <a:extLst>
              <a:ext uri="{FF2B5EF4-FFF2-40B4-BE49-F238E27FC236}">
                <a16:creationId xmlns:a16="http://schemas.microsoft.com/office/drawing/2014/main" id="{A305A406-D13A-43F4-AFC9-71E01BD69FE2}"/>
              </a:ext>
            </a:extLst>
          </p:cNvPr>
          <p:cNvSpPr>
            <a:spLocks noGrp="1"/>
          </p:cNvSpPr>
          <p:nvPr/>
        </p:nvSpPr>
        <p:spPr>
          <a:xfrm>
            <a:off x="2419350" y="1914525"/>
            <a:ext cx="1638300" cy="704850"/>
          </a:xfrm>
          <a:prstGeom prst="rect">
            <a:avLst/>
          </a:prstGeom>
          <a:noFill/>
          <a:ln w="0">
            <a:noFill/>
          </a:ln>
        </p:spPr>
        <p:txBody>
          <a:bodyPr>
            <a:noAutofit/>
          </a:bodyPr>
          <a:lstStyle/>
          <a:p>
            <a:pPr>
              <a:defRPr sz="1650" b="1">
                <a:solidFill>
                  <a:srgbClr val="FFFFFF"/>
                </a:solidFill>
                <a:latin typeface="Arial"/>
                <a:ea typeface="Arial"/>
                <a:cs typeface="Arial"/>
              </a:defRPr>
            </a:pPr>
            <a:r>
              <a:rPr sz="1650" b="1">
                <a:solidFill>
                  <a:srgbClr val="FFFFFF"/>
                </a:solidFill>
                <a:latin typeface="Arial"/>
                <a:ea typeface="Arial"/>
                <a:cs typeface="Arial"/>
              </a:rPr>
              <a:t>Optimize Management’s Time</a:t>
            </a:r>
          </a:p>
        </p:txBody>
      </p:sp>
      <p:sp>
        <p:nvSpPr>
          <p:cNvPr id="11" name="Rectangle 10">
            <a:extLst>
              <a:ext uri="{FF2B5EF4-FFF2-40B4-BE49-F238E27FC236}">
                <a16:creationId xmlns:a16="http://schemas.microsoft.com/office/drawing/2014/main" id="{0A26ED6E-55F3-4441-8085-9132403B5EC7}"/>
              </a:ext>
            </a:extLst>
          </p:cNvPr>
          <p:cNvSpPr>
            <a:spLocks noGrp="1"/>
          </p:cNvSpPr>
          <p:nvPr/>
        </p:nvSpPr>
        <p:spPr>
          <a:xfrm>
            <a:off x="2419350" y="2695575"/>
            <a:ext cx="1638300" cy="704850"/>
          </a:xfrm>
          <a:prstGeom prst="rect">
            <a:avLst/>
          </a:prstGeom>
          <a:no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through prioritization</a:t>
            </a:r>
          </a:p>
        </p:txBody>
      </p:sp>
      <p:sp>
        <p:nvSpPr>
          <p:cNvPr id="12" name="Rectangle 11">
            <a:extLst>
              <a:ext uri="{FF2B5EF4-FFF2-40B4-BE49-F238E27FC236}">
                <a16:creationId xmlns:a16="http://schemas.microsoft.com/office/drawing/2014/main" id="{CACA9CF0-63F2-4D2B-94D0-90A931581040}"/>
              </a:ext>
            </a:extLst>
          </p:cNvPr>
          <p:cNvSpPr>
            <a:spLocks noGrp="1"/>
          </p:cNvSpPr>
          <p:nvPr/>
        </p:nvSpPr>
        <p:spPr>
          <a:xfrm>
            <a:off x="323850" y="3895725"/>
            <a:ext cx="1924050" cy="2009775"/>
          </a:xfrm>
          <a:prstGeom prst="rect">
            <a:avLst/>
          </a:prstGeom>
          <a:solidFill>
            <a:srgbClr val="5184BD"/>
          </a:solidFill>
          <a:ln w="0">
            <a:noFill/>
          </a:ln>
        </p:spPr>
      </p:sp>
      <p:sp>
        <p:nvSpPr>
          <p:cNvPr id="13" name="Rectangle 12">
            <a:extLst>
              <a:ext uri="{FF2B5EF4-FFF2-40B4-BE49-F238E27FC236}">
                <a16:creationId xmlns:a16="http://schemas.microsoft.com/office/drawing/2014/main" id="{31AC3646-AF2F-4C6C-B4E4-236DDED85A48}"/>
              </a:ext>
            </a:extLst>
          </p:cNvPr>
          <p:cNvSpPr>
            <a:spLocks noGrp="1"/>
          </p:cNvSpPr>
          <p:nvPr/>
        </p:nvSpPr>
        <p:spPr>
          <a:xfrm>
            <a:off x="466725" y="4181475"/>
            <a:ext cx="1638300" cy="704850"/>
          </a:xfrm>
          <a:prstGeom prst="rect">
            <a:avLst/>
          </a:prstGeom>
          <a:noFill/>
          <a:ln w="0">
            <a:noFill/>
          </a:ln>
        </p:spPr>
        <p:txBody>
          <a:bodyPr>
            <a:noAutofit/>
          </a:bodyPr>
          <a:lstStyle/>
          <a:p>
            <a:pPr>
              <a:defRPr sz="1650" b="1">
                <a:solidFill>
                  <a:srgbClr val="FFFFFF"/>
                </a:solidFill>
                <a:latin typeface="Arial"/>
                <a:ea typeface="Arial"/>
                <a:cs typeface="Arial"/>
              </a:defRPr>
            </a:pPr>
            <a:r>
              <a:rPr sz="1650" b="1">
                <a:solidFill>
                  <a:srgbClr val="FFFFFF"/>
                </a:solidFill>
                <a:latin typeface="Arial"/>
                <a:ea typeface="Arial"/>
                <a:cs typeface="Arial"/>
              </a:rPr>
              <a:t>Ensure Problem Resolution</a:t>
            </a:r>
          </a:p>
        </p:txBody>
      </p:sp>
      <p:sp>
        <p:nvSpPr>
          <p:cNvPr id="14" name="Rectangle 13">
            <a:extLst>
              <a:ext uri="{FF2B5EF4-FFF2-40B4-BE49-F238E27FC236}">
                <a16:creationId xmlns:a16="http://schemas.microsoft.com/office/drawing/2014/main" id="{76CBF65A-52D7-46BC-8E7A-7022684A8F8B}"/>
              </a:ext>
            </a:extLst>
          </p:cNvPr>
          <p:cNvSpPr>
            <a:spLocks noGrp="1"/>
          </p:cNvSpPr>
          <p:nvPr/>
        </p:nvSpPr>
        <p:spPr>
          <a:xfrm>
            <a:off x="466725" y="4962525"/>
            <a:ext cx="1638300" cy="704850"/>
          </a:xfrm>
          <a:prstGeom prst="rect">
            <a:avLst/>
          </a:prstGeom>
          <a:no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through end-to-end tracking</a:t>
            </a:r>
          </a:p>
        </p:txBody>
      </p:sp>
      <p:sp>
        <p:nvSpPr>
          <p:cNvPr id="15" name="Rectangle 14">
            <a:extLst>
              <a:ext uri="{FF2B5EF4-FFF2-40B4-BE49-F238E27FC236}">
                <a16:creationId xmlns:a16="http://schemas.microsoft.com/office/drawing/2014/main" id="{06959C06-D0CE-4DE3-B0D5-C436707DD724}"/>
              </a:ext>
            </a:extLst>
          </p:cNvPr>
          <p:cNvSpPr>
            <a:spLocks noGrp="1"/>
          </p:cNvSpPr>
          <p:nvPr/>
        </p:nvSpPr>
        <p:spPr>
          <a:xfrm>
            <a:off x="2276475" y="3895725"/>
            <a:ext cx="1924050" cy="2009775"/>
          </a:xfrm>
          <a:prstGeom prst="rect">
            <a:avLst/>
          </a:prstGeom>
          <a:solidFill>
            <a:srgbClr val="5184BD"/>
          </a:solidFill>
          <a:ln w="0">
            <a:noFill/>
          </a:ln>
        </p:spPr>
      </p:sp>
      <p:sp>
        <p:nvSpPr>
          <p:cNvPr id="16" name="Rectangle 15">
            <a:extLst>
              <a:ext uri="{FF2B5EF4-FFF2-40B4-BE49-F238E27FC236}">
                <a16:creationId xmlns:a16="http://schemas.microsoft.com/office/drawing/2014/main" id="{0818B8E1-4883-48DC-85D6-375627C386E0}"/>
              </a:ext>
            </a:extLst>
          </p:cNvPr>
          <p:cNvSpPr>
            <a:spLocks noGrp="1"/>
          </p:cNvSpPr>
          <p:nvPr/>
        </p:nvSpPr>
        <p:spPr>
          <a:xfrm>
            <a:off x="2419350" y="4181475"/>
            <a:ext cx="1638300" cy="704850"/>
          </a:xfrm>
          <a:prstGeom prst="rect">
            <a:avLst/>
          </a:prstGeom>
          <a:noFill/>
          <a:ln w="0">
            <a:noFill/>
          </a:ln>
        </p:spPr>
        <p:txBody>
          <a:bodyPr>
            <a:noAutofit/>
          </a:bodyPr>
          <a:lstStyle/>
          <a:p>
            <a:pPr>
              <a:defRPr sz="1650" b="1">
                <a:solidFill>
                  <a:srgbClr val="FFFFFF"/>
                </a:solidFill>
                <a:latin typeface="Arial"/>
                <a:ea typeface="Arial"/>
                <a:cs typeface="Arial"/>
              </a:defRPr>
            </a:pPr>
            <a:r>
              <a:rPr sz="1650" b="1">
                <a:solidFill>
                  <a:srgbClr val="FFFFFF"/>
                </a:solidFill>
                <a:latin typeface="Arial"/>
                <a:ea typeface="Arial"/>
                <a:cs typeface="Arial"/>
              </a:rPr>
              <a:t>Integrate Existing Systems</a:t>
            </a:r>
          </a:p>
        </p:txBody>
      </p:sp>
      <p:sp>
        <p:nvSpPr>
          <p:cNvPr id="17" name="Rectangle 16">
            <a:extLst>
              <a:ext uri="{FF2B5EF4-FFF2-40B4-BE49-F238E27FC236}">
                <a16:creationId xmlns:a16="http://schemas.microsoft.com/office/drawing/2014/main" id="{6E7A671D-7371-45CA-994D-EAC623FD50DC}"/>
              </a:ext>
            </a:extLst>
          </p:cNvPr>
          <p:cNvSpPr>
            <a:spLocks noGrp="1"/>
          </p:cNvSpPr>
          <p:nvPr/>
        </p:nvSpPr>
        <p:spPr>
          <a:xfrm>
            <a:off x="2419350" y="4962525"/>
            <a:ext cx="1638300" cy="704850"/>
          </a:xfrm>
          <a:prstGeom prst="rect">
            <a:avLst/>
          </a:prstGeom>
          <a:noFill/>
          <a:ln w="0">
            <a:noFill/>
          </a:ln>
        </p:spPr>
        <p:txBody>
          <a:bodyPr>
            <a:noAutofit/>
          </a:bodyPr>
          <a:lstStyle/>
          <a:p>
            <a:pPr>
              <a:defRPr sz="1350" b="0">
                <a:solidFill>
                  <a:srgbClr val="FFFFFF"/>
                </a:solidFill>
                <a:latin typeface="Arial"/>
                <a:ea typeface="Arial"/>
                <a:cs typeface="Arial"/>
              </a:defRPr>
            </a:pPr>
            <a:r>
              <a:rPr sz="1350" b="0">
                <a:solidFill>
                  <a:srgbClr val="FFFFFF"/>
                </a:solidFill>
                <a:latin typeface="Arial"/>
                <a:ea typeface="Arial"/>
                <a:cs typeface="Arial"/>
              </a:rPr>
              <a:t>and relevant operational data</a:t>
            </a:r>
          </a:p>
        </p:txBody>
      </p:sp>
      <p:sp>
        <p:nvSpPr>
          <p:cNvPr id="18" name="Rectangle 17">
            <a:extLst>
              <a:ext uri="{FF2B5EF4-FFF2-40B4-BE49-F238E27FC236}">
                <a16:creationId xmlns:a16="http://schemas.microsoft.com/office/drawing/2014/main" id="{7FB6D7A7-72FB-41AD-9304-52DACC09699C}"/>
              </a:ext>
            </a:extLst>
          </p:cNvPr>
          <p:cNvSpPr>
            <a:spLocks noGrp="1"/>
          </p:cNvSpPr>
          <p:nvPr/>
        </p:nvSpPr>
        <p:spPr>
          <a:xfrm>
            <a:off x="723900" y="3171825"/>
            <a:ext cx="3076575" cy="1066800"/>
          </a:xfrm>
          <a:prstGeom prst="rect">
            <a:avLst/>
          </a:prstGeom>
          <a:solidFill>
            <a:srgbClr val="E2ECF7"/>
          </a:solidFill>
          <a:ln w="14288">
            <a:solidFill>
              <a:srgbClr val="FFFFFF"/>
            </a:solidFill>
          </a:ln>
        </p:spPr>
      </p:sp>
      <p:sp>
        <p:nvSpPr>
          <p:cNvPr id="19" name="Rectangle 18">
            <a:extLst>
              <a:ext uri="{FF2B5EF4-FFF2-40B4-BE49-F238E27FC236}">
                <a16:creationId xmlns:a16="http://schemas.microsoft.com/office/drawing/2014/main" id="{D56887BD-C8C3-4E9B-BDED-D45AD9502D15}"/>
              </a:ext>
            </a:extLst>
          </p:cNvPr>
          <p:cNvSpPr>
            <a:spLocks noGrp="1"/>
          </p:cNvSpPr>
          <p:nvPr/>
        </p:nvSpPr>
        <p:spPr>
          <a:xfrm>
            <a:off x="904875" y="3343275"/>
            <a:ext cx="2733675" cy="666750"/>
          </a:xfrm>
          <a:prstGeom prst="rect">
            <a:avLst/>
          </a:prstGeom>
          <a:noFill/>
          <a:ln w="0">
            <a:noFill/>
          </a:ln>
        </p:spPr>
        <p:txBody>
          <a:bodyPr>
            <a:noAutofit/>
          </a:bodyPr>
          <a:lstStyle/>
          <a:p>
            <a:pPr>
              <a:defRPr sz="1875" b="1">
                <a:solidFill>
                  <a:srgbClr val="214E78"/>
                </a:solidFill>
                <a:latin typeface="Arial"/>
                <a:ea typeface="Arial"/>
                <a:cs typeface="Arial"/>
              </a:defRPr>
            </a:pPr>
            <a:r>
              <a:rPr sz="1875" b="1">
                <a:solidFill>
                  <a:srgbClr val="214E78"/>
                </a:solidFill>
                <a:latin typeface="Arial"/>
                <a:ea typeface="Arial"/>
                <a:cs typeface="Arial"/>
              </a:rPr>
              <a:t>Accelerate Field</a:t>
            </a:r>
          </a:p>
          <a:p>
            <a:pPr>
              <a:defRPr sz="1875" b="1">
                <a:solidFill>
                  <a:srgbClr val="214E78"/>
                </a:solidFill>
                <a:latin typeface="Arial"/>
                <a:ea typeface="Arial"/>
                <a:cs typeface="Arial"/>
              </a:defRPr>
            </a:pPr>
            <a:r>
              <a:rPr sz="1875" b="1">
                <a:solidFill>
                  <a:srgbClr val="214E78"/>
                </a:solidFill>
                <a:latin typeface="Arial"/>
                <a:ea typeface="Arial"/>
                <a:cs typeface="Arial"/>
              </a:rPr>
              <a:t>Problem Resolution</a:t>
            </a:r>
          </a:p>
        </p:txBody>
      </p:sp>
      <p:sp>
        <p:nvSpPr>
          <p:cNvPr id="20" name="Rectangle 19">
            <a:extLst>
              <a:ext uri="{FF2B5EF4-FFF2-40B4-BE49-F238E27FC236}">
                <a16:creationId xmlns:a16="http://schemas.microsoft.com/office/drawing/2014/main" id="{0A5BB737-0E0E-4E53-9A09-DD0E1F974F79}"/>
              </a:ext>
            </a:extLst>
          </p:cNvPr>
          <p:cNvSpPr>
            <a:spLocks noGrp="1"/>
          </p:cNvSpPr>
          <p:nvPr/>
        </p:nvSpPr>
        <p:spPr>
          <a:xfrm>
            <a:off x="4552950" y="1238250"/>
            <a:ext cx="7048500" cy="238125"/>
          </a:xfrm>
          <a:prstGeom prst="rect">
            <a:avLst/>
          </a:prstGeom>
          <a:noFill/>
          <a:ln w="0">
            <a:noFill/>
          </a:ln>
        </p:spPr>
        <p:txBody>
          <a:bodyPr>
            <a:noAutofit/>
          </a:bodyPr>
          <a:lstStyle/>
          <a:p>
            <a:pPr>
              <a:defRPr sz="1200" b="1">
                <a:solidFill>
                  <a:srgbClr val="214E78"/>
                </a:solidFill>
                <a:latin typeface="Arial"/>
                <a:ea typeface="Arial"/>
                <a:cs typeface="Arial"/>
              </a:defRPr>
            </a:pPr>
            <a:r>
              <a:rPr sz="1200" b="1">
                <a:solidFill>
                  <a:srgbClr val="214E78"/>
                </a:solidFill>
                <a:latin typeface="Arial"/>
                <a:ea typeface="Arial"/>
                <a:cs typeface="Arial"/>
              </a:rPr>
              <a:t>PROBLEM RESOLUTION FRAMEWORK</a:t>
            </a:r>
          </a:p>
        </p:txBody>
      </p:sp>
      <p:sp>
        <p:nvSpPr>
          <p:cNvPr id="21" name="Rectangle 20">
            <a:extLst>
              <a:ext uri="{FF2B5EF4-FFF2-40B4-BE49-F238E27FC236}">
                <a16:creationId xmlns:a16="http://schemas.microsoft.com/office/drawing/2014/main" id="{AEFB11E8-0824-4C88-9596-B0E964ED871F}"/>
              </a:ext>
            </a:extLst>
          </p:cNvPr>
          <p:cNvSpPr>
            <a:spLocks noGrp="1"/>
          </p:cNvSpPr>
          <p:nvPr/>
        </p:nvSpPr>
        <p:spPr>
          <a:xfrm>
            <a:off x="4552950" y="1676400"/>
            <a:ext cx="3286125" cy="990600"/>
          </a:xfrm>
          <a:prstGeom prst="rect">
            <a:avLst/>
          </a:prstGeom>
          <a:solidFill>
            <a:srgbClr val="F1F6FA"/>
          </a:solidFill>
          <a:ln w="14288">
            <a:solidFill>
              <a:srgbClr val="CCDCE9"/>
            </a:solidFill>
          </a:ln>
        </p:spPr>
      </p:sp>
      <p:sp>
        <p:nvSpPr>
          <p:cNvPr id="22" name="Rectangle 21">
            <a:extLst>
              <a:ext uri="{FF2B5EF4-FFF2-40B4-BE49-F238E27FC236}">
                <a16:creationId xmlns:a16="http://schemas.microsoft.com/office/drawing/2014/main" id="{7041B885-B022-480A-B453-9D45EFAA6648}"/>
              </a:ext>
            </a:extLst>
          </p:cNvPr>
          <p:cNvSpPr>
            <a:spLocks noGrp="1"/>
          </p:cNvSpPr>
          <p:nvPr/>
        </p:nvSpPr>
        <p:spPr>
          <a:xfrm>
            <a:off x="4676775" y="1800225"/>
            <a:ext cx="333375" cy="381000"/>
          </a:xfrm>
          <a:prstGeom prst="rect">
            <a:avLst/>
          </a:prstGeom>
          <a:noFill/>
          <a:ln w="0">
            <a:noFill/>
          </a:ln>
        </p:spPr>
        <p:txBody>
          <a:bodyPr>
            <a:noAutofit/>
          </a:bodyPr>
          <a:lstStyle/>
          <a:p>
            <a:pPr>
              <a:defRPr sz="1800" b="1">
                <a:solidFill>
                  <a:srgbClr val="009FAE"/>
                </a:solidFill>
                <a:latin typeface="Arial"/>
                <a:ea typeface="Arial"/>
                <a:cs typeface="Arial"/>
              </a:defRPr>
            </a:pPr>
            <a:r>
              <a:rPr sz="1800" b="1">
                <a:solidFill>
                  <a:srgbClr val="009FAE"/>
                </a:solidFill>
                <a:latin typeface="Arial"/>
                <a:ea typeface="Arial"/>
                <a:cs typeface="Arial"/>
              </a:rPr>
              <a:t>1</a:t>
            </a:r>
          </a:p>
        </p:txBody>
      </p:sp>
      <p:sp>
        <p:nvSpPr>
          <p:cNvPr id="23" name="Rectangle 22">
            <a:extLst>
              <a:ext uri="{FF2B5EF4-FFF2-40B4-BE49-F238E27FC236}">
                <a16:creationId xmlns:a16="http://schemas.microsoft.com/office/drawing/2014/main" id="{A23DDA71-7976-483B-B9C4-4510D18FFDE4}"/>
              </a:ext>
            </a:extLst>
          </p:cNvPr>
          <p:cNvSpPr>
            <a:spLocks noGrp="1"/>
          </p:cNvSpPr>
          <p:nvPr/>
        </p:nvSpPr>
        <p:spPr>
          <a:xfrm>
            <a:off x="5067300" y="1800225"/>
            <a:ext cx="2619375" cy="285750"/>
          </a:xfrm>
          <a:prstGeom prst="rect">
            <a:avLst/>
          </a:prstGeom>
          <a:noFill/>
          <a:ln w="0">
            <a:noFill/>
          </a:ln>
        </p:spPr>
        <p:txBody>
          <a:bodyPr>
            <a:noAutofit/>
          </a:bodyPr>
          <a:lstStyle/>
          <a:p>
            <a:pPr>
              <a:defRPr sz="1575" b="1">
                <a:solidFill>
                  <a:srgbClr val="214E78"/>
                </a:solidFill>
                <a:latin typeface="Arial"/>
                <a:ea typeface="Arial"/>
                <a:cs typeface="Arial"/>
              </a:defRPr>
            </a:pPr>
            <a:r>
              <a:rPr sz="1575" b="1">
                <a:solidFill>
                  <a:srgbClr val="214E78"/>
                </a:solidFill>
                <a:latin typeface="Arial"/>
                <a:ea typeface="Arial"/>
                <a:cs typeface="Arial"/>
              </a:rPr>
              <a:t>Tag Field Problems</a:t>
            </a:r>
          </a:p>
        </p:txBody>
      </p:sp>
      <p:sp>
        <p:nvSpPr>
          <p:cNvPr id="24" name="Rectangle 23">
            <a:extLst>
              <a:ext uri="{FF2B5EF4-FFF2-40B4-BE49-F238E27FC236}">
                <a16:creationId xmlns:a16="http://schemas.microsoft.com/office/drawing/2014/main" id="{87BBBAA9-098C-48F2-8EC6-3DA2BD85EDFA}"/>
              </a:ext>
            </a:extLst>
          </p:cNvPr>
          <p:cNvSpPr>
            <a:spLocks noGrp="1"/>
          </p:cNvSpPr>
          <p:nvPr/>
        </p:nvSpPr>
        <p:spPr>
          <a:xfrm>
            <a:off x="5067300" y="2124075"/>
            <a:ext cx="2609850" cy="447675"/>
          </a:xfrm>
          <a:prstGeom prst="rect">
            <a:avLst/>
          </a:prstGeom>
          <a:noFill/>
          <a:ln w="0">
            <a:noFill/>
          </a:ln>
        </p:spPr>
        <p:txBody>
          <a:bodyPr>
            <a:noAutofit/>
          </a:bodyPr>
          <a:lstStyle/>
          <a:p>
            <a:pPr>
              <a:defRPr sz="1200" b="0">
                <a:solidFill>
                  <a:srgbClr val="526171"/>
                </a:solidFill>
                <a:latin typeface="Arial"/>
                <a:ea typeface="Arial"/>
                <a:cs typeface="Arial"/>
              </a:defRPr>
            </a:pPr>
            <a:r>
              <a:rPr sz="1200" b="0">
                <a:solidFill>
                  <a:srgbClr val="526171"/>
                </a:solidFill>
                <a:latin typeface="Arial"/>
                <a:ea typeface="Arial"/>
                <a:cs typeface="Arial"/>
              </a:rPr>
              <a:t>GPS photo, classification and volume</a:t>
            </a:r>
          </a:p>
        </p:txBody>
      </p:sp>
      <p:sp>
        <p:nvSpPr>
          <p:cNvPr id="25" name="Rectangle 24">
            <a:extLst>
              <a:ext uri="{FF2B5EF4-FFF2-40B4-BE49-F238E27FC236}">
                <a16:creationId xmlns:a16="http://schemas.microsoft.com/office/drawing/2014/main" id="{0AF6DA8C-83FF-491A-B928-92B1DB45761A}"/>
              </a:ext>
            </a:extLst>
          </p:cNvPr>
          <p:cNvSpPr>
            <a:spLocks noGrp="1"/>
          </p:cNvSpPr>
          <p:nvPr/>
        </p:nvSpPr>
        <p:spPr>
          <a:xfrm>
            <a:off x="8439150" y="1676400"/>
            <a:ext cx="3286125" cy="990600"/>
          </a:xfrm>
          <a:prstGeom prst="rect">
            <a:avLst/>
          </a:prstGeom>
          <a:solidFill>
            <a:srgbClr val="F1F6FA"/>
          </a:solidFill>
          <a:ln w="14288">
            <a:solidFill>
              <a:srgbClr val="CCDCE9"/>
            </a:solidFill>
          </a:ln>
        </p:spPr>
      </p:sp>
      <p:sp>
        <p:nvSpPr>
          <p:cNvPr id="26" name="Rectangle 25">
            <a:extLst>
              <a:ext uri="{FF2B5EF4-FFF2-40B4-BE49-F238E27FC236}">
                <a16:creationId xmlns:a16="http://schemas.microsoft.com/office/drawing/2014/main" id="{C36F0875-E185-4290-9936-1E3013185AF7}"/>
              </a:ext>
            </a:extLst>
          </p:cNvPr>
          <p:cNvSpPr>
            <a:spLocks noGrp="1"/>
          </p:cNvSpPr>
          <p:nvPr/>
        </p:nvSpPr>
        <p:spPr>
          <a:xfrm>
            <a:off x="8562975" y="1800225"/>
            <a:ext cx="333375" cy="381000"/>
          </a:xfrm>
          <a:prstGeom prst="rect">
            <a:avLst/>
          </a:prstGeom>
          <a:noFill/>
          <a:ln w="0">
            <a:noFill/>
          </a:ln>
        </p:spPr>
        <p:txBody>
          <a:bodyPr>
            <a:noAutofit/>
          </a:bodyPr>
          <a:lstStyle/>
          <a:p>
            <a:pPr>
              <a:defRPr sz="1800" b="1">
                <a:solidFill>
                  <a:srgbClr val="009FAE"/>
                </a:solidFill>
                <a:latin typeface="Arial"/>
                <a:ea typeface="Arial"/>
                <a:cs typeface="Arial"/>
              </a:defRPr>
            </a:pPr>
            <a:r>
              <a:rPr sz="1800" b="1">
                <a:solidFill>
                  <a:srgbClr val="009FAE"/>
                </a:solidFill>
                <a:latin typeface="Arial"/>
                <a:ea typeface="Arial"/>
                <a:cs typeface="Arial"/>
              </a:rPr>
              <a:t>2</a:t>
            </a:r>
          </a:p>
        </p:txBody>
      </p:sp>
      <p:sp>
        <p:nvSpPr>
          <p:cNvPr id="27" name="Rectangle 26">
            <a:extLst>
              <a:ext uri="{FF2B5EF4-FFF2-40B4-BE49-F238E27FC236}">
                <a16:creationId xmlns:a16="http://schemas.microsoft.com/office/drawing/2014/main" id="{A077F0BC-0006-4D16-B947-FA51AF3323A2}"/>
              </a:ext>
            </a:extLst>
          </p:cNvPr>
          <p:cNvSpPr>
            <a:spLocks noGrp="1"/>
          </p:cNvSpPr>
          <p:nvPr/>
        </p:nvSpPr>
        <p:spPr>
          <a:xfrm>
            <a:off x="8953500" y="1800225"/>
            <a:ext cx="2619375" cy="285750"/>
          </a:xfrm>
          <a:prstGeom prst="rect">
            <a:avLst/>
          </a:prstGeom>
          <a:noFill/>
          <a:ln w="0">
            <a:noFill/>
          </a:ln>
        </p:spPr>
        <p:txBody>
          <a:bodyPr>
            <a:noAutofit/>
          </a:bodyPr>
          <a:lstStyle/>
          <a:p>
            <a:pPr>
              <a:defRPr sz="1575" b="1">
                <a:solidFill>
                  <a:srgbClr val="214E78"/>
                </a:solidFill>
                <a:latin typeface="Arial"/>
                <a:ea typeface="Arial"/>
                <a:cs typeface="Arial"/>
              </a:defRPr>
            </a:pPr>
            <a:r>
              <a:rPr sz="1575" b="1">
                <a:solidFill>
                  <a:srgbClr val="214E78"/>
                </a:solidFill>
                <a:latin typeface="Arial"/>
                <a:ea typeface="Arial"/>
                <a:cs typeface="Arial"/>
              </a:rPr>
              <a:t>Verify &amp; Prioritize</a:t>
            </a:r>
          </a:p>
        </p:txBody>
      </p:sp>
      <p:sp>
        <p:nvSpPr>
          <p:cNvPr id="28" name="Rectangle 27">
            <a:extLst>
              <a:ext uri="{FF2B5EF4-FFF2-40B4-BE49-F238E27FC236}">
                <a16:creationId xmlns:a16="http://schemas.microsoft.com/office/drawing/2014/main" id="{ABAC01C7-5858-4754-BCF7-3DE2A0C1FA1D}"/>
              </a:ext>
            </a:extLst>
          </p:cNvPr>
          <p:cNvSpPr>
            <a:spLocks noGrp="1"/>
          </p:cNvSpPr>
          <p:nvPr/>
        </p:nvSpPr>
        <p:spPr>
          <a:xfrm>
            <a:off x="8953500" y="2124075"/>
            <a:ext cx="2609850" cy="447675"/>
          </a:xfrm>
          <a:prstGeom prst="rect">
            <a:avLst/>
          </a:prstGeom>
          <a:noFill/>
          <a:ln w="0">
            <a:noFill/>
          </a:ln>
        </p:spPr>
        <p:txBody>
          <a:bodyPr>
            <a:noAutofit/>
          </a:bodyPr>
          <a:lstStyle/>
          <a:p>
            <a:pPr>
              <a:defRPr sz="1200" b="0">
                <a:solidFill>
                  <a:srgbClr val="526171"/>
                </a:solidFill>
                <a:latin typeface="Arial"/>
                <a:ea typeface="Arial"/>
                <a:cs typeface="Arial"/>
              </a:defRPr>
            </a:pPr>
            <a:r>
              <a:rPr sz="1200" b="0">
                <a:solidFill>
                  <a:srgbClr val="526171"/>
                </a:solidFill>
                <a:latin typeface="Arial"/>
                <a:ea typeface="Arial"/>
                <a:cs typeface="Arial"/>
              </a:rPr>
              <a:t>Validate findings and set priorities</a:t>
            </a:r>
          </a:p>
        </p:txBody>
      </p:sp>
      <p:sp>
        <p:nvSpPr>
          <p:cNvPr id="29" name="Rectangle 28">
            <a:extLst>
              <a:ext uri="{FF2B5EF4-FFF2-40B4-BE49-F238E27FC236}">
                <a16:creationId xmlns:a16="http://schemas.microsoft.com/office/drawing/2014/main" id="{881483FB-B0DB-4C73-BEB1-619FFF530595}"/>
              </a:ext>
            </a:extLst>
          </p:cNvPr>
          <p:cNvSpPr>
            <a:spLocks noGrp="1"/>
          </p:cNvSpPr>
          <p:nvPr/>
        </p:nvSpPr>
        <p:spPr>
          <a:xfrm>
            <a:off x="8439150" y="3238500"/>
            <a:ext cx="3286125" cy="990600"/>
          </a:xfrm>
          <a:prstGeom prst="rect">
            <a:avLst/>
          </a:prstGeom>
          <a:solidFill>
            <a:srgbClr val="F1F6FA"/>
          </a:solidFill>
          <a:ln w="14288">
            <a:solidFill>
              <a:srgbClr val="CCDCE9"/>
            </a:solidFill>
          </a:ln>
        </p:spPr>
      </p:sp>
      <p:sp>
        <p:nvSpPr>
          <p:cNvPr id="30" name="Rectangle 29">
            <a:extLst>
              <a:ext uri="{FF2B5EF4-FFF2-40B4-BE49-F238E27FC236}">
                <a16:creationId xmlns:a16="http://schemas.microsoft.com/office/drawing/2014/main" id="{8A9B6385-0F7C-4019-B351-1056EF0F6142}"/>
              </a:ext>
            </a:extLst>
          </p:cNvPr>
          <p:cNvSpPr>
            <a:spLocks noGrp="1"/>
          </p:cNvSpPr>
          <p:nvPr/>
        </p:nvSpPr>
        <p:spPr>
          <a:xfrm>
            <a:off x="8562975" y="3362325"/>
            <a:ext cx="333375" cy="381000"/>
          </a:xfrm>
          <a:prstGeom prst="rect">
            <a:avLst/>
          </a:prstGeom>
          <a:noFill/>
          <a:ln w="0">
            <a:noFill/>
          </a:ln>
        </p:spPr>
        <p:txBody>
          <a:bodyPr>
            <a:noAutofit/>
          </a:bodyPr>
          <a:lstStyle/>
          <a:p>
            <a:pPr>
              <a:defRPr sz="1800" b="1">
                <a:solidFill>
                  <a:srgbClr val="009FAE"/>
                </a:solidFill>
                <a:latin typeface="Arial"/>
                <a:ea typeface="Arial"/>
                <a:cs typeface="Arial"/>
              </a:defRPr>
            </a:pPr>
            <a:r>
              <a:rPr sz="1800" b="1">
                <a:solidFill>
                  <a:srgbClr val="009FAE"/>
                </a:solidFill>
                <a:latin typeface="Arial"/>
                <a:ea typeface="Arial"/>
                <a:cs typeface="Arial"/>
              </a:rPr>
              <a:t>3</a:t>
            </a:r>
          </a:p>
        </p:txBody>
      </p:sp>
      <p:sp>
        <p:nvSpPr>
          <p:cNvPr id="31" name="Rectangle 30">
            <a:extLst>
              <a:ext uri="{FF2B5EF4-FFF2-40B4-BE49-F238E27FC236}">
                <a16:creationId xmlns:a16="http://schemas.microsoft.com/office/drawing/2014/main" id="{41368804-0DB3-44E6-8DFF-7DC1608F7476}"/>
              </a:ext>
            </a:extLst>
          </p:cNvPr>
          <p:cNvSpPr>
            <a:spLocks noGrp="1"/>
          </p:cNvSpPr>
          <p:nvPr/>
        </p:nvSpPr>
        <p:spPr>
          <a:xfrm>
            <a:off x="8953500" y="3362325"/>
            <a:ext cx="2619375" cy="285750"/>
          </a:xfrm>
          <a:prstGeom prst="rect">
            <a:avLst/>
          </a:prstGeom>
          <a:noFill/>
          <a:ln w="0">
            <a:noFill/>
          </a:ln>
        </p:spPr>
        <p:txBody>
          <a:bodyPr>
            <a:noAutofit/>
          </a:bodyPr>
          <a:lstStyle/>
          <a:p>
            <a:pPr>
              <a:defRPr sz="1575" b="1">
                <a:solidFill>
                  <a:srgbClr val="214E78"/>
                </a:solidFill>
                <a:latin typeface="Arial"/>
                <a:ea typeface="Arial"/>
                <a:cs typeface="Arial"/>
              </a:defRPr>
            </a:pPr>
            <a:r>
              <a:rPr sz="1575" b="1">
                <a:solidFill>
                  <a:srgbClr val="214E78"/>
                </a:solidFill>
                <a:latin typeface="Arial"/>
                <a:ea typeface="Arial"/>
                <a:cs typeface="Arial"/>
              </a:rPr>
              <a:t>Plan &amp; Execute</a:t>
            </a:r>
          </a:p>
        </p:txBody>
      </p:sp>
      <p:sp>
        <p:nvSpPr>
          <p:cNvPr id="32" name="Rectangle 31">
            <a:extLst>
              <a:ext uri="{FF2B5EF4-FFF2-40B4-BE49-F238E27FC236}">
                <a16:creationId xmlns:a16="http://schemas.microsoft.com/office/drawing/2014/main" id="{9378EE04-B434-4720-AB4C-C6061089465E}"/>
              </a:ext>
            </a:extLst>
          </p:cNvPr>
          <p:cNvSpPr>
            <a:spLocks noGrp="1"/>
          </p:cNvSpPr>
          <p:nvPr/>
        </p:nvSpPr>
        <p:spPr>
          <a:xfrm>
            <a:off x="8953500" y="3686175"/>
            <a:ext cx="2609850" cy="447675"/>
          </a:xfrm>
          <a:prstGeom prst="rect">
            <a:avLst/>
          </a:prstGeom>
          <a:noFill/>
          <a:ln w="0">
            <a:noFill/>
          </a:ln>
        </p:spPr>
        <p:txBody>
          <a:bodyPr>
            <a:noAutofit/>
          </a:bodyPr>
          <a:lstStyle/>
          <a:p>
            <a:pPr>
              <a:defRPr sz="1200" b="0">
                <a:solidFill>
                  <a:srgbClr val="526171"/>
                </a:solidFill>
                <a:latin typeface="Arial"/>
                <a:ea typeface="Arial"/>
                <a:cs typeface="Arial"/>
              </a:defRPr>
            </a:pPr>
            <a:r>
              <a:rPr sz="1200" b="0">
                <a:solidFill>
                  <a:srgbClr val="526171"/>
                </a:solidFill>
                <a:latin typeface="Arial"/>
                <a:ea typeface="Arial"/>
                <a:cs typeface="Arial"/>
              </a:rPr>
              <a:t>Assign PIC, due date and record progress</a:t>
            </a:r>
          </a:p>
        </p:txBody>
      </p:sp>
      <p:sp>
        <p:nvSpPr>
          <p:cNvPr id="33" name="Rectangle 32">
            <a:extLst>
              <a:ext uri="{FF2B5EF4-FFF2-40B4-BE49-F238E27FC236}">
                <a16:creationId xmlns:a16="http://schemas.microsoft.com/office/drawing/2014/main" id="{8019CF37-405C-470E-8205-A936F9698681}"/>
              </a:ext>
            </a:extLst>
          </p:cNvPr>
          <p:cNvSpPr>
            <a:spLocks noGrp="1"/>
          </p:cNvSpPr>
          <p:nvPr/>
        </p:nvSpPr>
        <p:spPr>
          <a:xfrm>
            <a:off x="4552950" y="3238500"/>
            <a:ext cx="3286125" cy="990600"/>
          </a:xfrm>
          <a:prstGeom prst="rect">
            <a:avLst/>
          </a:prstGeom>
          <a:solidFill>
            <a:srgbClr val="F1F6FA"/>
          </a:solidFill>
          <a:ln w="14288">
            <a:solidFill>
              <a:srgbClr val="CCDCE9"/>
            </a:solidFill>
          </a:ln>
        </p:spPr>
      </p:sp>
      <p:sp>
        <p:nvSpPr>
          <p:cNvPr id="34" name="Rectangle 33">
            <a:extLst>
              <a:ext uri="{FF2B5EF4-FFF2-40B4-BE49-F238E27FC236}">
                <a16:creationId xmlns:a16="http://schemas.microsoft.com/office/drawing/2014/main" id="{C710BE78-52C0-4B86-A5D0-D07B759E0173}"/>
              </a:ext>
            </a:extLst>
          </p:cNvPr>
          <p:cNvSpPr>
            <a:spLocks noGrp="1"/>
          </p:cNvSpPr>
          <p:nvPr/>
        </p:nvSpPr>
        <p:spPr>
          <a:xfrm>
            <a:off x="4676775" y="3362325"/>
            <a:ext cx="333375" cy="381000"/>
          </a:xfrm>
          <a:prstGeom prst="rect">
            <a:avLst/>
          </a:prstGeom>
          <a:noFill/>
          <a:ln w="0">
            <a:noFill/>
          </a:ln>
        </p:spPr>
        <p:txBody>
          <a:bodyPr>
            <a:noAutofit/>
          </a:bodyPr>
          <a:lstStyle/>
          <a:p>
            <a:pPr>
              <a:defRPr sz="1800" b="1">
                <a:solidFill>
                  <a:srgbClr val="009FAE"/>
                </a:solidFill>
                <a:latin typeface="Arial"/>
                <a:ea typeface="Arial"/>
                <a:cs typeface="Arial"/>
              </a:defRPr>
            </a:pPr>
            <a:r>
              <a:rPr sz="1800" b="1">
                <a:solidFill>
                  <a:srgbClr val="009FAE"/>
                </a:solidFill>
                <a:latin typeface="Arial"/>
                <a:ea typeface="Arial"/>
                <a:cs typeface="Arial"/>
              </a:rPr>
              <a:t>4</a:t>
            </a:r>
          </a:p>
        </p:txBody>
      </p:sp>
      <p:sp>
        <p:nvSpPr>
          <p:cNvPr id="35" name="Rectangle 34">
            <a:extLst>
              <a:ext uri="{FF2B5EF4-FFF2-40B4-BE49-F238E27FC236}">
                <a16:creationId xmlns:a16="http://schemas.microsoft.com/office/drawing/2014/main" id="{48C3CE92-8283-4AB6-95F9-CCF3EE0A1B5C}"/>
              </a:ext>
            </a:extLst>
          </p:cNvPr>
          <p:cNvSpPr>
            <a:spLocks noGrp="1"/>
          </p:cNvSpPr>
          <p:nvPr/>
        </p:nvSpPr>
        <p:spPr>
          <a:xfrm>
            <a:off x="5067300" y="3362325"/>
            <a:ext cx="2619375" cy="285750"/>
          </a:xfrm>
          <a:prstGeom prst="rect">
            <a:avLst/>
          </a:prstGeom>
          <a:noFill/>
          <a:ln w="0">
            <a:noFill/>
          </a:ln>
        </p:spPr>
        <p:txBody>
          <a:bodyPr>
            <a:noAutofit/>
          </a:bodyPr>
          <a:lstStyle/>
          <a:p>
            <a:pPr>
              <a:defRPr sz="1575" b="1">
                <a:solidFill>
                  <a:srgbClr val="214E78"/>
                </a:solidFill>
                <a:latin typeface="Arial"/>
                <a:ea typeface="Arial"/>
                <a:cs typeface="Arial"/>
              </a:defRPr>
            </a:pPr>
            <a:r>
              <a:rPr sz="1575" b="1">
                <a:solidFill>
                  <a:srgbClr val="214E78"/>
                </a:solidFill>
                <a:latin typeface="Arial"/>
                <a:ea typeface="Arial"/>
                <a:cs typeface="Arial"/>
              </a:rPr>
              <a:t>Verify &amp; Close</a:t>
            </a:r>
          </a:p>
        </p:txBody>
      </p:sp>
      <p:sp>
        <p:nvSpPr>
          <p:cNvPr id="36" name="Rectangle 35">
            <a:extLst>
              <a:ext uri="{FF2B5EF4-FFF2-40B4-BE49-F238E27FC236}">
                <a16:creationId xmlns:a16="http://schemas.microsoft.com/office/drawing/2014/main" id="{EACDABBB-1EA7-4398-A74C-2E8BF9AC88CF}"/>
              </a:ext>
            </a:extLst>
          </p:cNvPr>
          <p:cNvSpPr>
            <a:spLocks noGrp="1"/>
          </p:cNvSpPr>
          <p:nvPr/>
        </p:nvSpPr>
        <p:spPr>
          <a:xfrm>
            <a:off x="5067300" y="3686175"/>
            <a:ext cx="2609850" cy="447675"/>
          </a:xfrm>
          <a:prstGeom prst="rect">
            <a:avLst/>
          </a:prstGeom>
          <a:noFill/>
          <a:ln w="0">
            <a:noFill/>
          </a:ln>
        </p:spPr>
        <p:txBody>
          <a:bodyPr>
            <a:noAutofit/>
          </a:bodyPr>
          <a:lstStyle/>
          <a:p>
            <a:pPr>
              <a:defRPr sz="1200" b="0">
                <a:solidFill>
                  <a:srgbClr val="526171"/>
                </a:solidFill>
                <a:latin typeface="Arial"/>
                <a:ea typeface="Arial"/>
                <a:cs typeface="Arial"/>
              </a:defRPr>
            </a:pPr>
            <a:r>
              <a:rPr sz="1200" b="0">
                <a:solidFill>
                  <a:srgbClr val="526171"/>
                </a:solidFill>
                <a:latin typeface="Arial"/>
                <a:ea typeface="Arial"/>
                <a:cs typeface="Arial"/>
              </a:rPr>
              <a:t>Check completion evidence or reopen</a:t>
            </a:r>
          </a:p>
        </p:txBody>
      </p:sp>
      <p:cxnSp>
        <p:nvCxnSpPr>
          <p:cNvPr id="85" name="Straight Arrow Connector 84"/>
          <p:cNvCxnSpPr>
            <a:stCxn id="21" idx="3"/>
            <a:endCxn id="25" idx="1"/>
          </p:cNvCxnSpPr>
          <p:nvPr/>
        </p:nvCxnSpPr>
        <p:spPr>
          <a:xfrm>
            <a:off x="7839075" y="2171700"/>
            <a:ext cx="600075" cy="0"/>
          </a:xfrm>
          <a:prstGeom prst="straightConnector1">
            <a:avLst/>
          </a:prstGeom>
          <a:ln w="23813">
            <a:solidFill>
              <a:srgbClr val="009FAE"/>
            </a:solidFill>
            <a:tailEnd type="arrow" w="med" len="med"/>
          </a:ln>
        </p:spPr>
      </p:cxnSp>
      <p:cxnSp>
        <p:nvCxnSpPr>
          <p:cNvPr id="86" name="Straight Arrow Connector 85"/>
          <p:cNvCxnSpPr>
            <a:stCxn id="25" idx="2"/>
            <a:endCxn id="29" idx="0"/>
          </p:cNvCxnSpPr>
          <p:nvPr/>
        </p:nvCxnSpPr>
        <p:spPr>
          <a:xfrm>
            <a:off x="10082213" y="2667000"/>
            <a:ext cx="0" cy="571500"/>
          </a:xfrm>
          <a:prstGeom prst="straightConnector1">
            <a:avLst/>
          </a:prstGeom>
          <a:ln w="23813">
            <a:solidFill>
              <a:srgbClr val="009FAE"/>
            </a:solidFill>
            <a:tailEnd type="arrow" w="med" len="med"/>
          </a:ln>
        </p:spPr>
      </p:cxnSp>
      <p:cxnSp>
        <p:nvCxnSpPr>
          <p:cNvPr id="87" name="Straight Arrow Connector 86"/>
          <p:cNvCxnSpPr>
            <a:stCxn id="29" idx="1"/>
            <a:endCxn id="33" idx="3"/>
          </p:cNvCxnSpPr>
          <p:nvPr/>
        </p:nvCxnSpPr>
        <p:spPr>
          <a:xfrm flipH="1">
            <a:off x="7839075" y="3733800"/>
            <a:ext cx="600075" cy="0"/>
          </a:xfrm>
          <a:prstGeom prst="straightConnector1">
            <a:avLst/>
          </a:prstGeom>
          <a:ln w="23813">
            <a:solidFill>
              <a:srgbClr val="009FAE"/>
            </a:solidFill>
            <a:tailEnd type="arrow" w="med" len="med"/>
          </a:ln>
        </p:spPr>
      </p:cxnSp>
      <p:sp>
        <p:nvSpPr>
          <p:cNvPr id="40" name="Rectangle 39">
            <a:extLst>
              <a:ext uri="{FF2B5EF4-FFF2-40B4-BE49-F238E27FC236}">
                <a16:creationId xmlns:a16="http://schemas.microsoft.com/office/drawing/2014/main" id="{9691C3E9-E35E-400A-927D-08636D738074}"/>
              </a:ext>
            </a:extLst>
          </p:cNvPr>
          <p:cNvSpPr>
            <a:spLocks noGrp="1"/>
          </p:cNvSpPr>
          <p:nvPr/>
        </p:nvSpPr>
        <p:spPr>
          <a:xfrm>
            <a:off x="4552950" y="4676775"/>
            <a:ext cx="7172325" cy="742950"/>
          </a:xfrm>
          <a:prstGeom prst="rect">
            <a:avLst/>
          </a:prstGeom>
          <a:solidFill>
            <a:srgbClr val="214E78"/>
          </a:solidFill>
          <a:ln w="0">
            <a:noFill/>
          </a:ln>
        </p:spPr>
      </p:sp>
      <p:sp>
        <p:nvSpPr>
          <p:cNvPr id="41" name="Rectangle 40">
            <a:extLst>
              <a:ext uri="{FF2B5EF4-FFF2-40B4-BE49-F238E27FC236}">
                <a16:creationId xmlns:a16="http://schemas.microsoft.com/office/drawing/2014/main" id="{A3B6EA5E-F827-45F3-8CBD-9C1352AD2F90}"/>
              </a:ext>
            </a:extLst>
          </p:cNvPr>
          <p:cNvSpPr>
            <a:spLocks noGrp="1"/>
          </p:cNvSpPr>
          <p:nvPr/>
        </p:nvSpPr>
        <p:spPr>
          <a:xfrm>
            <a:off x="4714875" y="4772025"/>
            <a:ext cx="6810375" cy="228600"/>
          </a:xfrm>
          <a:prstGeom prst="rect">
            <a:avLst/>
          </a:prstGeom>
          <a:noFill/>
          <a:ln w="0">
            <a:noFill/>
          </a:ln>
        </p:spPr>
        <p:txBody>
          <a:bodyPr>
            <a:noAutofit/>
          </a:bodyPr>
          <a:lstStyle/>
          <a:p>
            <a:pPr>
              <a:defRPr sz="1350" b="1">
                <a:solidFill>
                  <a:srgbClr val="FFFFFF"/>
                </a:solidFill>
                <a:latin typeface="Arial"/>
                <a:ea typeface="Arial"/>
                <a:cs typeface="Arial"/>
              </a:defRPr>
            </a:pPr>
            <a:r>
              <a:rPr sz="1350" b="1">
                <a:solidFill>
                  <a:srgbClr val="FFFFFF"/>
                </a:solidFill>
                <a:latin typeface="Arial"/>
                <a:ea typeface="Arial"/>
                <a:cs typeface="Arial"/>
              </a:rPr>
              <a:t>SMART PROBLEM TAGGING DASHBOARD</a:t>
            </a:r>
          </a:p>
        </p:txBody>
      </p:sp>
      <p:sp>
        <p:nvSpPr>
          <p:cNvPr id="42" name="Rectangle 41">
            <a:extLst>
              <a:ext uri="{FF2B5EF4-FFF2-40B4-BE49-F238E27FC236}">
                <a16:creationId xmlns:a16="http://schemas.microsoft.com/office/drawing/2014/main" id="{B9976A6B-F2C5-4D2A-8EE1-A2AB1BBE6BF9}"/>
              </a:ext>
            </a:extLst>
          </p:cNvPr>
          <p:cNvSpPr>
            <a:spLocks noGrp="1"/>
          </p:cNvSpPr>
          <p:nvPr/>
        </p:nvSpPr>
        <p:spPr>
          <a:xfrm>
            <a:off x="4714875" y="5067300"/>
            <a:ext cx="6810375" cy="238125"/>
          </a:xfrm>
          <a:prstGeom prst="rect">
            <a:avLst/>
          </a:prstGeom>
          <a:noFill/>
          <a:ln w="0">
            <a:noFill/>
          </a:ln>
        </p:spPr>
        <p:txBody>
          <a:bodyPr>
            <a:noAutofit/>
          </a:bodyPr>
          <a:lstStyle/>
          <a:p>
            <a:pPr>
              <a:defRPr sz="1425" b="0">
                <a:solidFill>
                  <a:srgbClr val="FFFFFF"/>
                </a:solidFill>
                <a:latin typeface="Arial"/>
                <a:ea typeface="Arial"/>
                <a:cs typeface="Arial"/>
              </a:defRPr>
            </a:pPr>
            <a:r>
              <a:rPr sz="1425" b="0">
                <a:solidFill>
                  <a:srgbClr val="FFFFFF"/>
                </a:solidFill>
                <a:latin typeface="Arial"/>
                <a:ea typeface="Arial"/>
                <a:cs typeface="Arial"/>
              </a:rPr>
              <a:t>Visual Map     /     Tracking     /     Summary     /     Action Plan</a:t>
            </a:r>
          </a:p>
        </p:txBody>
      </p:sp>
      <p:cxnSp>
        <p:nvCxnSpPr>
          <p:cNvPr id="91" name="Connector: Elbow 90"/>
          <p:cNvCxnSpPr>
            <a:stCxn id="33" idx="2"/>
            <a:endCxn id="40" idx="0"/>
          </p:cNvCxnSpPr>
          <p:nvPr/>
        </p:nvCxnSpPr>
        <p:spPr>
          <a:xfrm>
            <a:off x="6196013" y="4229100"/>
            <a:ext cx="1943100" cy="447675"/>
          </a:xfrm>
          <a:prstGeom prst="bentConnector4">
            <a:avLst>
              <a:gd name="adj1" fmla="val 0"/>
              <a:gd name="adj2" fmla="val 50000"/>
            </a:avLst>
          </a:prstGeom>
          <a:ln w="23813">
            <a:solidFill>
              <a:srgbClr val="009FAE"/>
            </a:solidFill>
            <a:tailEnd type="arrow" w="med" len="med"/>
          </a:ln>
        </p:spPr>
      </p:cxnSp>
      <p:sp>
        <p:nvSpPr>
          <p:cNvPr id="44" name="Rectangle 43">
            <a:extLst>
              <a:ext uri="{FF2B5EF4-FFF2-40B4-BE49-F238E27FC236}">
                <a16:creationId xmlns:a16="http://schemas.microsoft.com/office/drawing/2014/main" id="{FEFC3391-39E6-441E-A291-7CA97D987DA1}"/>
              </a:ext>
            </a:extLst>
          </p:cNvPr>
          <p:cNvSpPr>
            <a:spLocks noGrp="1"/>
          </p:cNvSpPr>
          <p:nvPr/>
        </p:nvSpPr>
        <p:spPr>
          <a:xfrm>
            <a:off x="8524875" y="4305300"/>
            <a:ext cx="3143250" cy="247650"/>
          </a:xfrm>
          <a:prstGeom prst="rect">
            <a:avLst/>
          </a:prstGeom>
          <a:noFill/>
          <a:ln w="0">
            <a:noFill/>
          </a:ln>
        </p:spPr>
        <p:txBody>
          <a:bodyPr>
            <a:noAutofit/>
          </a:bodyPr>
          <a:lstStyle/>
          <a:p>
            <a:pPr>
              <a:defRPr sz="1200" b="1">
                <a:solidFill>
                  <a:srgbClr val="009FAE"/>
                </a:solidFill>
                <a:latin typeface="Arial"/>
                <a:ea typeface="Arial"/>
                <a:cs typeface="Arial"/>
              </a:defRPr>
            </a:pPr>
            <a:r>
              <a:rPr sz="1200" b="1">
                <a:solidFill>
                  <a:srgbClr val="009FAE"/>
                </a:solidFill>
                <a:latin typeface="Arial"/>
                <a:ea typeface="Arial"/>
                <a:cs typeface="Arial"/>
              </a:rPr>
              <a:t>Feedback and progress monitoring</a:t>
            </a:r>
          </a:p>
        </p:txBody>
      </p:sp>
      <p:cxnSp>
        <p:nvCxnSpPr>
          <p:cNvPr id="93" name="Connector: Elbow 92"/>
          <p:cNvCxnSpPr>
            <a:stCxn id="40" idx="3"/>
            <a:endCxn id="29" idx="3"/>
          </p:cNvCxnSpPr>
          <p:nvPr/>
        </p:nvCxnSpPr>
        <p:spPr>
          <a:xfrm flipV="1">
            <a:off x="11725275" y="3733800"/>
            <a:ext cx="228600" cy="1314450"/>
          </a:xfrm>
          <a:prstGeom prst="bentConnector4">
            <a:avLst/>
          </a:prstGeom>
          <a:ln w="23813">
            <a:solidFill>
              <a:srgbClr val="009FAE"/>
            </a:solidFill>
            <a:tailEnd type="arrow" w="med" len="med"/>
          </a:ln>
        </p:spPr>
      </p:cxnSp>
      <p:sp>
        <p:nvSpPr>
          <p:cNvPr id="46" name="Rectangle 45">
            <a:extLst>
              <a:ext uri="{FF2B5EF4-FFF2-40B4-BE49-F238E27FC236}">
                <a16:creationId xmlns:a16="http://schemas.microsoft.com/office/drawing/2014/main" id="{84A2F627-0EBB-40D9-BAAC-52C5AC2B1784}"/>
              </a:ext>
            </a:extLst>
          </p:cNvPr>
          <p:cNvSpPr>
            <a:spLocks noGrp="1"/>
          </p:cNvSpPr>
          <p:nvPr/>
        </p:nvSpPr>
        <p:spPr>
          <a:xfrm>
            <a:off x="4552950" y="5629275"/>
            <a:ext cx="7143750" cy="228600"/>
          </a:xfrm>
          <a:prstGeom prst="rect">
            <a:avLst/>
          </a:prstGeom>
          <a:noFill/>
          <a:ln w="0">
            <a:noFill/>
          </a:ln>
        </p:spPr>
        <p:txBody>
          <a:bodyPr>
            <a:noAutofit/>
          </a:bodyPr>
          <a:lstStyle/>
          <a:p>
            <a:pPr>
              <a:defRPr sz="1200" b="1">
                <a:solidFill>
                  <a:srgbClr val="214E78"/>
                </a:solidFill>
                <a:latin typeface="Arial"/>
                <a:ea typeface="Arial"/>
                <a:cs typeface="Arial"/>
              </a:defRPr>
            </a:pPr>
            <a:r>
              <a:rPr sz="1200" b="1">
                <a:solidFill>
                  <a:srgbClr val="214E78"/>
                </a:solidFill>
                <a:latin typeface="Arial"/>
                <a:ea typeface="Arial"/>
                <a:cs typeface="Arial"/>
              </a:rPr>
              <a:t>PROPOSED DATA INTEGRATION</a:t>
            </a:r>
          </a:p>
        </p:txBody>
      </p:sp>
      <p:sp>
        <p:nvSpPr>
          <p:cNvPr id="47" name="Rectangle 46">
            <a:extLst>
              <a:ext uri="{FF2B5EF4-FFF2-40B4-BE49-F238E27FC236}">
                <a16:creationId xmlns:a16="http://schemas.microsoft.com/office/drawing/2014/main" id="{AABE3C11-E11F-4BE3-A930-44E9B94C56D1}"/>
              </a:ext>
            </a:extLst>
          </p:cNvPr>
          <p:cNvSpPr>
            <a:spLocks noGrp="1"/>
          </p:cNvSpPr>
          <p:nvPr/>
        </p:nvSpPr>
        <p:spPr>
          <a:xfrm>
            <a:off x="4552950" y="5953125"/>
            <a:ext cx="7191375" cy="285750"/>
          </a:xfrm>
          <a:prstGeom prst="rect">
            <a:avLst/>
          </a:prstGeom>
          <a:noFill/>
          <a:ln w="0">
            <a:noFill/>
          </a:ln>
        </p:spPr>
        <p:txBody>
          <a:bodyPr>
            <a:noAutofit/>
          </a:bodyPr>
          <a:lstStyle/>
          <a:p>
            <a:pPr>
              <a:defRPr sz="1350" b="0">
                <a:solidFill>
                  <a:srgbClr val="526171"/>
                </a:solidFill>
                <a:latin typeface="Arial"/>
                <a:ea typeface="Arial"/>
                <a:cs typeface="Arial"/>
              </a:defRPr>
            </a:pPr>
            <a:r>
              <a:rPr sz="1350" b="0">
                <a:solidFill>
                  <a:srgbClr val="526171"/>
                </a:solidFill>
                <a:latin typeface="Arial"/>
                <a:ea typeface="Arial"/>
                <a:cs typeface="Arial"/>
              </a:rPr>
              <a:t>GIS &amp; block master data     ·     Production &amp; BCCR     ·     eFACT / SAP*</a:t>
            </a:r>
          </a:p>
        </p:txBody>
      </p:sp>
      <p:sp>
        <p:nvSpPr>
          <p:cNvPr id="48" name="Rectangle 47">
            <a:extLst>
              <a:ext uri="{FF2B5EF4-FFF2-40B4-BE49-F238E27FC236}">
                <a16:creationId xmlns:a16="http://schemas.microsoft.com/office/drawing/2014/main" id="{44A643FA-B385-4420-96CA-60FF5C9C53DE}"/>
              </a:ext>
            </a:extLst>
          </p:cNvPr>
          <p:cNvSpPr>
            <a:spLocks noGrp="1"/>
          </p:cNvSpPr>
          <p:nvPr/>
        </p:nvSpPr>
        <p:spPr>
          <a:xfrm>
            <a:off x="4552950" y="6334125"/>
            <a:ext cx="7191375" cy="209550"/>
          </a:xfrm>
          <a:prstGeom prst="rect">
            <a:avLst/>
          </a:prstGeom>
          <a:noFill/>
          <a:ln w="0">
            <a:noFill/>
          </a:ln>
        </p:spPr>
        <p:txBody>
          <a:bodyPr>
            <a:noAutofit/>
          </a:bodyPr>
          <a:lstStyle/>
          <a:p>
            <a:pPr>
              <a:defRPr sz="975" b="0">
                <a:solidFill>
                  <a:srgbClr val="526171"/>
                </a:solidFill>
                <a:latin typeface="Arial"/>
                <a:ea typeface="Arial"/>
                <a:cs typeface="Arial"/>
              </a:defRPr>
            </a:pPr>
            <a:r>
              <a:rPr sz="975" b="0">
                <a:solidFill>
                  <a:srgbClr val="526171"/>
                </a:solidFill>
                <a:latin typeface="Arial"/>
                <a:ea typeface="Arial"/>
                <a:cs typeface="Arial"/>
              </a:rPr>
              <a:t>*Integration scope and data availability to be confirmed</a:t>
            </a:r>
          </a:p>
        </p:txBody>
      </p:sp>
    </p:spTree>
    <p:extLst>
      <p:ext uri="{BB962C8B-B14F-4D97-AF65-F5344CB8AC3E}">
        <p14:creationId xmlns:p14="http://schemas.microsoft.com/office/powerpoint/2010/main" val="1396878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57B1B91-EBF6-49F3-945B-3051E16E6913}"/>
              </a:ext>
            </a:extLst>
          </p:cNvPr>
          <p:cNvSpPr>
            <a:spLocks noGrp="1"/>
          </p:cNvSpPr>
          <p:nvPr/>
        </p:nvSpPr>
        <p:spPr>
          <a:xfrm>
            <a:off x="304800" y="200025"/>
            <a:ext cx="8572500" cy="400050"/>
          </a:xfrm>
          <a:prstGeom prst="rect">
            <a:avLst/>
          </a:prstGeom>
          <a:noFill/>
          <a:ln w="0">
            <a:noFill/>
          </a:ln>
        </p:spPr>
        <p:txBody>
          <a:bodyPr>
            <a:noAutofit/>
          </a:bodyPr>
          <a:lstStyle/>
          <a:p>
            <a:pPr>
              <a:defRPr sz="2400" b="1">
                <a:solidFill>
                  <a:srgbClr val="172B3F"/>
                </a:solidFill>
                <a:latin typeface="Arial"/>
                <a:ea typeface="Arial"/>
                <a:cs typeface="Arial"/>
              </a:defRPr>
            </a:pPr>
            <a:r>
              <a:rPr sz="2400" b="1">
                <a:solidFill>
                  <a:srgbClr val="172B3F"/>
                </a:solidFill>
                <a:latin typeface="Arial"/>
                <a:ea typeface="Arial"/>
                <a:cs typeface="Arial"/>
              </a:rPr>
              <a:t>Smart Problem Tagging</a:t>
            </a:r>
          </a:p>
        </p:txBody>
      </p:sp>
      <p:sp>
        <p:nvSpPr>
          <p:cNvPr id="2" name="Rectangle 1">
            <a:extLst>
              <a:ext uri="{FF2B5EF4-FFF2-40B4-BE49-F238E27FC236}">
                <a16:creationId xmlns:a16="http://schemas.microsoft.com/office/drawing/2014/main" id="{C065EADD-D1C3-4101-B155-1CA8A3192513}"/>
              </a:ext>
            </a:extLst>
          </p:cNvPr>
          <p:cNvSpPr>
            <a:spLocks noGrp="1"/>
          </p:cNvSpPr>
          <p:nvPr/>
        </p:nvSpPr>
        <p:spPr>
          <a:xfrm>
            <a:off x="323850" y="619125"/>
            <a:ext cx="8763000" cy="285750"/>
          </a:xfrm>
          <a:prstGeom prst="rect">
            <a:avLst/>
          </a:prstGeom>
          <a:noFill/>
          <a:ln w="0">
            <a:noFill/>
          </a:ln>
        </p:spPr>
        <p:txBody>
          <a:bodyPr>
            <a:noAutofit/>
          </a:bodyPr>
          <a:lstStyle/>
          <a:p>
            <a:pPr>
              <a:defRPr sz="1650" b="0">
                <a:solidFill>
                  <a:srgbClr val="526171"/>
                </a:solidFill>
                <a:latin typeface="Arial"/>
                <a:ea typeface="Arial"/>
                <a:cs typeface="Arial"/>
              </a:defRPr>
            </a:pPr>
            <a:r>
              <a:rPr sz="1650" b="0">
                <a:solidFill>
                  <a:srgbClr val="526171"/>
                </a:solidFill>
                <a:latin typeface="Arial"/>
                <a:ea typeface="Arial"/>
                <a:cs typeface="Arial"/>
              </a:rPr>
              <a:t>Guiding Principles and Framework</a:t>
            </a:r>
          </a:p>
        </p:txBody>
      </p:sp>
      <p:sp>
        <p:nvSpPr>
          <p:cNvPr id="3" name="Rectangle 2">
            <a:extLst>
              <a:ext uri="{FF2B5EF4-FFF2-40B4-BE49-F238E27FC236}">
                <a16:creationId xmlns:a16="http://schemas.microsoft.com/office/drawing/2014/main" id="{8D92998A-0561-4AB5-8E96-E40E409B8F05}"/>
              </a:ext>
            </a:extLst>
          </p:cNvPr>
          <p:cNvSpPr>
            <a:spLocks noGrp="1"/>
          </p:cNvSpPr>
          <p:nvPr/>
        </p:nvSpPr>
        <p:spPr>
          <a:xfrm>
            <a:off x="10858500" y="323850"/>
            <a:ext cx="952500" cy="381000"/>
          </a:xfrm>
          <a:prstGeom prst="rect">
            <a:avLst/>
          </a:prstGeom>
          <a:noFill/>
          <a:ln w="0">
            <a:noFill/>
          </a:ln>
        </p:spPr>
        <p:txBody>
          <a:bodyPr>
            <a:noAutofit/>
          </a:bodyPr>
          <a:lstStyle/>
          <a:p>
            <a:pPr>
              <a:defRPr sz="1875" b="1">
                <a:solidFill>
                  <a:srgbClr val="ED1C24"/>
                </a:solidFill>
                <a:latin typeface="Arial"/>
                <a:ea typeface="Arial"/>
                <a:cs typeface="Arial"/>
              </a:defRPr>
            </a:pPr>
            <a:r>
              <a:rPr sz="1875" b="1">
                <a:solidFill>
                  <a:srgbClr val="ED1C24"/>
                </a:solidFill>
                <a:latin typeface="Arial"/>
                <a:ea typeface="Arial"/>
                <a:cs typeface="Arial"/>
              </a:rPr>
              <a:t>OPTR</a:t>
            </a:r>
          </a:p>
        </p:txBody>
      </p:sp>
      <p:sp>
        <p:nvSpPr>
          <p:cNvPr id="4" name="Rectangle 3">
            <a:extLst>
              <a:ext uri="{FF2B5EF4-FFF2-40B4-BE49-F238E27FC236}">
                <a16:creationId xmlns:a16="http://schemas.microsoft.com/office/drawing/2014/main" id="{4031E2F5-A8FA-4CD2-9F1B-1DB7A17F3C23}"/>
              </a:ext>
            </a:extLst>
          </p:cNvPr>
          <p:cNvSpPr>
            <a:spLocks noGrp="1"/>
          </p:cNvSpPr>
          <p:nvPr/>
        </p:nvSpPr>
        <p:spPr>
          <a:xfrm>
            <a:off x="304800" y="1009650"/>
            <a:ext cx="11582400" cy="28575"/>
          </a:xfrm>
          <a:prstGeom prst="rect">
            <a:avLst/>
          </a:prstGeom>
          <a:solidFill>
            <a:srgbClr val="ED1C24"/>
          </a:solidFill>
          <a:ln w="0">
            <a:noFill/>
          </a:ln>
        </p:spPr>
      </p:sp>
      <p:pic>
        <p:nvPicPr>
          <p:cNvPr id="38" name="Picture 37">
            <a:extLst>
              <a:ext uri="{FF2B5EF4-FFF2-40B4-BE49-F238E27FC236}">
                <a16:creationId xmlns:a16="http://schemas.microsoft.com/office/drawing/2014/main" id="{2271CDD1-9F28-49C4-88C0-ED0407B066AF}"/>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821527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57B1B91-EBF6-49F3-945B-3051E16E6913}"/>
              </a:ext>
            </a:extLst>
          </p:cNvPr>
          <p:cNvSpPr>
            <a:spLocks noGrp="1"/>
          </p:cNvSpPr>
          <p:nvPr/>
        </p:nvSpPr>
        <p:spPr>
          <a:xfrm>
            <a:off x="304800" y="200025"/>
            <a:ext cx="8572500" cy="400050"/>
          </a:xfrm>
          <a:prstGeom prst="rect">
            <a:avLst/>
          </a:prstGeom>
          <a:noFill/>
          <a:ln w="0">
            <a:noFill/>
          </a:ln>
        </p:spPr>
        <p:txBody>
          <a:bodyPr>
            <a:noAutofit/>
          </a:bodyPr>
          <a:lstStyle/>
          <a:p>
            <a:pPr>
              <a:defRPr sz="2400" b="1">
                <a:solidFill>
                  <a:srgbClr val="172B3F"/>
                </a:solidFill>
                <a:latin typeface="Arial"/>
                <a:ea typeface="Arial"/>
                <a:cs typeface="Arial"/>
              </a:defRPr>
            </a:pPr>
            <a:r>
              <a:rPr sz="2400" b="1">
                <a:solidFill>
                  <a:srgbClr val="172B3F"/>
                </a:solidFill>
                <a:latin typeface="Arial"/>
                <a:ea typeface="Arial"/>
                <a:cs typeface="Arial"/>
              </a:rPr>
              <a:t>Smart Problem Tagging</a:t>
            </a:r>
          </a:p>
        </p:txBody>
      </p:sp>
      <p:sp>
        <p:nvSpPr>
          <p:cNvPr id="2" name="Rectangle 1">
            <a:extLst>
              <a:ext uri="{FF2B5EF4-FFF2-40B4-BE49-F238E27FC236}">
                <a16:creationId xmlns:a16="http://schemas.microsoft.com/office/drawing/2014/main" id="{C065EADD-D1C3-4101-B155-1CA8A3192513}"/>
              </a:ext>
            </a:extLst>
          </p:cNvPr>
          <p:cNvSpPr>
            <a:spLocks noGrp="1"/>
          </p:cNvSpPr>
          <p:nvPr/>
        </p:nvSpPr>
        <p:spPr>
          <a:xfrm>
            <a:off x="323850" y="619125"/>
            <a:ext cx="8763000" cy="285750"/>
          </a:xfrm>
          <a:prstGeom prst="rect">
            <a:avLst/>
          </a:prstGeom>
          <a:noFill/>
          <a:ln w="0">
            <a:noFill/>
          </a:ln>
        </p:spPr>
        <p:txBody>
          <a:bodyPr>
            <a:noAutofit/>
          </a:bodyPr>
          <a:lstStyle/>
          <a:p>
            <a:pPr>
              <a:defRPr sz="1650" b="0">
                <a:solidFill>
                  <a:srgbClr val="526171"/>
                </a:solidFill>
                <a:latin typeface="Arial"/>
                <a:ea typeface="Arial"/>
                <a:cs typeface="Arial"/>
              </a:defRPr>
            </a:pPr>
            <a:r>
              <a:rPr lang="en-US" sz="1650" b="0" dirty="0">
                <a:solidFill>
                  <a:srgbClr val="526171"/>
                </a:solidFill>
                <a:latin typeface="Arial"/>
                <a:ea typeface="Arial"/>
                <a:cs typeface="Arial"/>
              </a:rPr>
              <a:t>Features</a:t>
            </a:r>
            <a:endParaRPr sz="1650" b="0" dirty="0">
              <a:solidFill>
                <a:srgbClr val="526171"/>
              </a:solidFill>
              <a:latin typeface="Arial"/>
              <a:ea typeface="Arial"/>
              <a:cs typeface="Arial"/>
            </a:endParaRPr>
          </a:p>
        </p:txBody>
      </p:sp>
      <p:sp>
        <p:nvSpPr>
          <p:cNvPr id="3" name="Rectangle 2">
            <a:extLst>
              <a:ext uri="{FF2B5EF4-FFF2-40B4-BE49-F238E27FC236}">
                <a16:creationId xmlns:a16="http://schemas.microsoft.com/office/drawing/2014/main" id="{8D92998A-0561-4AB5-8E96-E40E409B8F05}"/>
              </a:ext>
            </a:extLst>
          </p:cNvPr>
          <p:cNvSpPr>
            <a:spLocks noGrp="1"/>
          </p:cNvSpPr>
          <p:nvPr/>
        </p:nvSpPr>
        <p:spPr>
          <a:xfrm>
            <a:off x="10858500" y="323850"/>
            <a:ext cx="952500" cy="381000"/>
          </a:xfrm>
          <a:prstGeom prst="rect">
            <a:avLst/>
          </a:prstGeom>
          <a:noFill/>
          <a:ln w="0">
            <a:noFill/>
          </a:ln>
        </p:spPr>
        <p:txBody>
          <a:bodyPr>
            <a:noAutofit/>
          </a:bodyPr>
          <a:lstStyle/>
          <a:p>
            <a:pPr>
              <a:defRPr sz="1875" b="1">
                <a:solidFill>
                  <a:srgbClr val="ED1C24"/>
                </a:solidFill>
                <a:latin typeface="Arial"/>
                <a:ea typeface="Arial"/>
                <a:cs typeface="Arial"/>
              </a:defRPr>
            </a:pPr>
            <a:r>
              <a:rPr sz="1875" b="1">
                <a:solidFill>
                  <a:srgbClr val="ED1C24"/>
                </a:solidFill>
                <a:latin typeface="Arial"/>
                <a:ea typeface="Arial"/>
                <a:cs typeface="Arial"/>
              </a:rPr>
              <a:t>OPTR</a:t>
            </a:r>
          </a:p>
        </p:txBody>
      </p:sp>
      <p:sp>
        <p:nvSpPr>
          <p:cNvPr id="4" name="Rectangle 3">
            <a:extLst>
              <a:ext uri="{FF2B5EF4-FFF2-40B4-BE49-F238E27FC236}">
                <a16:creationId xmlns:a16="http://schemas.microsoft.com/office/drawing/2014/main" id="{4031E2F5-A8FA-4CD2-9F1B-1DB7A17F3C23}"/>
              </a:ext>
            </a:extLst>
          </p:cNvPr>
          <p:cNvSpPr>
            <a:spLocks noGrp="1"/>
          </p:cNvSpPr>
          <p:nvPr/>
        </p:nvSpPr>
        <p:spPr>
          <a:xfrm>
            <a:off x="304800" y="1009650"/>
            <a:ext cx="11582400" cy="28575"/>
          </a:xfrm>
          <a:prstGeom prst="rect">
            <a:avLst/>
          </a:prstGeom>
          <a:solidFill>
            <a:srgbClr val="ED1C24"/>
          </a:solidFill>
          <a:ln w="0">
            <a:noFill/>
          </a:ln>
        </p:spPr>
      </p:sp>
      <p:graphicFrame>
        <p:nvGraphicFramePr>
          <p:cNvPr id="5" name="Table 4">
            <a:extLst>
              <a:ext uri="{FF2B5EF4-FFF2-40B4-BE49-F238E27FC236}">
                <a16:creationId xmlns:a16="http://schemas.microsoft.com/office/drawing/2014/main" id="{443D2AB7-7F0A-4E22-AD17-3A74FC0C51DE}"/>
              </a:ext>
            </a:extLst>
          </p:cNvPr>
          <p:cNvGraphicFramePr>
            <a:graphicFrameLocks noGrp="1"/>
          </p:cNvGraphicFramePr>
          <p:nvPr>
            <p:extLst>
              <p:ext uri="{D42A27DB-BD31-4B8C-83A1-F6EECF244321}">
                <p14:modId xmlns:p14="http://schemas.microsoft.com/office/powerpoint/2010/main" val="1990641314"/>
              </p:ext>
            </p:extLst>
          </p:nvPr>
        </p:nvGraphicFramePr>
        <p:xfrm>
          <a:off x="123048" y="1209675"/>
          <a:ext cx="11687952" cy="5448299"/>
        </p:xfrm>
        <a:graphic>
          <a:graphicData uri="http://schemas.openxmlformats.org/drawingml/2006/table">
            <a:tbl>
              <a:tblPr firstRow="1" bandRow="1">
                <a:tableStyleId>{B301B821-A1FF-4177-AEE7-76D212191A09}</a:tableStyleId>
              </a:tblPr>
              <a:tblGrid>
                <a:gridCol w="1798742">
                  <a:extLst>
                    <a:ext uri="{9D8B030D-6E8A-4147-A177-3AD203B41FA5}">
                      <a16:colId xmlns:a16="http://schemas.microsoft.com/office/drawing/2014/main" val="3123122941"/>
                    </a:ext>
                  </a:extLst>
                </a:gridCol>
                <a:gridCol w="7144718">
                  <a:extLst>
                    <a:ext uri="{9D8B030D-6E8A-4147-A177-3AD203B41FA5}">
                      <a16:colId xmlns:a16="http://schemas.microsoft.com/office/drawing/2014/main" val="2550591814"/>
                    </a:ext>
                  </a:extLst>
                </a:gridCol>
                <a:gridCol w="2744492">
                  <a:extLst>
                    <a:ext uri="{9D8B030D-6E8A-4147-A177-3AD203B41FA5}">
                      <a16:colId xmlns:a16="http://schemas.microsoft.com/office/drawing/2014/main" val="627461052"/>
                    </a:ext>
                  </a:extLst>
                </a:gridCol>
              </a:tblGrid>
              <a:tr h="224413">
                <a:tc>
                  <a:txBody>
                    <a:bodyPr/>
                    <a:lstStyle/>
                    <a:p>
                      <a:r>
                        <a:rPr lang="en-US" sz="1200"/>
                        <a:t>Main Feature</a:t>
                      </a:r>
                    </a:p>
                  </a:txBody>
                  <a:tcPr marL="19513" marR="19513" marT="9756" marB="9756" anchor="ctr"/>
                </a:tc>
                <a:tc>
                  <a:txBody>
                    <a:bodyPr/>
                    <a:lstStyle/>
                    <a:p>
                      <a:r>
                        <a:rPr lang="en-US" sz="1200"/>
                        <a:t>Detailed Features</a:t>
                      </a:r>
                    </a:p>
                  </a:txBody>
                  <a:tcPr marL="19513" marR="19513" marT="9756" marB="9756" anchor="ctr"/>
                </a:tc>
                <a:tc>
                  <a:txBody>
                    <a:bodyPr/>
                    <a:lstStyle/>
                    <a:p>
                      <a:r>
                        <a:rPr lang="en-US" sz="1200"/>
                        <a:t>Platform</a:t>
                      </a:r>
                    </a:p>
                  </a:txBody>
                  <a:tcPr marL="19513" marR="19513" marT="9756" marB="9756" anchor="ctr"/>
                </a:tc>
                <a:extLst>
                  <a:ext uri="{0D108BD9-81ED-4DB2-BD59-A6C34878D82A}">
                    <a16:rowId xmlns:a16="http://schemas.microsoft.com/office/drawing/2014/main" val="1286633896"/>
                  </a:ext>
                </a:extLst>
              </a:tr>
              <a:tr h="427191">
                <a:tc>
                  <a:txBody>
                    <a:bodyPr/>
                    <a:lstStyle/>
                    <a:p>
                      <a:r>
                        <a:rPr lang="en-US" sz="1200"/>
                        <a:t>Geotagged Problem Capture</a:t>
                      </a:r>
                    </a:p>
                  </a:txBody>
                  <a:tcPr marL="19513" marR="19513" marT="9756" marB="9756" anchor="ctr"/>
                </a:tc>
                <a:tc>
                  <a:txBody>
                    <a:bodyPr/>
                    <a:lstStyle/>
                    <a:p>
                      <a:r>
                        <a:rPr lang="en-US" sz="1200"/>
                        <a:t>Buat problem tagging; pilih kategori masalah; input severity, sensitivity, volume dan satuan; foto dengan koordinat dan waktu pengambilan; catatan kondisi; simpan draft dan submit.</a:t>
                      </a:r>
                    </a:p>
                  </a:txBody>
                  <a:tcPr marL="19513" marR="19513" marT="9756" marB="9756" anchor="ctr"/>
                </a:tc>
                <a:tc>
                  <a:txBody>
                    <a:bodyPr/>
                    <a:lstStyle/>
                    <a:p>
                      <a:r>
                        <a:rPr lang="en-US" sz="1200"/>
                        <a:t>Mobile, dashboard untuk melihat detail</a:t>
                      </a:r>
                    </a:p>
                  </a:txBody>
                  <a:tcPr marL="19513" marR="19513" marT="9756" marB="9756" anchor="ctr"/>
                </a:tc>
                <a:extLst>
                  <a:ext uri="{0D108BD9-81ED-4DB2-BD59-A6C34878D82A}">
                    <a16:rowId xmlns:a16="http://schemas.microsoft.com/office/drawing/2014/main" val="2482088737"/>
                  </a:ext>
                </a:extLst>
              </a:tr>
              <a:tr h="427191">
                <a:tc>
                  <a:txBody>
                    <a:bodyPr/>
                    <a:lstStyle/>
                    <a:p>
                      <a:r>
                        <a:rPr lang="en-US" sz="1200"/>
                        <a:t>Interactive Problem Map</a:t>
                      </a:r>
                    </a:p>
                  </a:txBody>
                  <a:tcPr marL="19513" marR="19513" marT="9756" marB="9756" anchor="ctr"/>
                </a:tc>
                <a:tc>
                  <a:txBody>
                    <a:bodyPr/>
                    <a:lstStyle/>
                    <a:p>
                      <a:r>
                        <a:rPr lang="en-US" sz="1200" dirty="0"/>
                        <a:t>Peta </a:t>
                      </a:r>
                      <a:r>
                        <a:rPr lang="en-US" sz="1200" dirty="0" err="1"/>
                        <a:t>batas</a:t>
                      </a:r>
                      <a:r>
                        <a:rPr lang="en-US" sz="1200" dirty="0"/>
                        <a:t> </a:t>
                      </a:r>
                      <a:r>
                        <a:rPr lang="en-US" sz="1200" dirty="0" err="1"/>
                        <a:t>blok</a:t>
                      </a:r>
                      <a:r>
                        <a:rPr lang="en-US" sz="1200" dirty="0"/>
                        <a:t> dan </a:t>
                      </a:r>
                      <a:r>
                        <a:rPr lang="en-US" sz="1200" dirty="0" err="1"/>
                        <a:t>titik</a:t>
                      </a:r>
                      <a:r>
                        <a:rPr lang="en-US" sz="1200" dirty="0"/>
                        <a:t> </a:t>
                      </a:r>
                      <a:r>
                        <a:rPr lang="en-US" sz="1200" dirty="0" err="1"/>
                        <a:t>masalah</a:t>
                      </a:r>
                      <a:r>
                        <a:rPr lang="en-US" sz="1200" dirty="0"/>
                        <a:t>; </a:t>
                      </a:r>
                      <a:r>
                        <a:rPr lang="en-US" sz="1200" dirty="0" err="1"/>
                        <a:t>warna</a:t>
                      </a:r>
                      <a:r>
                        <a:rPr lang="en-US" sz="1200" dirty="0"/>
                        <a:t> </a:t>
                      </a:r>
                      <a:r>
                        <a:rPr lang="en-US" sz="1200" dirty="0" err="1"/>
                        <a:t>berdasarkan</a:t>
                      </a:r>
                      <a:r>
                        <a:rPr lang="en-US" sz="1200" dirty="0"/>
                        <a:t> </a:t>
                      </a:r>
                      <a:r>
                        <a:rPr lang="en-US" sz="1200" dirty="0" err="1"/>
                        <a:t>kategori</a:t>
                      </a:r>
                      <a:r>
                        <a:rPr lang="en-US" sz="1200" dirty="0"/>
                        <a:t>/status; filter </a:t>
                      </a:r>
                      <a:r>
                        <a:rPr lang="en-US" sz="1200" dirty="0" err="1"/>
                        <a:t>wilayah</a:t>
                      </a:r>
                      <a:r>
                        <a:rPr lang="en-US" sz="1200" dirty="0"/>
                        <a:t> dan </a:t>
                      </a:r>
                      <a:r>
                        <a:rPr lang="en-US" sz="1200" dirty="0" err="1"/>
                        <a:t>periode</a:t>
                      </a:r>
                      <a:r>
                        <a:rPr lang="en-US" sz="1200" dirty="0"/>
                        <a:t>; detail </a:t>
                      </a:r>
                      <a:r>
                        <a:rPr lang="en-US" sz="1200" dirty="0" err="1"/>
                        <a:t>foto</a:t>
                      </a:r>
                      <a:r>
                        <a:rPr lang="en-US" sz="1200" dirty="0"/>
                        <a:t> </a:t>
                      </a:r>
                      <a:r>
                        <a:rPr lang="en-US" sz="1200" dirty="0" err="1"/>
                        <a:t>saat</a:t>
                      </a:r>
                      <a:r>
                        <a:rPr lang="en-US" sz="1200" dirty="0"/>
                        <a:t> </a:t>
                      </a:r>
                      <a:r>
                        <a:rPr lang="en-US" sz="1200" dirty="0" err="1"/>
                        <a:t>titik</a:t>
                      </a:r>
                      <a:r>
                        <a:rPr lang="en-US" sz="1200" dirty="0"/>
                        <a:t> </a:t>
                      </a:r>
                      <a:r>
                        <a:rPr lang="en-US" sz="1200" dirty="0" err="1"/>
                        <a:t>dipilih</a:t>
                      </a:r>
                      <a:r>
                        <a:rPr lang="en-US" sz="1200" dirty="0"/>
                        <a:t>; drill-down PSM–Region–Estate–Divisi–Blok; </a:t>
                      </a:r>
                      <a:r>
                        <a:rPr lang="en-US" sz="1200" dirty="0" err="1"/>
                        <a:t>fullscreen</a:t>
                      </a:r>
                      <a:r>
                        <a:rPr lang="en-US" sz="1200" dirty="0"/>
                        <a:t>.</a:t>
                      </a:r>
                    </a:p>
                  </a:txBody>
                  <a:tcPr marL="19513" marR="19513" marT="9756" marB="9756" anchor="ctr"/>
                </a:tc>
                <a:tc>
                  <a:txBody>
                    <a:bodyPr/>
                    <a:lstStyle/>
                    <a:p>
                      <a:r>
                        <a:rPr lang="en-US" sz="1200"/>
                        <a:t>Dashboard &amp; mobile</a:t>
                      </a:r>
                    </a:p>
                  </a:txBody>
                  <a:tcPr marL="19513" marR="19513" marT="9756" marB="9756" anchor="ctr"/>
                </a:tc>
                <a:extLst>
                  <a:ext uri="{0D108BD9-81ED-4DB2-BD59-A6C34878D82A}">
                    <a16:rowId xmlns:a16="http://schemas.microsoft.com/office/drawing/2014/main" val="789598314"/>
                  </a:ext>
                </a:extLst>
              </a:tr>
              <a:tr h="475988">
                <a:tc>
                  <a:txBody>
                    <a:bodyPr/>
                    <a:lstStyle/>
                    <a:p>
                      <a:r>
                        <a:rPr lang="en-US" sz="1200"/>
                        <a:t>Inspection Tracking &amp; Coverage</a:t>
                      </a:r>
                    </a:p>
                  </a:txBody>
                  <a:tcPr marL="19513" marR="19513" marT="9756" marB="9756" anchor="ctr"/>
                </a:tc>
                <a:tc>
                  <a:txBody>
                    <a:bodyPr/>
                    <a:lstStyle/>
                    <a:p>
                      <a:r>
                        <a:rPr lang="en-US" sz="1200" dirty="0"/>
                        <a:t>Start/stop tracking </a:t>
                      </a:r>
                      <a:r>
                        <a:rPr lang="en-US" sz="1200" dirty="0" err="1"/>
                        <a:t>inspeksi</a:t>
                      </a:r>
                      <a:r>
                        <a:rPr lang="en-US" sz="1200" dirty="0"/>
                        <a:t>; </a:t>
                      </a:r>
                      <a:r>
                        <a:rPr lang="en-US" sz="1200" dirty="0" err="1"/>
                        <a:t>rekam</a:t>
                      </a:r>
                      <a:r>
                        <a:rPr lang="en-US" sz="1200" dirty="0"/>
                        <a:t> </a:t>
                      </a:r>
                      <a:r>
                        <a:rPr lang="en-US" sz="1200" dirty="0" err="1"/>
                        <a:t>jalur</a:t>
                      </a:r>
                      <a:r>
                        <a:rPr lang="en-US" sz="1200" dirty="0"/>
                        <a:t> GPS; </a:t>
                      </a:r>
                      <a:r>
                        <a:rPr lang="en-US" sz="1200" dirty="0" err="1"/>
                        <a:t>hubungkan</a:t>
                      </a:r>
                      <a:r>
                        <a:rPr lang="en-US" sz="1200" dirty="0"/>
                        <a:t> tagging </a:t>
                      </a:r>
                      <a:r>
                        <a:rPr lang="en-US" sz="1200" dirty="0" err="1"/>
                        <a:t>dengan</a:t>
                      </a:r>
                      <a:r>
                        <a:rPr lang="en-US" sz="1200" dirty="0"/>
                        <a:t> </a:t>
                      </a:r>
                      <a:r>
                        <a:rPr lang="en-US" sz="1200" dirty="0" err="1"/>
                        <a:t>sesi</a:t>
                      </a:r>
                      <a:r>
                        <a:rPr lang="en-US" sz="1200" dirty="0"/>
                        <a:t> </a:t>
                      </a:r>
                      <a:r>
                        <a:rPr lang="en-US" sz="1200" dirty="0" err="1"/>
                        <a:t>inspeksi</a:t>
                      </a:r>
                      <a:r>
                        <a:rPr lang="en-US" sz="1200" dirty="0"/>
                        <a:t>; </a:t>
                      </a:r>
                      <a:r>
                        <a:rPr lang="en-US" sz="1200" dirty="0" err="1"/>
                        <a:t>riwayat</a:t>
                      </a:r>
                      <a:r>
                        <a:rPr lang="en-US" sz="1200" dirty="0"/>
                        <a:t> </a:t>
                      </a:r>
                      <a:r>
                        <a:rPr lang="en-US" sz="1200" dirty="0" err="1"/>
                        <a:t>rute</a:t>
                      </a:r>
                      <a:r>
                        <a:rPr lang="en-US" sz="1200" dirty="0"/>
                        <a:t>; </a:t>
                      </a:r>
                      <a:r>
                        <a:rPr lang="en-US" sz="1200" dirty="0" err="1"/>
                        <a:t>jarak</a:t>
                      </a:r>
                      <a:r>
                        <a:rPr lang="en-US" sz="1200" dirty="0"/>
                        <a:t> dan </a:t>
                      </a:r>
                      <a:r>
                        <a:rPr lang="en-US" sz="1200" dirty="0" err="1"/>
                        <a:t>durasi</a:t>
                      </a:r>
                      <a:r>
                        <a:rPr lang="en-US" sz="1200" dirty="0"/>
                        <a:t>; </a:t>
                      </a:r>
                      <a:r>
                        <a:rPr lang="en-US" sz="1200" dirty="0" err="1"/>
                        <a:t>tampilkan</a:t>
                      </a:r>
                      <a:r>
                        <a:rPr lang="en-US" sz="1200" dirty="0"/>
                        <a:t> </a:t>
                      </a:r>
                      <a:r>
                        <a:rPr lang="en-US" sz="1200" dirty="0" err="1"/>
                        <a:t>estimasi</a:t>
                      </a:r>
                      <a:r>
                        <a:rPr lang="en-US" sz="1200" dirty="0"/>
                        <a:t> coverage </a:t>
                      </a:r>
                      <a:r>
                        <a:rPr lang="en-US" sz="1200" dirty="0" err="1"/>
                        <a:t>serta</a:t>
                      </a:r>
                      <a:r>
                        <a:rPr lang="en-US" sz="1200" dirty="0"/>
                        <a:t> area yang </a:t>
                      </a:r>
                      <a:r>
                        <a:rPr lang="en-US" sz="1200" dirty="0" err="1"/>
                        <a:t>belum</a:t>
                      </a:r>
                      <a:r>
                        <a:rPr lang="en-US" sz="1200" dirty="0"/>
                        <a:t> </a:t>
                      </a:r>
                      <a:r>
                        <a:rPr lang="en-US" sz="1200" dirty="0" err="1"/>
                        <a:t>diperiksa</a:t>
                      </a:r>
                      <a:r>
                        <a:rPr lang="en-US" sz="1200" dirty="0"/>
                        <a:t> </a:t>
                      </a:r>
                      <a:r>
                        <a:rPr lang="en-US" sz="1200" dirty="0" err="1"/>
                        <a:t>dalam</a:t>
                      </a:r>
                      <a:r>
                        <a:rPr lang="en-US" sz="1200" dirty="0"/>
                        <a:t> </a:t>
                      </a:r>
                      <a:r>
                        <a:rPr lang="en-US" sz="1200" dirty="0" err="1"/>
                        <a:t>periode</a:t>
                      </a:r>
                      <a:r>
                        <a:rPr lang="en-US" sz="1200" dirty="0"/>
                        <a:t> </a:t>
                      </a:r>
                      <a:r>
                        <a:rPr lang="en-US" sz="1200" dirty="0" err="1"/>
                        <a:t>tertentu</a:t>
                      </a:r>
                      <a:r>
                        <a:rPr lang="en-US" sz="1200" dirty="0"/>
                        <a:t>.</a:t>
                      </a:r>
                    </a:p>
                  </a:txBody>
                  <a:tcPr marL="19513" marR="19513" marT="9756" marB="9756" anchor="ctr"/>
                </a:tc>
                <a:tc>
                  <a:txBody>
                    <a:bodyPr/>
                    <a:lstStyle/>
                    <a:p>
                      <a:r>
                        <a:rPr lang="en-US" sz="1200"/>
                        <a:t>Mobile untuk merekam, dashboard untuk analisis</a:t>
                      </a:r>
                    </a:p>
                  </a:txBody>
                  <a:tcPr marL="19513" marR="19513" marT="9756" marB="9756" anchor="ctr"/>
                </a:tc>
                <a:extLst>
                  <a:ext uri="{0D108BD9-81ED-4DB2-BD59-A6C34878D82A}">
                    <a16:rowId xmlns:a16="http://schemas.microsoft.com/office/drawing/2014/main" val="2579267868"/>
                  </a:ext>
                </a:extLst>
              </a:tr>
              <a:tr h="427191">
                <a:tc>
                  <a:txBody>
                    <a:bodyPr/>
                    <a:lstStyle/>
                    <a:p>
                      <a:r>
                        <a:rPr lang="en-US" sz="1200"/>
                        <a:t>Problem Summary</a:t>
                      </a:r>
                    </a:p>
                  </a:txBody>
                  <a:tcPr marL="19513" marR="19513" marT="9756" marB="9756" anchor="ctr"/>
                </a:tc>
                <a:tc>
                  <a:txBody>
                    <a:bodyPr/>
                    <a:lstStyle/>
                    <a:p>
                      <a:r>
                        <a:rPr lang="en-US" sz="1200"/>
                        <a:t>Jumlah tagging per kategori dan status; volume berdasarkan satuan yang sama; distribusi major/minor dan severity; progres penyelesaian; rekap per wilayah dan periode; export laporan.</a:t>
                      </a:r>
                    </a:p>
                  </a:txBody>
                  <a:tcPr marL="19513" marR="19513" marT="9756" marB="9756" anchor="ctr"/>
                </a:tc>
                <a:tc>
                  <a:txBody>
                    <a:bodyPr/>
                    <a:lstStyle/>
                    <a:p>
                      <a:r>
                        <a:rPr lang="it-IT" sz="1200"/>
                        <a:t>Dashboard, ringkasan pribadi di mobile</a:t>
                      </a:r>
                    </a:p>
                  </a:txBody>
                  <a:tcPr marL="19513" marR="19513" marT="9756" marB="9756" anchor="ctr"/>
                </a:tc>
                <a:extLst>
                  <a:ext uri="{0D108BD9-81ED-4DB2-BD59-A6C34878D82A}">
                    <a16:rowId xmlns:a16="http://schemas.microsoft.com/office/drawing/2014/main" val="2159434371"/>
                  </a:ext>
                </a:extLst>
              </a:tr>
              <a:tr h="427191">
                <a:tc>
                  <a:txBody>
                    <a:bodyPr/>
                    <a:lstStyle/>
                    <a:p>
                      <a:r>
                        <a:rPr lang="en-US" sz="1200"/>
                        <a:t>Priority-Based Review</a:t>
                      </a:r>
                    </a:p>
                  </a:txBody>
                  <a:tcPr marL="19513" marR="19513" marT="9756" marB="9756" anchor="ctr"/>
                </a:tc>
                <a:tc>
                  <a:txBody>
                    <a:bodyPr/>
                    <a:lstStyle/>
                    <a:p>
                      <a:r>
                        <a:rPr lang="en-US" sz="1200"/>
                        <a:t>Daftar masalah prioritas; sorting/filter berdasarkan severity, sensitivity, umur masalah dan keterlambatan; tandai masalah yang membutuhkan perhatian; buka detail dan action plan terkait.</a:t>
                      </a:r>
                    </a:p>
                  </a:txBody>
                  <a:tcPr marL="19513" marR="19513" marT="9756" marB="9756" anchor="ctr"/>
                </a:tc>
                <a:tc>
                  <a:txBody>
                    <a:bodyPr/>
                    <a:lstStyle/>
                    <a:p>
                      <a:r>
                        <a:rPr lang="en-US" sz="1200"/>
                        <a:t>Dashboard &amp; mobile</a:t>
                      </a:r>
                    </a:p>
                  </a:txBody>
                  <a:tcPr marL="19513" marR="19513" marT="9756" marB="9756" anchor="ctr"/>
                </a:tc>
                <a:extLst>
                  <a:ext uri="{0D108BD9-81ED-4DB2-BD59-A6C34878D82A}">
                    <a16:rowId xmlns:a16="http://schemas.microsoft.com/office/drawing/2014/main" val="2724013729"/>
                  </a:ext>
                </a:extLst>
              </a:tr>
              <a:tr h="427191">
                <a:tc>
                  <a:txBody>
                    <a:bodyPr/>
                    <a:lstStyle/>
                    <a:p>
                      <a:r>
                        <a:rPr lang="en-US" sz="1200"/>
                        <a:t>Alerts &amp; Trend Monitoring</a:t>
                      </a:r>
                    </a:p>
                  </a:txBody>
                  <a:tcPr marL="19513" marR="19513" marT="9756" marB="9756" anchor="ctr"/>
                </a:tc>
                <a:tc>
                  <a:txBody>
                    <a:bodyPr/>
                    <a:lstStyle/>
                    <a:p>
                      <a:r>
                        <a:rPr lang="en-US" sz="1200"/>
                        <a:t>Notifikasi tagging menunggu verifikasi; penugasan action plan; pengingat deadline; overdue; tren masalah baru dan selesai; identifikasi masalah berulang.</a:t>
                      </a:r>
                    </a:p>
                  </a:txBody>
                  <a:tcPr marL="19513" marR="19513" marT="9756" marB="9756" anchor="ctr"/>
                </a:tc>
                <a:tc>
                  <a:txBody>
                    <a:bodyPr/>
                    <a:lstStyle/>
                    <a:p>
                      <a:r>
                        <a:rPr lang="en-US" sz="1200"/>
                        <a:t>Dashboard &amp; mobile</a:t>
                      </a:r>
                    </a:p>
                  </a:txBody>
                  <a:tcPr marL="19513" marR="19513" marT="9756" marB="9756" anchor="ctr"/>
                </a:tc>
                <a:extLst>
                  <a:ext uri="{0D108BD9-81ED-4DB2-BD59-A6C34878D82A}">
                    <a16:rowId xmlns:a16="http://schemas.microsoft.com/office/drawing/2014/main" val="3105163507"/>
                  </a:ext>
                </a:extLst>
              </a:tr>
              <a:tr h="427191">
                <a:tc>
                  <a:txBody>
                    <a:bodyPr/>
                    <a:lstStyle/>
                    <a:p>
                      <a:r>
                        <a:rPr lang="en-US" sz="1200"/>
                        <a:t>Problem Tagging Verification</a:t>
                      </a:r>
                    </a:p>
                  </a:txBody>
                  <a:tcPr marL="19513" marR="19513" marT="9756" marB="9756" anchor="ctr"/>
                </a:tc>
                <a:tc>
                  <a:txBody>
                    <a:bodyPr/>
                    <a:lstStyle/>
                    <a:p>
                      <a:r>
                        <a:rPr lang="en-US" sz="1200"/>
                        <a:t>Antrean verifikasi; review foto, lokasi dan klasifikasi; approve, return untuk perbaikan atau reject dengan alasan; riwayat keputusan dan perubahan status.</a:t>
                      </a:r>
                    </a:p>
                  </a:txBody>
                  <a:tcPr marL="19513" marR="19513" marT="9756" marB="9756" anchor="ctr"/>
                </a:tc>
                <a:tc>
                  <a:txBody>
                    <a:bodyPr/>
                    <a:lstStyle/>
                    <a:p>
                      <a:r>
                        <a:rPr lang="en-US" sz="1200"/>
                        <a:t>Dashboard &amp; mobile</a:t>
                      </a:r>
                    </a:p>
                  </a:txBody>
                  <a:tcPr marL="19513" marR="19513" marT="9756" marB="9756" anchor="ctr"/>
                </a:tc>
                <a:extLst>
                  <a:ext uri="{0D108BD9-81ED-4DB2-BD59-A6C34878D82A}">
                    <a16:rowId xmlns:a16="http://schemas.microsoft.com/office/drawing/2014/main" val="2948089221"/>
                  </a:ext>
                </a:extLst>
              </a:tr>
              <a:tr h="427191">
                <a:tc>
                  <a:txBody>
                    <a:bodyPr/>
                    <a:lstStyle/>
                    <a:p>
                      <a:r>
                        <a:rPr lang="en-US" sz="1200"/>
                        <a:t>Action Plan Management</a:t>
                      </a:r>
                    </a:p>
                  </a:txBody>
                  <a:tcPr marL="19513" marR="19513" marT="9756" marB="9756" anchor="ctr"/>
                </a:tc>
                <a:tc>
                  <a:txBody>
                    <a:bodyPr/>
                    <a:lstStyle/>
                    <a:p>
                      <a:r>
                        <a:rPr lang="en-US" sz="1200"/>
                        <a:t>Tentukan tindakan; PIC; target waktu; kebutuhan sumber daya; volume pekerjaan; update realisasi, foto dan kendala; pantau rencana dibandingkan realisasi.</a:t>
                      </a:r>
                    </a:p>
                  </a:txBody>
                  <a:tcPr marL="19513" marR="19513" marT="9756" marB="9756" anchor="ctr"/>
                </a:tc>
                <a:tc>
                  <a:txBody>
                    <a:bodyPr/>
                    <a:lstStyle/>
                    <a:p>
                      <a:r>
                        <a:rPr lang="en-US" sz="1200"/>
                        <a:t>Dashboard &amp; mobile</a:t>
                      </a:r>
                    </a:p>
                  </a:txBody>
                  <a:tcPr marL="19513" marR="19513" marT="9756" marB="9756" anchor="ctr"/>
                </a:tc>
                <a:extLst>
                  <a:ext uri="{0D108BD9-81ED-4DB2-BD59-A6C34878D82A}">
                    <a16:rowId xmlns:a16="http://schemas.microsoft.com/office/drawing/2014/main" val="1462051378"/>
                  </a:ext>
                </a:extLst>
              </a:tr>
              <a:tr h="427191">
                <a:tc>
                  <a:txBody>
                    <a:bodyPr/>
                    <a:lstStyle/>
                    <a:p>
                      <a:r>
                        <a:rPr lang="en-US" sz="1200"/>
                        <a:t>Verified Closure &amp; History</a:t>
                      </a:r>
                    </a:p>
                  </a:txBody>
                  <a:tcPr marL="19513" marR="19513" marT="9756" marB="9756" anchor="ctr"/>
                </a:tc>
                <a:tc>
                  <a:txBody>
                    <a:bodyPr/>
                    <a:lstStyle/>
                    <a:p>
                      <a:r>
                        <a:rPr lang="en-US" sz="1200"/>
                        <a:t>Ajukan penyelesaian; bandingkan foto sebelum–sesudah; verifikasi penyelesaian bertahap; return/reopen jika belum sesuai; riwayat tagging, tindakan dan persetujuan.</a:t>
                      </a:r>
                    </a:p>
                  </a:txBody>
                  <a:tcPr marL="19513" marR="19513" marT="9756" marB="9756" anchor="ctr"/>
                </a:tc>
                <a:tc>
                  <a:txBody>
                    <a:bodyPr/>
                    <a:lstStyle/>
                    <a:p>
                      <a:r>
                        <a:rPr lang="en-US" sz="1200"/>
                        <a:t>Dashboard &amp; mobile</a:t>
                      </a:r>
                    </a:p>
                  </a:txBody>
                  <a:tcPr marL="19513" marR="19513" marT="9756" marB="9756" anchor="ctr"/>
                </a:tc>
                <a:extLst>
                  <a:ext uri="{0D108BD9-81ED-4DB2-BD59-A6C34878D82A}">
                    <a16:rowId xmlns:a16="http://schemas.microsoft.com/office/drawing/2014/main" val="962013237"/>
                  </a:ext>
                </a:extLst>
              </a:tr>
              <a:tr h="427191">
                <a:tc>
                  <a:txBody>
                    <a:bodyPr/>
                    <a:lstStyle/>
                    <a:p>
                      <a:r>
                        <a:rPr lang="en-US" sz="1200"/>
                        <a:t>Standardized Master Data</a:t>
                      </a:r>
                    </a:p>
                  </a:txBody>
                  <a:tcPr marL="19513" marR="19513" marT="9756" marB="9756" anchor="ctr"/>
                </a:tc>
                <a:tc>
                  <a:txBody>
                    <a:bodyPr/>
                    <a:lstStyle/>
                    <a:p>
                      <a:r>
                        <a:rPr lang="en-US" sz="1200"/>
                        <a:t>Master wilayah dan blok; kategori masalah; satuan; aturan severity dan sensitivity; referensi tindakan; user, role dan cakupan akses.</a:t>
                      </a:r>
                    </a:p>
                  </a:txBody>
                  <a:tcPr marL="19513" marR="19513" marT="9756" marB="9756" anchor="ctr"/>
                </a:tc>
                <a:tc>
                  <a:txBody>
                    <a:bodyPr/>
                    <a:lstStyle/>
                    <a:p>
                      <a:r>
                        <a:rPr lang="en-US" sz="1200"/>
                        <a:t>Dashboard</a:t>
                      </a:r>
                    </a:p>
                  </a:txBody>
                  <a:tcPr marL="19513" marR="19513" marT="9756" marB="9756" anchor="ctr"/>
                </a:tc>
                <a:extLst>
                  <a:ext uri="{0D108BD9-81ED-4DB2-BD59-A6C34878D82A}">
                    <a16:rowId xmlns:a16="http://schemas.microsoft.com/office/drawing/2014/main" val="725887689"/>
                  </a:ext>
                </a:extLst>
              </a:tr>
              <a:tr h="475988">
                <a:tc>
                  <a:txBody>
                    <a:bodyPr/>
                    <a:lstStyle/>
                    <a:p>
                      <a:r>
                        <a:rPr lang="en-US" sz="1200"/>
                        <a:t>Production &amp; BCCR Linkage</a:t>
                      </a:r>
                    </a:p>
                  </a:txBody>
                  <a:tcPr marL="19513" marR="19513" marT="9756" marB="9756" anchor="ctr"/>
                </a:tc>
                <a:tc>
                  <a:txBody>
                    <a:bodyPr/>
                    <a:lstStyle/>
                    <a:p>
                      <a:r>
                        <a:rPr lang="en-US" sz="1200"/>
                        <a:t>Tampilkan produksi aktual dibandingkan potensi; histori produksi; kondisi BCCR; lihat masalah dan progres tindakan pada blok yang sama; evaluasi perubahan produksi setelah tindakan.</a:t>
                      </a:r>
                    </a:p>
                  </a:txBody>
                  <a:tcPr marL="19513" marR="19513" marT="9756" marB="9756" anchor="ctr"/>
                </a:tc>
                <a:tc>
                  <a:txBody>
                    <a:bodyPr/>
                    <a:lstStyle/>
                    <a:p>
                      <a:r>
                        <a:rPr lang="en-US" sz="1200"/>
                        <a:t>Dashboard</a:t>
                      </a:r>
                    </a:p>
                  </a:txBody>
                  <a:tcPr marL="19513" marR="19513" marT="9756" marB="9756" anchor="ctr"/>
                </a:tc>
                <a:extLst>
                  <a:ext uri="{0D108BD9-81ED-4DB2-BD59-A6C34878D82A}">
                    <a16:rowId xmlns:a16="http://schemas.microsoft.com/office/drawing/2014/main" val="1987565130"/>
                  </a:ext>
                </a:extLst>
              </a:tr>
              <a:tr h="427191">
                <a:tc>
                  <a:txBody>
                    <a:bodyPr/>
                    <a:lstStyle/>
                    <a:p>
                      <a:r>
                        <a:rPr lang="en-US" sz="1200"/>
                        <a:t>Relevant System Integration</a:t>
                      </a:r>
                    </a:p>
                  </a:txBody>
                  <a:tcPr marL="19513" marR="19513" marT="9756" marB="9756" anchor="ctr"/>
                </a:tc>
                <a:tc>
                  <a:txBody>
                    <a:bodyPr/>
                    <a:lstStyle/>
                    <a:p>
                      <a:r>
                        <a:rPr lang="en-US" sz="1200"/>
                        <a:t>Integrasi peta dan master blok; data produksi/BCCR; data operasional yang disepakati; status sinkronisasi; waktu pembaruan terakhir dan penanganan kegagalan sinkronisasi.</a:t>
                      </a:r>
                    </a:p>
                  </a:txBody>
                  <a:tcPr marL="19513" marR="19513" marT="9756" marB="9756" anchor="ctr"/>
                </a:tc>
                <a:tc>
                  <a:txBody>
                    <a:bodyPr/>
                    <a:lstStyle/>
                    <a:p>
                      <a:r>
                        <a:rPr lang="en-US" sz="1200" dirty="0"/>
                        <a:t>Dashboard/backend</a:t>
                      </a:r>
                    </a:p>
                  </a:txBody>
                  <a:tcPr marL="19513" marR="19513" marT="9756" marB="9756" anchor="ctr"/>
                </a:tc>
                <a:extLst>
                  <a:ext uri="{0D108BD9-81ED-4DB2-BD59-A6C34878D82A}">
                    <a16:rowId xmlns:a16="http://schemas.microsoft.com/office/drawing/2014/main" val="989297257"/>
                  </a:ext>
                </a:extLst>
              </a:tr>
            </a:tbl>
          </a:graphicData>
        </a:graphic>
      </p:graphicFrame>
    </p:spTree>
    <p:extLst>
      <p:ext uri="{BB962C8B-B14F-4D97-AF65-F5344CB8AC3E}">
        <p14:creationId xmlns:p14="http://schemas.microsoft.com/office/powerpoint/2010/main" val="986413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57B1B91-EBF6-49F3-945B-3051E16E6913}"/>
              </a:ext>
            </a:extLst>
          </p:cNvPr>
          <p:cNvSpPr>
            <a:spLocks noGrp="1"/>
          </p:cNvSpPr>
          <p:nvPr/>
        </p:nvSpPr>
        <p:spPr>
          <a:xfrm>
            <a:off x="304800" y="200025"/>
            <a:ext cx="8572500" cy="400050"/>
          </a:xfrm>
          <a:prstGeom prst="rect">
            <a:avLst/>
          </a:prstGeom>
          <a:noFill/>
          <a:ln w="0">
            <a:noFill/>
          </a:ln>
        </p:spPr>
        <p:txBody>
          <a:bodyPr>
            <a:noAutofit/>
          </a:bodyPr>
          <a:lstStyle/>
          <a:p>
            <a:pPr>
              <a:defRPr sz="2400" b="1">
                <a:solidFill>
                  <a:srgbClr val="172B3F"/>
                </a:solidFill>
                <a:latin typeface="Arial"/>
                <a:ea typeface="Arial"/>
                <a:cs typeface="Arial"/>
              </a:defRPr>
            </a:pPr>
            <a:r>
              <a:rPr sz="2400" b="1">
                <a:solidFill>
                  <a:srgbClr val="172B3F"/>
                </a:solidFill>
                <a:latin typeface="Arial"/>
                <a:ea typeface="Arial"/>
                <a:cs typeface="Arial"/>
              </a:rPr>
              <a:t>Smart Problem Tagging</a:t>
            </a:r>
          </a:p>
        </p:txBody>
      </p:sp>
      <p:sp>
        <p:nvSpPr>
          <p:cNvPr id="2" name="Rectangle 1">
            <a:extLst>
              <a:ext uri="{FF2B5EF4-FFF2-40B4-BE49-F238E27FC236}">
                <a16:creationId xmlns:a16="http://schemas.microsoft.com/office/drawing/2014/main" id="{C065EADD-D1C3-4101-B155-1CA8A3192513}"/>
              </a:ext>
            </a:extLst>
          </p:cNvPr>
          <p:cNvSpPr>
            <a:spLocks noGrp="1"/>
          </p:cNvSpPr>
          <p:nvPr/>
        </p:nvSpPr>
        <p:spPr>
          <a:xfrm>
            <a:off x="323850" y="619125"/>
            <a:ext cx="8763000" cy="285750"/>
          </a:xfrm>
          <a:prstGeom prst="rect">
            <a:avLst/>
          </a:prstGeom>
          <a:noFill/>
          <a:ln w="0">
            <a:noFill/>
          </a:ln>
        </p:spPr>
        <p:txBody>
          <a:bodyPr>
            <a:noAutofit/>
          </a:bodyPr>
          <a:lstStyle/>
          <a:p>
            <a:pPr>
              <a:defRPr sz="1650" b="0">
                <a:solidFill>
                  <a:srgbClr val="526171"/>
                </a:solidFill>
                <a:latin typeface="Arial"/>
                <a:ea typeface="Arial"/>
                <a:cs typeface="Arial"/>
              </a:defRPr>
            </a:pPr>
            <a:r>
              <a:rPr lang="en-US" sz="1650" b="0" dirty="0">
                <a:solidFill>
                  <a:srgbClr val="526171"/>
                </a:solidFill>
                <a:latin typeface="Arial"/>
                <a:ea typeface="Arial"/>
                <a:cs typeface="Arial"/>
              </a:rPr>
              <a:t>Dashboard Features</a:t>
            </a:r>
            <a:endParaRPr sz="1650" b="0" dirty="0">
              <a:solidFill>
                <a:srgbClr val="526171"/>
              </a:solidFill>
              <a:latin typeface="Arial"/>
              <a:ea typeface="Arial"/>
              <a:cs typeface="Arial"/>
            </a:endParaRPr>
          </a:p>
        </p:txBody>
      </p:sp>
      <p:sp>
        <p:nvSpPr>
          <p:cNvPr id="3" name="Rectangle 2">
            <a:extLst>
              <a:ext uri="{FF2B5EF4-FFF2-40B4-BE49-F238E27FC236}">
                <a16:creationId xmlns:a16="http://schemas.microsoft.com/office/drawing/2014/main" id="{8D92998A-0561-4AB5-8E96-E40E409B8F05}"/>
              </a:ext>
            </a:extLst>
          </p:cNvPr>
          <p:cNvSpPr>
            <a:spLocks noGrp="1"/>
          </p:cNvSpPr>
          <p:nvPr/>
        </p:nvSpPr>
        <p:spPr>
          <a:xfrm>
            <a:off x="10858500" y="323850"/>
            <a:ext cx="952500" cy="381000"/>
          </a:xfrm>
          <a:prstGeom prst="rect">
            <a:avLst/>
          </a:prstGeom>
          <a:noFill/>
          <a:ln w="0">
            <a:noFill/>
          </a:ln>
        </p:spPr>
        <p:txBody>
          <a:bodyPr>
            <a:noAutofit/>
          </a:bodyPr>
          <a:lstStyle/>
          <a:p>
            <a:pPr>
              <a:defRPr sz="1875" b="1">
                <a:solidFill>
                  <a:srgbClr val="ED1C24"/>
                </a:solidFill>
                <a:latin typeface="Arial"/>
                <a:ea typeface="Arial"/>
                <a:cs typeface="Arial"/>
              </a:defRPr>
            </a:pPr>
            <a:r>
              <a:rPr sz="1875" b="1">
                <a:solidFill>
                  <a:srgbClr val="ED1C24"/>
                </a:solidFill>
                <a:latin typeface="Arial"/>
                <a:ea typeface="Arial"/>
                <a:cs typeface="Arial"/>
              </a:rPr>
              <a:t>OPTR</a:t>
            </a:r>
          </a:p>
        </p:txBody>
      </p:sp>
      <p:sp>
        <p:nvSpPr>
          <p:cNvPr id="4" name="Rectangle 3">
            <a:extLst>
              <a:ext uri="{FF2B5EF4-FFF2-40B4-BE49-F238E27FC236}">
                <a16:creationId xmlns:a16="http://schemas.microsoft.com/office/drawing/2014/main" id="{4031E2F5-A8FA-4CD2-9F1B-1DB7A17F3C23}"/>
              </a:ext>
            </a:extLst>
          </p:cNvPr>
          <p:cNvSpPr>
            <a:spLocks noGrp="1"/>
          </p:cNvSpPr>
          <p:nvPr/>
        </p:nvSpPr>
        <p:spPr>
          <a:xfrm>
            <a:off x="304800" y="1009650"/>
            <a:ext cx="11582400" cy="28575"/>
          </a:xfrm>
          <a:prstGeom prst="rect">
            <a:avLst/>
          </a:prstGeom>
          <a:solidFill>
            <a:srgbClr val="ED1C24"/>
          </a:solidFill>
          <a:ln w="0">
            <a:noFill/>
          </a:ln>
        </p:spPr>
      </p:sp>
      <p:graphicFrame>
        <p:nvGraphicFramePr>
          <p:cNvPr id="6" name="Table 5">
            <a:extLst>
              <a:ext uri="{FF2B5EF4-FFF2-40B4-BE49-F238E27FC236}">
                <a16:creationId xmlns:a16="http://schemas.microsoft.com/office/drawing/2014/main" id="{C80F31DB-EDD3-4119-B16B-17B79B4D1AC9}"/>
              </a:ext>
            </a:extLst>
          </p:cNvPr>
          <p:cNvGraphicFramePr>
            <a:graphicFrameLocks noGrp="1"/>
          </p:cNvGraphicFramePr>
          <p:nvPr>
            <p:extLst>
              <p:ext uri="{D42A27DB-BD31-4B8C-83A1-F6EECF244321}">
                <p14:modId xmlns:p14="http://schemas.microsoft.com/office/powerpoint/2010/main" val="4121869916"/>
              </p:ext>
            </p:extLst>
          </p:nvPr>
        </p:nvGraphicFramePr>
        <p:xfrm>
          <a:off x="142980" y="1222214"/>
          <a:ext cx="10785166" cy="4192626"/>
        </p:xfrm>
        <a:graphic>
          <a:graphicData uri="http://schemas.openxmlformats.org/drawingml/2006/table">
            <a:tbl>
              <a:tblPr firstRow="1" bandRow="1">
                <a:tableStyleId>{B301B821-A1FF-4177-AEE7-76D212191A09}</a:tableStyleId>
              </a:tblPr>
              <a:tblGrid>
                <a:gridCol w="1385134">
                  <a:extLst>
                    <a:ext uri="{9D8B030D-6E8A-4147-A177-3AD203B41FA5}">
                      <a16:colId xmlns:a16="http://schemas.microsoft.com/office/drawing/2014/main" val="3737894642"/>
                    </a:ext>
                  </a:extLst>
                </a:gridCol>
                <a:gridCol w="4791456">
                  <a:extLst>
                    <a:ext uri="{9D8B030D-6E8A-4147-A177-3AD203B41FA5}">
                      <a16:colId xmlns:a16="http://schemas.microsoft.com/office/drawing/2014/main" val="1856694324"/>
                    </a:ext>
                  </a:extLst>
                </a:gridCol>
                <a:gridCol w="4608576">
                  <a:extLst>
                    <a:ext uri="{9D8B030D-6E8A-4147-A177-3AD203B41FA5}">
                      <a16:colId xmlns:a16="http://schemas.microsoft.com/office/drawing/2014/main" val="4206997053"/>
                    </a:ext>
                  </a:extLst>
                </a:gridCol>
              </a:tblGrid>
              <a:tr h="217567">
                <a:tc>
                  <a:txBody>
                    <a:bodyPr/>
                    <a:lstStyle/>
                    <a:p>
                      <a:r>
                        <a:rPr lang="en-US" sz="1100"/>
                        <a:t>Main Menu</a:t>
                      </a:r>
                    </a:p>
                  </a:txBody>
                  <a:tcPr marL="54392" marR="54392" marT="27196" marB="27196" anchor="ctr"/>
                </a:tc>
                <a:tc>
                  <a:txBody>
                    <a:bodyPr/>
                    <a:lstStyle/>
                    <a:p>
                      <a:r>
                        <a:rPr lang="en-US" sz="1100"/>
                        <a:t>Submenu / Isi Utama</a:t>
                      </a:r>
                    </a:p>
                  </a:txBody>
                  <a:tcPr marL="54392" marR="54392" marT="27196" marB="27196" anchor="ctr"/>
                </a:tc>
                <a:tc>
                  <a:txBody>
                    <a:bodyPr/>
                    <a:lstStyle/>
                    <a:p>
                      <a:r>
                        <a:rPr lang="en-US" sz="1100"/>
                        <a:t>Tujuan</a:t>
                      </a:r>
                    </a:p>
                  </a:txBody>
                  <a:tcPr marL="54392" marR="54392" marT="27196" marB="27196" anchor="ctr"/>
                </a:tc>
                <a:extLst>
                  <a:ext uri="{0D108BD9-81ED-4DB2-BD59-A6C34878D82A}">
                    <a16:rowId xmlns:a16="http://schemas.microsoft.com/office/drawing/2014/main" val="1286821772"/>
                  </a:ext>
                </a:extLst>
              </a:tr>
              <a:tr h="707092">
                <a:tc>
                  <a:txBody>
                    <a:bodyPr/>
                    <a:lstStyle/>
                    <a:p>
                      <a:r>
                        <a:rPr lang="en-US" sz="1100"/>
                        <a:t>1. Dashboard</a:t>
                      </a:r>
                    </a:p>
                  </a:txBody>
                  <a:tcPr marL="54392" marR="54392" marT="27196" marB="27196" anchor="ctr"/>
                </a:tc>
                <a:tc>
                  <a:txBody>
                    <a:bodyPr/>
                    <a:lstStyle/>
                    <a:p>
                      <a:r>
                        <a:rPr lang="en-US" sz="1100" dirty="0"/>
                        <a:t>Overview </a:t>
                      </a:r>
                      <a:r>
                        <a:rPr lang="en-US" sz="1100" dirty="0" err="1"/>
                        <a:t>masalah</a:t>
                      </a:r>
                      <a:r>
                        <a:rPr lang="en-US" sz="1100" dirty="0"/>
                        <a:t>, major/minor, </a:t>
                      </a:r>
                      <a:r>
                        <a:rPr lang="en-US" sz="1100" dirty="0" err="1"/>
                        <a:t>prioritas</a:t>
                      </a:r>
                      <a:r>
                        <a:rPr lang="en-US" sz="1100" dirty="0"/>
                        <a:t>, coverage, </a:t>
                      </a:r>
                      <a:r>
                        <a:rPr lang="en-US" sz="1100" dirty="0" err="1"/>
                        <a:t>progres</a:t>
                      </a:r>
                      <a:r>
                        <a:rPr lang="en-US" sz="1100" dirty="0"/>
                        <a:t> action plan, overdue, </a:t>
                      </a:r>
                      <a:r>
                        <a:rPr lang="en-US" sz="1100" dirty="0" err="1"/>
                        <a:t>ringkasan</a:t>
                      </a:r>
                      <a:r>
                        <a:rPr lang="en-US" sz="1100" dirty="0"/>
                        <a:t> </a:t>
                      </a:r>
                      <a:r>
                        <a:rPr lang="en-US" sz="1100" dirty="0" err="1"/>
                        <a:t>produksi</a:t>
                      </a:r>
                      <a:r>
                        <a:rPr lang="en-US" sz="1100" dirty="0"/>
                        <a:t>/BCCR.</a:t>
                      </a:r>
                    </a:p>
                  </a:txBody>
                  <a:tcPr marL="54392" marR="54392" marT="27196" marB="27196" anchor="ctr"/>
                </a:tc>
                <a:tc>
                  <a:txBody>
                    <a:bodyPr/>
                    <a:lstStyle/>
                    <a:p>
                      <a:r>
                        <a:rPr lang="en-US" sz="1100"/>
                        <a:t>Melihat kondisi keseluruhan dan hal yang perlu perhatian.</a:t>
                      </a:r>
                    </a:p>
                  </a:txBody>
                  <a:tcPr marL="54392" marR="54392" marT="27196" marB="27196" anchor="ctr"/>
                </a:tc>
                <a:extLst>
                  <a:ext uri="{0D108BD9-81ED-4DB2-BD59-A6C34878D82A}">
                    <a16:rowId xmlns:a16="http://schemas.microsoft.com/office/drawing/2014/main" val="1477033329"/>
                  </a:ext>
                </a:extLst>
              </a:tr>
              <a:tr h="543917">
                <a:tc>
                  <a:txBody>
                    <a:bodyPr/>
                    <a:lstStyle/>
                    <a:p>
                      <a:r>
                        <a:rPr lang="en-US" sz="1100" dirty="0"/>
                        <a:t>2. Map &amp; Coverage</a:t>
                      </a:r>
                    </a:p>
                  </a:txBody>
                  <a:tcPr marL="54392" marR="54392" marT="27196" marB="27196" anchor="ctr"/>
                </a:tc>
                <a:tc>
                  <a:txBody>
                    <a:bodyPr/>
                    <a:lstStyle/>
                    <a:p>
                      <a:r>
                        <a:rPr lang="en-US" sz="1100" dirty="0"/>
                        <a:t>Peta </a:t>
                      </a:r>
                      <a:r>
                        <a:rPr lang="en-US" sz="1100" dirty="0" err="1"/>
                        <a:t>masalah</a:t>
                      </a:r>
                      <a:r>
                        <a:rPr lang="en-US" sz="1100" dirty="0"/>
                        <a:t> &amp; action plan, </a:t>
                      </a:r>
                      <a:r>
                        <a:rPr lang="en-US" sz="1100" dirty="0" err="1"/>
                        <a:t>jalur</a:t>
                      </a:r>
                      <a:r>
                        <a:rPr lang="en-US" sz="1100" dirty="0"/>
                        <a:t> </a:t>
                      </a:r>
                      <a:r>
                        <a:rPr lang="en-US" sz="1100" dirty="0" err="1"/>
                        <a:t>inspeksi</a:t>
                      </a:r>
                      <a:r>
                        <a:rPr lang="en-US" sz="1100" dirty="0"/>
                        <a:t>, coverage per </a:t>
                      </a:r>
                      <a:r>
                        <a:rPr lang="en-US" sz="1100" dirty="0" err="1"/>
                        <a:t>periode</a:t>
                      </a:r>
                      <a:r>
                        <a:rPr lang="en-US" sz="1100" dirty="0"/>
                        <a:t>, detail </a:t>
                      </a:r>
                      <a:r>
                        <a:rPr lang="en-US" sz="1100" dirty="0" err="1"/>
                        <a:t>blok</a:t>
                      </a:r>
                      <a:r>
                        <a:rPr lang="en-US" sz="1100" dirty="0"/>
                        <a:t>, layer </a:t>
                      </a:r>
                      <a:r>
                        <a:rPr lang="en-US" sz="1100" dirty="0" err="1"/>
                        <a:t>produksi</a:t>
                      </a:r>
                      <a:r>
                        <a:rPr lang="en-US" sz="1100" dirty="0"/>
                        <a:t>/BCCR.</a:t>
                      </a:r>
                    </a:p>
                  </a:txBody>
                  <a:tcPr marL="54392" marR="54392" marT="27196" marB="27196" anchor="ctr"/>
                </a:tc>
                <a:tc>
                  <a:txBody>
                    <a:bodyPr/>
                    <a:lstStyle/>
                    <a:p>
                      <a:r>
                        <a:rPr lang="en-US" sz="1100"/>
                        <a:t>Mengetahui lokasi masalah dan area yang perlu diperiksa.</a:t>
                      </a:r>
                    </a:p>
                  </a:txBody>
                  <a:tcPr marL="54392" marR="54392" marT="27196" marB="27196" anchor="ctr"/>
                </a:tc>
                <a:extLst>
                  <a:ext uri="{0D108BD9-81ED-4DB2-BD59-A6C34878D82A}">
                    <a16:rowId xmlns:a16="http://schemas.microsoft.com/office/drawing/2014/main" val="3666035236"/>
                  </a:ext>
                </a:extLst>
              </a:tr>
              <a:tr h="543917">
                <a:tc>
                  <a:txBody>
                    <a:bodyPr/>
                    <a:lstStyle/>
                    <a:p>
                      <a:r>
                        <a:rPr lang="en-US" sz="1100"/>
                        <a:t>3. Problem Tagging</a:t>
                      </a:r>
                    </a:p>
                  </a:txBody>
                  <a:tcPr marL="54392" marR="54392" marT="27196" marB="27196" anchor="ctr"/>
                </a:tc>
                <a:tc>
                  <a:txBody>
                    <a:bodyPr/>
                    <a:lstStyle/>
                    <a:p>
                      <a:r>
                        <a:rPr lang="en-US" sz="1100" dirty="0" err="1"/>
                        <a:t>Semua</a:t>
                      </a:r>
                      <a:r>
                        <a:rPr lang="en-US" sz="1100" dirty="0"/>
                        <a:t> tagging, </a:t>
                      </a:r>
                      <a:r>
                        <a:rPr lang="en-US" sz="1100" dirty="0" err="1"/>
                        <a:t>antrean</a:t>
                      </a:r>
                      <a:r>
                        <a:rPr lang="en-US" sz="1100" dirty="0"/>
                        <a:t> </a:t>
                      </a:r>
                      <a:r>
                        <a:rPr lang="en-US" sz="1100" dirty="0" err="1"/>
                        <a:t>verifikasi</a:t>
                      </a:r>
                      <a:r>
                        <a:rPr lang="en-US" sz="1100" dirty="0"/>
                        <a:t>, tagging </a:t>
                      </a:r>
                      <a:r>
                        <a:rPr lang="en-US" sz="1100" dirty="0" err="1"/>
                        <a:t>dikembalikan</a:t>
                      </a:r>
                      <a:r>
                        <a:rPr lang="en-US" sz="1100" dirty="0"/>
                        <a:t>/</a:t>
                      </a:r>
                      <a:r>
                        <a:rPr lang="en-US" sz="1100" dirty="0" err="1"/>
                        <a:t>ditolak</a:t>
                      </a:r>
                      <a:r>
                        <a:rPr lang="en-US" sz="1100" dirty="0"/>
                        <a:t>, detail dan </a:t>
                      </a:r>
                      <a:r>
                        <a:rPr lang="en-US" sz="1100" dirty="0" err="1"/>
                        <a:t>riwayat</a:t>
                      </a:r>
                      <a:r>
                        <a:rPr lang="en-US" sz="1100" dirty="0"/>
                        <a:t> tagging.</a:t>
                      </a:r>
                    </a:p>
                  </a:txBody>
                  <a:tcPr marL="54392" marR="54392" marT="27196" marB="27196" anchor="ctr"/>
                </a:tc>
                <a:tc>
                  <a:txBody>
                    <a:bodyPr/>
                    <a:lstStyle/>
                    <a:p>
                      <a:r>
                        <a:rPr lang="en-US" sz="1100"/>
                        <a:t>Mengelola dan memvalidasi data masalah.</a:t>
                      </a:r>
                    </a:p>
                  </a:txBody>
                  <a:tcPr marL="54392" marR="54392" marT="27196" marB="27196" anchor="ctr"/>
                </a:tc>
                <a:extLst>
                  <a:ext uri="{0D108BD9-81ED-4DB2-BD59-A6C34878D82A}">
                    <a16:rowId xmlns:a16="http://schemas.microsoft.com/office/drawing/2014/main" val="2657816885"/>
                  </a:ext>
                </a:extLst>
              </a:tr>
              <a:tr h="543917">
                <a:tc>
                  <a:txBody>
                    <a:bodyPr/>
                    <a:lstStyle/>
                    <a:p>
                      <a:r>
                        <a:rPr lang="en-US" sz="1100"/>
                        <a:t>4. Action Plan</a:t>
                      </a:r>
                    </a:p>
                  </a:txBody>
                  <a:tcPr marL="54392" marR="54392" marT="27196" marB="27196" anchor="ctr"/>
                </a:tc>
                <a:tc>
                  <a:txBody>
                    <a:bodyPr/>
                    <a:lstStyle/>
                    <a:p>
                      <a:r>
                        <a:rPr lang="en-US" sz="1100"/>
                        <a:t>Daftar rencana, penugasan, progres, overdue, antrean verifikasi penyelesaian, closed/reopened.</a:t>
                      </a:r>
                    </a:p>
                  </a:txBody>
                  <a:tcPr marL="54392" marR="54392" marT="27196" marB="27196" anchor="ctr"/>
                </a:tc>
                <a:tc>
                  <a:txBody>
                    <a:bodyPr/>
                    <a:lstStyle/>
                    <a:p>
                      <a:r>
                        <a:rPr lang="en-US" sz="1100"/>
                        <a:t>Mengawal tindak lanjut sampai selesai terverifikasi.</a:t>
                      </a:r>
                    </a:p>
                  </a:txBody>
                  <a:tcPr marL="54392" marR="54392" marT="27196" marB="27196" anchor="ctr"/>
                </a:tc>
                <a:extLst>
                  <a:ext uri="{0D108BD9-81ED-4DB2-BD59-A6C34878D82A}">
                    <a16:rowId xmlns:a16="http://schemas.microsoft.com/office/drawing/2014/main" val="1235014737"/>
                  </a:ext>
                </a:extLst>
              </a:tr>
              <a:tr h="543917">
                <a:tc>
                  <a:txBody>
                    <a:bodyPr/>
                    <a:lstStyle/>
                    <a:p>
                      <a:r>
                        <a:rPr lang="en-US" sz="1100" dirty="0"/>
                        <a:t>5. Reports &amp; Analytics</a:t>
                      </a:r>
                    </a:p>
                  </a:txBody>
                  <a:tcPr marL="54392" marR="54392" marT="27196" marB="27196" anchor="ctr"/>
                </a:tc>
                <a:tc>
                  <a:txBody>
                    <a:bodyPr/>
                    <a:lstStyle/>
                    <a:p>
                      <a:r>
                        <a:rPr lang="en-US" sz="1100" dirty="0" err="1"/>
                        <a:t>Rekap</a:t>
                      </a:r>
                      <a:r>
                        <a:rPr lang="en-US" sz="1100" dirty="0"/>
                        <a:t> tagging &amp; action plan, </a:t>
                      </a:r>
                      <a:r>
                        <a:rPr lang="en-US" sz="1100" dirty="0" err="1"/>
                        <a:t>laporan</a:t>
                      </a:r>
                      <a:r>
                        <a:rPr lang="en-US" sz="1100" dirty="0"/>
                        <a:t> </a:t>
                      </a:r>
                      <a:r>
                        <a:rPr lang="en-US" sz="1100" dirty="0" err="1"/>
                        <a:t>inspeksi</a:t>
                      </a:r>
                      <a:r>
                        <a:rPr lang="en-US" sz="1100" dirty="0"/>
                        <a:t>/coverage, </a:t>
                      </a:r>
                      <a:r>
                        <a:rPr lang="en-US" sz="1100" dirty="0" err="1"/>
                        <a:t>penyelesaian</a:t>
                      </a:r>
                      <a:r>
                        <a:rPr lang="en-US" sz="1100" dirty="0"/>
                        <a:t>, </a:t>
                      </a:r>
                      <a:r>
                        <a:rPr lang="en-US" sz="1100" dirty="0" err="1"/>
                        <a:t>waktu</a:t>
                      </a:r>
                      <a:r>
                        <a:rPr lang="en-US" sz="1100" dirty="0"/>
                        <a:t> </a:t>
                      </a:r>
                      <a:r>
                        <a:rPr lang="en-US" sz="1100" dirty="0" err="1"/>
                        <a:t>penanganan</a:t>
                      </a:r>
                      <a:r>
                        <a:rPr lang="en-US" sz="1100" dirty="0"/>
                        <a:t>, </a:t>
                      </a:r>
                      <a:r>
                        <a:rPr lang="en-US" sz="1100" dirty="0" err="1"/>
                        <a:t>tren</a:t>
                      </a:r>
                      <a:r>
                        <a:rPr lang="en-US" sz="1100" dirty="0"/>
                        <a:t> dan </a:t>
                      </a:r>
                      <a:r>
                        <a:rPr lang="en-US" sz="1100" dirty="0" err="1"/>
                        <a:t>masalah</a:t>
                      </a:r>
                      <a:r>
                        <a:rPr lang="en-US" sz="1100" dirty="0"/>
                        <a:t> </a:t>
                      </a:r>
                      <a:r>
                        <a:rPr lang="en-US" sz="1100" dirty="0" err="1"/>
                        <a:t>berulang</a:t>
                      </a:r>
                      <a:r>
                        <a:rPr lang="en-US" sz="1100" dirty="0"/>
                        <a:t>, export.</a:t>
                      </a:r>
                    </a:p>
                  </a:txBody>
                  <a:tcPr marL="54392" marR="54392" marT="27196" marB="27196" anchor="ctr"/>
                </a:tc>
                <a:tc>
                  <a:txBody>
                    <a:bodyPr/>
                    <a:lstStyle/>
                    <a:p>
                      <a:r>
                        <a:rPr lang="fi-FI" sz="1100" dirty="0"/>
                        <a:t>Menyediakan analisis dan laporan berkala.</a:t>
                      </a:r>
                    </a:p>
                  </a:txBody>
                  <a:tcPr marL="54392" marR="54392" marT="27196" marB="27196" anchor="ctr"/>
                </a:tc>
                <a:extLst>
                  <a:ext uri="{0D108BD9-81ED-4DB2-BD59-A6C34878D82A}">
                    <a16:rowId xmlns:a16="http://schemas.microsoft.com/office/drawing/2014/main" val="1585292506"/>
                  </a:ext>
                </a:extLst>
              </a:tr>
              <a:tr h="543917">
                <a:tc>
                  <a:txBody>
                    <a:bodyPr/>
                    <a:lstStyle/>
                    <a:p>
                      <a:r>
                        <a:rPr lang="en-US" sz="1100" dirty="0"/>
                        <a:t>6. Production &amp; BCCR</a:t>
                      </a:r>
                    </a:p>
                  </a:txBody>
                  <a:tcPr marL="54392" marR="54392" marT="27196" marB="27196" anchor="ctr"/>
                </a:tc>
                <a:tc>
                  <a:txBody>
                    <a:bodyPr/>
                    <a:lstStyle/>
                    <a:p>
                      <a:r>
                        <a:rPr lang="sv-SE" sz="1100"/>
                        <a:t>Aktual vs potensi, histori produksi, BCCR, masalah dan tindakan terkait per blok.</a:t>
                      </a:r>
                    </a:p>
                  </a:txBody>
                  <a:tcPr marL="54392" marR="54392" marT="27196" marB="27196" anchor="ctr"/>
                </a:tc>
                <a:tc>
                  <a:txBody>
                    <a:bodyPr/>
                    <a:lstStyle/>
                    <a:p>
                      <a:r>
                        <a:rPr lang="es-ES" sz="1100" dirty="0" err="1"/>
                        <a:t>Mendukung</a:t>
                      </a:r>
                      <a:r>
                        <a:rPr lang="es-ES" sz="1100" dirty="0"/>
                        <a:t> </a:t>
                      </a:r>
                      <a:r>
                        <a:rPr lang="es-ES" sz="1100" dirty="0" err="1"/>
                        <a:t>analisis</a:t>
                      </a:r>
                      <a:r>
                        <a:rPr lang="es-ES" sz="1100" dirty="0"/>
                        <a:t> </a:t>
                      </a:r>
                      <a:r>
                        <a:rPr lang="es-ES" sz="1100" dirty="0" err="1"/>
                        <a:t>prioritas</a:t>
                      </a:r>
                      <a:r>
                        <a:rPr lang="es-ES" sz="1100" dirty="0"/>
                        <a:t> dan </a:t>
                      </a:r>
                      <a:r>
                        <a:rPr lang="es-ES" sz="1100" dirty="0" err="1"/>
                        <a:t>evaluasi</a:t>
                      </a:r>
                      <a:r>
                        <a:rPr lang="es-ES" sz="1100" dirty="0"/>
                        <a:t> </a:t>
                      </a:r>
                      <a:r>
                        <a:rPr lang="es-ES" sz="1100" dirty="0" err="1"/>
                        <a:t>hasil</a:t>
                      </a:r>
                      <a:r>
                        <a:rPr lang="es-ES" sz="1100" dirty="0"/>
                        <a:t>.</a:t>
                      </a:r>
                    </a:p>
                  </a:txBody>
                  <a:tcPr marL="54392" marR="54392" marT="27196" marB="27196" anchor="ctr"/>
                </a:tc>
                <a:extLst>
                  <a:ext uri="{0D108BD9-81ED-4DB2-BD59-A6C34878D82A}">
                    <a16:rowId xmlns:a16="http://schemas.microsoft.com/office/drawing/2014/main" val="4212942174"/>
                  </a:ext>
                </a:extLst>
              </a:tr>
              <a:tr h="543917">
                <a:tc>
                  <a:txBody>
                    <a:bodyPr/>
                    <a:lstStyle/>
                    <a:p>
                      <a:r>
                        <a:rPr lang="en-US" sz="1100" dirty="0"/>
                        <a:t>7. Administration</a:t>
                      </a:r>
                    </a:p>
                  </a:txBody>
                  <a:tcPr marL="54392" marR="54392" marT="27196" marB="27196" anchor="ctr"/>
                </a:tc>
                <a:tc>
                  <a:txBody>
                    <a:bodyPr/>
                    <a:lstStyle/>
                    <a:p>
                      <a:r>
                        <a:rPr lang="en-US" sz="1100" dirty="0"/>
                        <a:t>Master data, user &amp; role, </a:t>
                      </a:r>
                      <a:r>
                        <a:rPr lang="en-US" sz="1100" dirty="0" err="1"/>
                        <a:t>aturan</a:t>
                      </a:r>
                      <a:r>
                        <a:rPr lang="en-US" sz="1100" dirty="0"/>
                        <a:t> </a:t>
                      </a:r>
                      <a:r>
                        <a:rPr lang="en-US" sz="1100" dirty="0" err="1"/>
                        <a:t>prioritas</a:t>
                      </a:r>
                      <a:r>
                        <a:rPr lang="en-US" sz="1100" dirty="0"/>
                        <a:t>/</a:t>
                      </a:r>
                      <a:r>
                        <a:rPr lang="en-US" sz="1100" dirty="0" err="1"/>
                        <a:t>notifikasi</a:t>
                      </a:r>
                      <a:r>
                        <a:rPr lang="en-US" sz="1100" dirty="0"/>
                        <a:t>, </a:t>
                      </a:r>
                      <a:r>
                        <a:rPr lang="en-US" sz="1100" dirty="0" err="1"/>
                        <a:t>integrasi</a:t>
                      </a:r>
                      <a:r>
                        <a:rPr lang="en-US" sz="1100" dirty="0"/>
                        <a:t> dan status </a:t>
                      </a:r>
                      <a:r>
                        <a:rPr lang="en-US" sz="1100" dirty="0" err="1"/>
                        <a:t>sinkronisasi</a:t>
                      </a:r>
                      <a:r>
                        <a:rPr lang="en-US" sz="1100" dirty="0"/>
                        <a:t>.</a:t>
                      </a:r>
                    </a:p>
                  </a:txBody>
                  <a:tcPr marL="54392" marR="54392" marT="27196" marB="27196" anchor="ctr"/>
                </a:tc>
                <a:tc>
                  <a:txBody>
                    <a:bodyPr/>
                    <a:lstStyle/>
                    <a:p>
                      <a:r>
                        <a:rPr lang="nb-NO" sz="1100" dirty="0"/>
                        <a:t>Mengatur referensi dan konfigurasi sistem.</a:t>
                      </a:r>
                    </a:p>
                  </a:txBody>
                  <a:tcPr marL="54392" marR="54392" marT="27196" marB="27196" anchor="ctr"/>
                </a:tc>
                <a:extLst>
                  <a:ext uri="{0D108BD9-81ED-4DB2-BD59-A6C34878D82A}">
                    <a16:rowId xmlns:a16="http://schemas.microsoft.com/office/drawing/2014/main" val="2611382612"/>
                  </a:ext>
                </a:extLst>
              </a:tr>
            </a:tbl>
          </a:graphicData>
        </a:graphic>
      </p:graphicFrame>
    </p:spTree>
    <p:extLst>
      <p:ext uri="{BB962C8B-B14F-4D97-AF65-F5344CB8AC3E}">
        <p14:creationId xmlns:p14="http://schemas.microsoft.com/office/powerpoint/2010/main" val="620015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57B1B91-EBF6-49F3-945B-3051E16E6913}"/>
              </a:ext>
            </a:extLst>
          </p:cNvPr>
          <p:cNvSpPr>
            <a:spLocks noGrp="1"/>
          </p:cNvSpPr>
          <p:nvPr/>
        </p:nvSpPr>
        <p:spPr>
          <a:xfrm>
            <a:off x="304800" y="200025"/>
            <a:ext cx="8572500" cy="400050"/>
          </a:xfrm>
          <a:prstGeom prst="rect">
            <a:avLst/>
          </a:prstGeom>
          <a:noFill/>
          <a:ln w="0">
            <a:noFill/>
          </a:ln>
        </p:spPr>
        <p:txBody>
          <a:bodyPr>
            <a:noAutofit/>
          </a:bodyPr>
          <a:lstStyle/>
          <a:p>
            <a:pPr>
              <a:defRPr sz="2400" b="1">
                <a:solidFill>
                  <a:srgbClr val="172B3F"/>
                </a:solidFill>
                <a:latin typeface="Arial"/>
                <a:ea typeface="Arial"/>
                <a:cs typeface="Arial"/>
              </a:defRPr>
            </a:pPr>
            <a:r>
              <a:rPr sz="2400" b="1">
                <a:solidFill>
                  <a:srgbClr val="172B3F"/>
                </a:solidFill>
                <a:latin typeface="Arial"/>
                <a:ea typeface="Arial"/>
                <a:cs typeface="Arial"/>
              </a:rPr>
              <a:t>Smart Problem Tagging</a:t>
            </a:r>
          </a:p>
        </p:txBody>
      </p:sp>
      <p:sp>
        <p:nvSpPr>
          <p:cNvPr id="2" name="Rectangle 1">
            <a:extLst>
              <a:ext uri="{FF2B5EF4-FFF2-40B4-BE49-F238E27FC236}">
                <a16:creationId xmlns:a16="http://schemas.microsoft.com/office/drawing/2014/main" id="{C065EADD-D1C3-4101-B155-1CA8A3192513}"/>
              </a:ext>
            </a:extLst>
          </p:cNvPr>
          <p:cNvSpPr>
            <a:spLocks noGrp="1"/>
          </p:cNvSpPr>
          <p:nvPr/>
        </p:nvSpPr>
        <p:spPr>
          <a:xfrm>
            <a:off x="323850" y="619125"/>
            <a:ext cx="8763000" cy="285750"/>
          </a:xfrm>
          <a:prstGeom prst="rect">
            <a:avLst/>
          </a:prstGeom>
          <a:noFill/>
          <a:ln w="0">
            <a:noFill/>
          </a:ln>
        </p:spPr>
        <p:txBody>
          <a:bodyPr>
            <a:noAutofit/>
          </a:bodyPr>
          <a:lstStyle/>
          <a:p>
            <a:pPr>
              <a:defRPr sz="1650" b="0">
                <a:solidFill>
                  <a:srgbClr val="526171"/>
                </a:solidFill>
                <a:latin typeface="Arial"/>
                <a:ea typeface="Arial"/>
                <a:cs typeface="Arial"/>
              </a:defRPr>
            </a:pPr>
            <a:r>
              <a:rPr lang="en-US" sz="1650" b="0" dirty="0">
                <a:solidFill>
                  <a:srgbClr val="526171"/>
                </a:solidFill>
                <a:latin typeface="Arial"/>
                <a:ea typeface="Arial"/>
                <a:cs typeface="Arial"/>
              </a:rPr>
              <a:t>Mobile Features</a:t>
            </a:r>
            <a:endParaRPr sz="1650" b="0" dirty="0">
              <a:solidFill>
                <a:srgbClr val="526171"/>
              </a:solidFill>
              <a:latin typeface="Arial"/>
              <a:ea typeface="Arial"/>
              <a:cs typeface="Arial"/>
            </a:endParaRPr>
          </a:p>
        </p:txBody>
      </p:sp>
      <p:sp>
        <p:nvSpPr>
          <p:cNvPr id="3" name="Rectangle 2">
            <a:extLst>
              <a:ext uri="{FF2B5EF4-FFF2-40B4-BE49-F238E27FC236}">
                <a16:creationId xmlns:a16="http://schemas.microsoft.com/office/drawing/2014/main" id="{8D92998A-0561-4AB5-8E96-E40E409B8F05}"/>
              </a:ext>
            </a:extLst>
          </p:cNvPr>
          <p:cNvSpPr>
            <a:spLocks noGrp="1"/>
          </p:cNvSpPr>
          <p:nvPr/>
        </p:nvSpPr>
        <p:spPr>
          <a:xfrm>
            <a:off x="10858500" y="323850"/>
            <a:ext cx="952500" cy="381000"/>
          </a:xfrm>
          <a:prstGeom prst="rect">
            <a:avLst/>
          </a:prstGeom>
          <a:noFill/>
          <a:ln w="0">
            <a:noFill/>
          </a:ln>
        </p:spPr>
        <p:txBody>
          <a:bodyPr>
            <a:noAutofit/>
          </a:bodyPr>
          <a:lstStyle/>
          <a:p>
            <a:pPr>
              <a:defRPr sz="1875" b="1">
                <a:solidFill>
                  <a:srgbClr val="ED1C24"/>
                </a:solidFill>
                <a:latin typeface="Arial"/>
                <a:ea typeface="Arial"/>
                <a:cs typeface="Arial"/>
              </a:defRPr>
            </a:pPr>
            <a:r>
              <a:rPr sz="1875" b="1">
                <a:solidFill>
                  <a:srgbClr val="ED1C24"/>
                </a:solidFill>
                <a:latin typeface="Arial"/>
                <a:ea typeface="Arial"/>
                <a:cs typeface="Arial"/>
              </a:rPr>
              <a:t>OPTR</a:t>
            </a:r>
          </a:p>
        </p:txBody>
      </p:sp>
      <p:sp>
        <p:nvSpPr>
          <p:cNvPr id="4" name="Rectangle 3">
            <a:extLst>
              <a:ext uri="{FF2B5EF4-FFF2-40B4-BE49-F238E27FC236}">
                <a16:creationId xmlns:a16="http://schemas.microsoft.com/office/drawing/2014/main" id="{4031E2F5-A8FA-4CD2-9F1B-1DB7A17F3C23}"/>
              </a:ext>
            </a:extLst>
          </p:cNvPr>
          <p:cNvSpPr>
            <a:spLocks noGrp="1"/>
          </p:cNvSpPr>
          <p:nvPr/>
        </p:nvSpPr>
        <p:spPr>
          <a:xfrm>
            <a:off x="304800" y="1009650"/>
            <a:ext cx="11582400" cy="28575"/>
          </a:xfrm>
          <a:prstGeom prst="rect">
            <a:avLst/>
          </a:prstGeom>
          <a:solidFill>
            <a:srgbClr val="ED1C24"/>
          </a:solidFill>
          <a:ln w="0">
            <a:noFill/>
          </a:ln>
        </p:spPr>
      </p:sp>
      <p:graphicFrame>
        <p:nvGraphicFramePr>
          <p:cNvPr id="6" name="Table 5">
            <a:extLst>
              <a:ext uri="{FF2B5EF4-FFF2-40B4-BE49-F238E27FC236}">
                <a16:creationId xmlns:a16="http://schemas.microsoft.com/office/drawing/2014/main" id="{C80F31DB-EDD3-4119-B16B-17B79B4D1AC9}"/>
              </a:ext>
            </a:extLst>
          </p:cNvPr>
          <p:cNvGraphicFramePr>
            <a:graphicFrameLocks noGrp="1"/>
          </p:cNvGraphicFramePr>
          <p:nvPr>
            <p:extLst>
              <p:ext uri="{D42A27DB-BD31-4B8C-83A1-F6EECF244321}">
                <p14:modId xmlns:p14="http://schemas.microsoft.com/office/powerpoint/2010/main" val="2937230327"/>
              </p:ext>
            </p:extLst>
          </p:nvPr>
        </p:nvGraphicFramePr>
        <p:xfrm>
          <a:off x="142980" y="1222214"/>
          <a:ext cx="11744220" cy="3192283"/>
        </p:xfrm>
        <a:graphic>
          <a:graphicData uri="http://schemas.openxmlformats.org/drawingml/2006/table">
            <a:tbl>
              <a:tblPr firstRow="1" bandRow="1">
                <a:tableStyleId>{B301B821-A1FF-4177-AEE7-76D212191A09}</a:tableStyleId>
              </a:tblPr>
              <a:tblGrid>
                <a:gridCol w="2344188">
                  <a:extLst>
                    <a:ext uri="{9D8B030D-6E8A-4147-A177-3AD203B41FA5}">
                      <a16:colId xmlns:a16="http://schemas.microsoft.com/office/drawing/2014/main" val="3737894642"/>
                    </a:ext>
                  </a:extLst>
                </a:gridCol>
                <a:gridCol w="4791456">
                  <a:extLst>
                    <a:ext uri="{9D8B030D-6E8A-4147-A177-3AD203B41FA5}">
                      <a16:colId xmlns:a16="http://schemas.microsoft.com/office/drawing/2014/main" val="1856694324"/>
                    </a:ext>
                  </a:extLst>
                </a:gridCol>
                <a:gridCol w="4608576">
                  <a:extLst>
                    <a:ext uri="{9D8B030D-6E8A-4147-A177-3AD203B41FA5}">
                      <a16:colId xmlns:a16="http://schemas.microsoft.com/office/drawing/2014/main" val="4206997053"/>
                    </a:ext>
                  </a:extLst>
                </a:gridCol>
              </a:tblGrid>
              <a:tr h="217567">
                <a:tc>
                  <a:txBody>
                    <a:bodyPr/>
                    <a:lstStyle/>
                    <a:p>
                      <a:r>
                        <a:rPr lang="en-US" sz="1100" dirty="0"/>
                        <a:t>Main Menu</a:t>
                      </a:r>
                    </a:p>
                  </a:txBody>
                  <a:tcPr anchor="ctr"/>
                </a:tc>
                <a:tc>
                  <a:txBody>
                    <a:bodyPr/>
                    <a:lstStyle/>
                    <a:p>
                      <a:r>
                        <a:rPr lang="en-US" sz="1100"/>
                        <a:t>Submenu / Isi Utama</a:t>
                      </a:r>
                    </a:p>
                  </a:txBody>
                  <a:tcPr anchor="ctr"/>
                </a:tc>
                <a:tc>
                  <a:txBody>
                    <a:bodyPr/>
                    <a:lstStyle/>
                    <a:p>
                      <a:r>
                        <a:rPr lang="en-US" sz="1100"/>
                        <a:t>Tujuan</a:t>
                      </a:r>
                    </a:p>
                  </a:txBody>
                  <a:tcPr anchor="ctr"/>
                </a:tc>
                <a:extLst>
                  <a:ext uri="{0D108BD9-81ED-4DB2-BD59-A6C34878D82A}">
                    <a16:rowId xmlns:a16="http://schemas.microsoft.com/office/drawing/2014/main" val="1286821772"/>
                  </a:ext>
                </a:extLst>
              </a:tr>
              <a:tr h="707092">
                <a:tc>
                  <a:txBody>
                    <a:bodyPr/>
                    <a:lstStyle/>
                    <a:p>
                      <a:r>
                        <a:rPr lang="en-US" sz="1100" b="1"/>
                        <a:t>1. Home</a:t>
                      </a:r>
                      <a:endParaRPr lang="en-US" sz="1100"/>
                    </a:p>
                  </a:txBody>
                  <a:tcPr anchor="ctr"/>
                </a:tc>
                <a:tc>
                  <a:txBody>
                    <a:bodyPr/>
                    <a:lstStyle/>
                    <a:p>
                      <a:r>
                        <a:rPr lang="en-US" sz="1100"/>
                        <a:t>Ringkasan tugas hari ini, tagging menunggu perbaikan/verifikasi, action plan jatuh tempo, notifikasi, shortcut tambah tagging.</a:t>
                      </a:r>
                    </a:p>
                  </a:txBody>
                  <a:tcPr anchor="ctr"/>
                </a:tc>
                <a:tc>
                  <a:txBody>
                    <a:bodyPr/>
                    <a:lstStyle/>
                    <a:p>
                      <a:r>
                        <a:rPr lang="en-US" sz="1100"/>
                        <a:t>Menunjukkan pekerjaan yang perlu dilakukan pengguna.</a:t>
                      </a:r>
                    </a:p>
                  </a:txBody>
                  <a:tcPr anchor="ctr"/>
                </a:tc>
                <a:extLst>
                  <a:ext uri="{0D108BD9-81ED-4DB2-BD59-A6C34878D82A}">
                    <a16:rowId xmlns:a16="http://schemas.microsoft.com/office/drawing/2014/main" val="1477033329"/>
                  </a:ext>
                </a:extLst>
              </a:tr>
              <a:tr h="543917">
                <a:tc>
                  <a:txBody>
                    <a:bodyPr/>
                    <a:lstStyle/>
                    <a:p>
                      <a:r>
                        <a:rPr lang="en-US" sz="1100" b="1"/>
                        <a:t>2. Inspection</a:t>
                      </a:r>
                      <a:endParaRPr lang="en-US" sz="1100"/>
                    </a:p>
                  </a:txBody>
                  <a:tcPr anchor="ctr"/>
                </a:tc>
                <a:tc>
                  <a:txBody>
                    <a:bodyPr/>
                    <a:lstStyle/>
                    <a:p>
                      <a:r>
                        <a:rPr lang="en-US" sz="1100" dirty="0"/>
                        <a:t>Start/stop </a:t>
                      </a:r>
                      <a:r>
                        <a:rPr lang="en-US" sz="1100" dirty="0" err="1"/>
                        <a:t>inspeksi</a:t>
                      </a:r>
                      <a:r>
                        <a:rPr lang="en-US" sz="1100" dirty="0"/>
                        <a:t>, </a:t>
                      </a:r>
                      <a:r>
                        <a:rPr lang="en-US" sz="1100" dirty="0" err="1"/>
                        <a:t>jenis</a:t>
                      </a:r>
                      <a:r>
                        <a:rPr lang="en-US" sz="1100" dirty="0"/>
                        <a:t> </a:t>
                      </a:r>
                      <a:r>
                        <a:rPr lang="en-US" sz="1100" dirty="0" err="1"/>
                        <a:t>aktifitas</a:t>
                      </a:r>
                      <a:r>
                        <a:rPr lang="en-US" sz="1100" dirty="0"/>
                        <a:t> </a:t>
                      </a:r>
                      <a:r>
                        <a:rPr lang="en-US" sz="1100" dirty="0" err="1"/>
                        <a:t>saat</a:t>
                      </a:r>
                      <a:r>
                        <a:rPr lang="en-US" sz="1100" dirty="0"/>
                        <a:t> </a:t>
                      </a:r>
                      <a:r>
                        <a:rPr lang="en-US" sz="1100" dirty="0" err="1"/>
                        <a:t>inspeksi</a:t>
                      </a:r>
                      <a:r>
                        <a:rPr lang="en-US" sz="1100" dirty="0"/>
                        <a:t>, (IPD, Blok Checklist, </a:t>
                      </a:r>
                      <a:r>
                        <a:rPr lang="en-US" sz="1100" dirty="0" err="1"/>
                        <a:t>Inspeksi</a:t>
                      </a:r>
                      <a:r>
                        <a:rPr lang="en-US" sz="1100" dirty="0"/>
                        <a:t> Upkeep, </a:t>
                      </a:r>
                      <a:r>
                        <a:rPr lang="en-US" sz="1100" dirty="0" err="1"/>
                        <a:t>Inspeksi</a:t>
                      </a:r>
                      <a:r>
                        <a:rPr lang="en-US" sz="1100" dirty="0"/>
                        <a:t> </a:t>
                      </a:r>
                      <a:r>
                        <a:rPr lang="en-US" sz="1100" dirty="0" err="1"/>
                        <a:t>Pupuk</a:t>
                      </a:r>
                      <a:r>
                        <a:rPr lang="en-US" sz="1100" dirty="0"/>
                        <a:t>) peta </a:t>
                      </a:r>
                      <a:r>
                        <a:rPr lang="en-US" sz="1100" dirty="0" err="1"/>
                        <a:t>posisi</a:t>
                      </a:r>
                      <a:r>
                        <a:rPr lang="en-US" sz="1100" dirty="0"/>
                        <a:t> dan </a:t>
                      </a:r>
                      <a:r>
                        <a:rPr lang="en-US" sz="1100" dirty="0" err="1"/>
                        <a:t>rute</a:t>
                      </a:r>
                      <a:r>
                        <a:rPr lang="en-US" sz="1100" dirty="0"/>
                        <a:t>, </a:t>
                      </a:r>
                      <a:r>
                        <a:rPr lang="en-US" sz="1100" dirty="0" err="1"/>
                        <a:t>tambah</a:t>
                      </a:r>
                      <a:r>
                        <a:rPr lang="en-US" sz="1100" dirty="0"/>
                        <a:t> tagging </a:t>
                      </a:r>
                      <a:r>
                        <a:rPr lang="en-US" sz="1100" dirty="0" err="1"/>
                        <a:t>saat</a:t>
                      </a:r>
                      <a:r>
                        <a:rPr lang="en-US" sz="1100" dirty="0"/>
                        <a:t> </a:t>
                      </a:r>
                      <a:r>
                        <a:rPr lang="en-US" sz="1100" dirty="0" err="1"/>
                        <a:t>inspeksi</a:t>
                      </a:r>
                      <a:r>
                        <a:rPr lang="en-US" sz="1100" dirty="0"/>
                        <a:t>, coverage, </a:t>
                      </a:r>
                      <a:r>
                        <a:rPr lang="en-US" sz="1100" dirty="0" err="1"/>
                        <a:t>riwayat</a:t>
                      </a:r>
                      <a:r>
                        <a:rPr lang="en-US" sz="1100" dirty="0"/>
                        <a:t> </a:t>
                      </a:r>
                      <a:r>
                        <a:rPr lang="en-US" sz="1100" dirty="0" err="1"/>
                        <a:t>inspeksi</a:t>
                      </a:r>
                      <a:r>
                        <a:rPr lang="en-US" sz="1100" dirty="0"/>
                        <a:t>.</a:t>
                      </a:r>
                    </a:p>
                  </a:txBody>
                  <a:tcPr anchor="ctr"/>
                </a:tc>
                <a:tc>
                  <a:txBody>
                    <a:bodyPr/>
                    <a:lstStyle/>
                    <a:p>
                      <a:r>
                        <a:rPr lang="en-US" sz="1100"/>
                        <a:t>Mendukung pemeriksaan lapangan dan pencatatan jalur.</a:t>
                      </a:r>
                    </a:p>
                  </a:txBody>
                  <a:tcPr anchor="ctr"/>
                </a:tc>
                <a:extLst>
                  <a:ext uri="{0D108BD9-81ED-4DB2-BD59-A6C34878D82A}">
                    <a16:rowId xmlns:a16="http://schemas.microsoft.com/office/drawing/2014/main" val="3666035236"/>
                  </a:ext>
                </a:extLst>
              </a:tr>
              <a:tr h="543917">
                <a:tc>
                  <a:txBody>
                    <a:bodyPr/>
                    <a:lstStyle/>
                    <a:p>
                      <a:r>
                        <a:rPr lang="en-US" sz="1100" b="1"/>
                        <a:t>3. Problem Tagging</a:t>
                      </a:r>
                      <a:endParaRPr lang="en-US" sz="1100"/>
                    </a:p>
                  </a:txBody>
                  <a:tcPr anchor="ctr"/>
                </a:tc>
                <a:tc>
                  <a:txBody>
                    <a:bodyPr/>
                    <a:lstStyle/>
                    <a:p>
                      <a:r>
                        <a:rPr lang="en-US" sz="1100" dirty="0" err="1"/>
                        <a:t>Tambah</a:t>
                      </a:r>
                      <a:r>
                        <a:rPr lang="en-US" sz="1100" dirty="0"/>
                        <a:t> tagging, draft, submitted, returned, verified; detail </a:t>
                      </a:r>
                      <a:r>
                        <a:rPr lang="en-US" sz="1100" dirty="0" err="1"/>
                        <a:t>masalah</a:t>
                      </a:r>
                      <a:r>
                        <a:rPr lang="en-US" sz="1100" dirty="0"/>
                        <a:t>; tab </a:t>
                      </a:r>
                      <a:r>
                        <a:rPr lang="en-US" sz="1100" dirty="0" err="1"/>
                        <a:t>verifikasi</a:t>
                      </a:r>
                      <a:r>
                        <a:rPr lang="en-US" sz="1100" dirty="0"/>
                        <a:t> </a:t>
                      </a:r>
                      <a:r>
                        <a:rPr lang="en-US" sz="1100" dirty="0" err="1"/>
                        <a:t>sesuai</a:t>
                      </a:r>
                      <a:r>
                        <a:rPr lang="en-US" sz="1100" dirty="0"/>
                        <a:t> role.</a:t>
                      </a:r>
                    </a:p>
                  </a:txBody>
                  <a:tcPr anchor="ctr"/>
                </a:tc>
                <a:tc>
                  <a:txBody>
                    <a:bodyPr/>
                    <a:lstStyle/>
                    <a:p>
                      <a:r>
                        <a:rPr lang="en-US" sz="1100"/>
                        <a:t>Mencatat dan memverifikasi masalah lapangan.</a:t>
                      </a:r>
                    </a:p>
                  </a:txBody>
                  <a:tcPr anchor="ctr"/>
                </a:tc>
                <a:extLst>
                  <a:ext uri="{0D108BD9-81ED-4DB2-BD59-A6C34878D82A}">
                    <a16:rowId xmlns:a16="http://schemas.microsoft.com/office/drawing/2014/main" val="2657816885"/>
                  </a:ext>
                </a:extLst>
              </a:tr>
              <a:tr h="543917">
                <a:tc>
                  <a:txBody>
                    <a:bodyPr/>
                    <a:lstStyle/>
                    <a:p>
                      <a:r>
                        <a:rPr lang="en-US" sz="1100" b="1" dirty="0"/>
                        <a:t>4. Action Plan</a:t>
                      </a:r>
                      <a:endParaRPr lang="en-US" sz="1100" dirty="0"/>
                    </a:p>
                  </a:txBody>
                  <a:tcPr anchor="ctr"/>
                </a:tc>
                <a:tc>
                  <a:txBody>
                    <a:bodyPr/>
                    <a:lstStyle/>
                    <a:p>
                      <a:r>
                        <a:rPr lang="en-US" sz="1100" dirty="0" err="1"/>
                        <a:t>Tugas</a:t>
                      </a:r>
                      <a:r>
                        <a:rPr lang="en-US" sz="1100" dirty="0"/>
                        <a:t> </a:t>
                      </a:r>
                      <a:r>
                        <a:rPr lang="en-US" sz="1100" dirty="0" err="1"/>
                        <a:t>saya</a:t>
                      </a:r>
                      <a:r>
                        <a:rPr lang="en-US" sz="1100" dirty="0"/>
                        <a:t>, detail </a:t>
                      </a:r>
                      <a:r>
                        <a:rPr lang="en-US" sz="1100" dirty="0" err="1"/>
                        <a:t>tindakan</a:t>
                      </a:r>
                      <a:r>
                        <a:rPr lang="en-US" sz="1100" dirty="0"/>
                        <a:t> dan target, update </a:t>
                      </a:r>
                      <a:r>
                        <a:rPr lang="en-US" sz="1100" dirty="0" err="1"/>
                        <a:t>progres</a:t>
                      </a:r>
                      <a:r>
                        <a:rPr lang="en-US" sz="1100" dirty="0"/>
                        <a:t>, </a:t>
                      </a:r>
                      <a:r>
                        <a:rPr lang="en-US" sz="1100" dirty="0" err="1"/>
                        <a:t>foto</a:t>
                      </a:r>
                      <a:r>
                        <a:rPr lang="en-US" sz="1100" dirty="0"/>
                        <a:t> </a:t>
                      </a:r>
                      <a:r>
                        <a:rPr lang="en-US" sz="1100" dirty="0" err="1"/>
                        <a:t>penyelesaian</a:t>
                      </a:r>
                      <a:r>
                        <a:rPr lang="en-US" sz="1100" dirty="0"/>
                        <a:t>, submit completion; tab </a:t>
                      </a:r>
                      <a:r>
                        <a:rPr lang="en-US" sz="1100" dirty="0" err="1"/>
                        <a:t>verifikasi</a:t>
                      </a:r>
                      <a:r>
                        <a:rPr lang="en-US" sz="1100" dirty="0"/>
                        <a:t> </a:t>
                      </a:r>
                      <a:r>
                        <a:rPr lang="en-US" sz="1100" dirty="0" err="1"/>
                        <a:t>sesuai</a:t>
                      </a:r>
                      <a:r>
                        <a:rPr lang="en-US" sz="1100" dirty="0"/>
                        <a:t> role.</a:t>
                      </a:r>
                    </a:p>
                  </a:txBody>
                  <a:tcPr anchor="ctr"/>
                </a:tc>
                <a:tc>
                  <a:txBody>
                    <a:bodyPr/>
                    <a:lstStyle/>
                    <a:p>
                      <a:r>
                        <a:rPr lang="en-US" sz="1100"/>
                        <a:t>Melaksanakan dan memverifikasi tindak lanjut.</a:t>
                      </a:r>
                    </a:p>
                  </a:txBody>
                  <a:tcPr anchor="ctr"/>
                </a:tc>
                <a:extLst>
                  <a:ext uri="{0D108BD9-81ED-4DB2-BD59-A6C34878D82A}">
                    <a16:rowId xmlns:a16="http://schemas.microsoft.com/office/drawing/2014/main" val="1235014737"/>
                  </a:ext>
                </a:extLst>
              </a:tr>
              <a:tr h="543917">
                <a:tc>
                  <a:txBody>
                    <a:bodyPr/>
                    <a:lstStyle/>
                    <a:p>
                      <a:r>
                        <a:rPr lang="en-US" sz="1100" b="1" dirty="0"/>
                        <a:t>5. Account</a:t>
                      </a:r>
                      <a:endParaRPr lang="en-US" sz="1100" dirty="0"/>
                    </a:p>
                  </a:txBody>
                  <a:tcPr anchor="ctr"/>
                </a:tc>
                <a:tc>
                  <a:txBody>
                    <a:bodyPr/>
                    <a:lstStyle/>
                    <a:p>
                      <a:r>
                        <a:rPr lang="en-US" sz="1100" dirty="0" err="1"/>
                        <a:t>Profil</a:t>
                      </a:r>
                      <a:r>
                        <a:rPr lang="en-US" sz="1100" dirty="0"/>
                        <a:t>, role dan </a:t>
                      </a:r>
                      <a:r>
                        <a:rPr lang="en-US" sz="1100" dirty="0" err="1"/>
                        <a:t>wilayah</a:t>
                      </a:r>
                      <a:r>
                        <a:rPr lang="en-US" sz="1100" dirty="0"/>
                        <a:t> </a:t>
                      </a:r>
                      <a:r>
                        <a:rPr lang="en-US" sz="1100" dirty="0" err="1"/>
                        <a:t>akses</a:t>
                      </a:r>
                      <a:r>
                        <a:rPr lang="en-US" sz="1100" dirty="0"/>
                        <a:t>, status </a:t>
                      </a:r>
                      <a:r>
                        <a:rPr lang="en-US" sz="1100" dirty="0" err="1"/>
                        <a:t>sinkronisasi</a:t>
                      </a:r>
                      <a:r>
                        <a:rPr lang="en-US" sz="1100" dirty="0"/>
                        <a:t>, data </a:t>
                      </a:r>
                      <a:r>
                        <a:rPr lang="en-US" sz="1100" dirty="0" err="1"/>
                        <a:t>belum</a:t>
                      </a:r>
                      <a:r>
                        <a:rPr lang="en-US" sz="1100" dirty="0"/>
                        <a:t> </a:t>
                      </a:r>
                      <a:r>
                        <a:rPr lang="en-US" sz="1100" dirty="0" err="1"/>
                        <a:t>terkirim</a:t>
                      </a:r>
                      <a:r>
                        <a:rPr lang="en-US" sz="1100" dirty="0"/>
                        <a:t>, </a:t>
                      </a:r>
                      <a:r>
                        <a:rPr lang="en-US" sz="1100" dirty="0" err="1"/>
                        <a:t>pengaturan</a:t>
                      </a:r>
                      <a:r>
                        <a:rPr lang="en-US" sz="1100" dirty="0"/>
                        <a:t> </a:t>
                      </a:r>
                      <a:r>
                        <a:rPr lang="en-US" sz="1100" dirty="0" err="1"/>
                        <a:t>aplikasi</a:t>
                      </a:r>
                      <a:r>
                        <a:rPr lang="en-US" sz="1100" dirty="0"/>
                        <a:t>.</a:t>
                      </a:r>
                    </a:p>
                  </a:txBody>
                  <a:tcPr anchor="ctr"/>
                </a:tc>
                <a:tc>
                  <a:txBody>
                    <a:bodyPr/>
                    <a:lstStyle/>
                    <a:p>
                      <a:r>
                        <a:rPr lang="fi-FI" sz="1100" dirty="0"/>
                        <a:t>Mengelola akun dan memastikan data lapangan terkirim.</a:t>
                      </a:r>
                    </a:p>
                  </a:txBody>
                  <a:tcPr anchor="ctr"/>
                </a:tc>
                <a:extLst>
                  <a:ext uri="{0D108BD9-81ED-4DB2-BD59-A6C34878D82A}">
                    <a16:rowId xmlns:a16="http://schemas.microsoft.com/office/drawing/2014/main" val="4212942174"/>
                  </a:ext>
                </a:extLst>
              </a:tr>
            </a:tbl>
          </a:graphicData>
        </a:graphic>
      </p:graphicFrame>
    </p:spTree>
    <p:extLst>
      <p:ext uri="{BB962C8B-B14F-4D97-AF65-F5344CB8AC3E}">
        <p14:creationId xmlns:p14="http://schemas.microsoft.com/office/powerpoint/2010/main" val="1503451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57B1B91-EBF6-49F3-945B-3051E16E6913}"/>
              </a:ext>
            </a:extLst>
          </p:cNvPr>
          <p:cNvSpPr>
            <a:spLocks noGrp="1"/>
          </p:cNvSpPr>
          <p:nvPr/>
        </p:nvSpPr>
        <p:spPr>
          <a:xfrm>
            <a:off x="304800" y="200025"/>
            <a:ext cx="8572500" cy="400050"/>
          </a:xfrm>
          <a:prstGeom prst="rect">
            <a:avLst/>
          </a:prstGeom>
          <a:noFill/>
          <a:ln w="0">
            <a:noFill/>
          </a:ln>
        </p:spPr>
        <p:txBody>
          <a:bodyPr>
            <a:noAutofit/>
          </a:bodyPr>
          <a:lstStyle/>
          <a:p>
            <a:pPr>
              <a:defRPr sz="2400" b="1">
                <a:solidFill>
                  <a:srgbClr val="172B3F"/>
                </a:solidFill>
                <a:latin typeface="Arial"/>
                <a:ea typeface="Arial"/>
                <a:cs typeface="Arial"/>
              </a:defRPr>
            </a:pPr>
            <a:r>
              <a:rPr lang="en-US" sz="2400" b="1" dirty="0">
                <a:solidFill>
                  <a:srgbClr val="172B3F"/>
                </a:solidFill>
                <a:latin typeface="Arial"/>
                <a:ea typeface="Arial"/>
                <a:cs typeface="Arial"/>
              </a:rPr>
              <a:t>User Role Matrix</a:t>
            </a:r>
            <a:endParaRPr sz="2400" b="1" dirty="0">
              <a:solidFill>
                <a:srgbClr val="172B3F"/>
              </a:solidFill>
              <a:latin typeface="Arial"/>
              <a:ea typeface="Arial"/>
              <a:cs typeface="Arial"/>
            </a:endParaRPr>
          </a:p>
        </p:txBody>
      </p:sp>
      <p:sp>
        <p:nvSpPr>
          <p:cNvPr id="2" name="Rectangle 1">
            <a:extLst>
              <a:ext uri="{FF2B5EF4-FFF2-40B4-BE49-F238E27FC236}">
                <a16:creationId xmlns:a16="http://schemas.microsoft.com/office/drawing/2014/main" id="{C065EADD-D1C3-4101-B155-1CA8A3192513}"/>
              </a:ext>
            </a:extLst>
          </p:cNvPr>
          <p:cNvSpPr>
            <a:spLocks noGrp="1"/>
          </p:cNvSpPr>
          <p:nvPr/>
        </p:nvSpPr>
        <p:spPr>
          <a:xfrm>
            <a:off x="323850" y="619125"/>
            <a:ext cx="8763000" cy="285750"/>
          </a:xfrm>
          <a:prstGeom prst="rect">
            <a:avLst/>
          </a:prstGeom>
          <a:noFill/>
          <a:ln w="0">
            <a:noFill/>
          </a:ln>
        </p:spPr>
        <p:txBody>
          <a:bodyPr>
            <a:noAutofit/>
          </a:bodyPr>
          <a:lstStyle/>
          <a:p>
            <a:pPr>
              <a:defRPr sz="1650" b="0">
                <a:solidFill>
                  <a:srgbClr val="526171"/>
                </a:solidFill>
                <a:latin typeface="Arial"/>
                <a:ea typeface="Arial"/>
                <a:cs typeface="Arial"/>
              </a:defRPr>
            </a:pPr>
            <a:r>
              <a:rPr lang="en-US" sz="1650" b="0" dirty="0">
                <a:solidFill>
                  <a:srgbClr val="526171"/>
                </a:solidFill>
                <a:latin typeface="Arial"/>
                <a:ea typeface="Arial"/>
                <a:cs typeface="Arial"/>
              </a:rPr>
              <a:t>Mobile Features</a:t>
            </a:r>
            <a:endParaRPr sz="1650" b="0" dirty="0">
              <a:solidFill>
                <a:srgbClr val="526171"/>
              </a:solidFill>
              <a:latin typeface="Arial"/>
              <a:ea typeface="Arial"/>
              <a:cs typeface="Arial"/>
            </a:endParaRPr>
          </a:p>
        </p:txBody>
      </p:sp>
      <p:sp>
        <p:nvSpPr>
          <p:cNvPr id="3" name="Rectangle 2">
            <a:extLst>
              <a:ext uri="{FF2B5EF4-FFF2-40B4-BE49-F238E27FC236}">
                <a16:creationId xmlns:a16="http://schemas.microsoft.com/office/drawing/2014/main" id="{8D92998A-0561-4AB5-8E96-E40E409B8F05}"/>
              </a:ext>
            </a:extLst>
          </p:cNvPr>
          <p:cNvSpPr>
            <a:spLocks noGrp="1"/>
          </p:cNvSpPr>
          <p:nvPr/>
        </p:nvSpPr>
        <p:spPr>
          <a:xfrm>
            <a:off x="10858500" y="323850"/>
            <a:ext cx="952500" cy="381000"/>
          </a:xfrm>
          <a:prstGeom prst="rect">
            <a:avLst/>
          </a:prstGeom>
          <a:noFill/>
          <a:ln w="0">
            <a:noFill/>
          </a:ln>
        </p:spPr>
        <p:txBody>
          <a:bodyPr>
            <a:noAutofit/>
          </a:bodyPr>
          <a:lstStyle/>
          <a:p>
            <a:pPr>
              <a:defRPr sz="1875" b="1">
                <a:solidFill>
                  <a:srgbClr val="ED1C24"/>
                </a:solidFill>
                <a:latin typeface="Arial"/>
                <a:ea typeface="Arial"/>
                <a:cs typeface="Arial"/>
              </a:defRPr>
            </a:pPr>
            <a:r>
              <a:rPr sz="1875" b="1">
                <a:solidFill>
                  <a:srgbClr val="ED1C24"/>
                </a:solidFill>
                <a:latin typeface="Arial"/>
                <a:ea typeface="Arial"/>
                <a:cs typeface="Arial"/>
              </a:rPr>
              <a:t>OPTR</a:t>
            </a:r>
          </a:p>
        </p:txBody>
      </p:sp>
      <p:sp>
        <p:nvSpPr>
          <p:cNvPr id="4" name="Rectangle 3">
            <a:extLst>
              <a:ext uri="{FF2B5EF4-FFF2-40B4-BE49-F238E27FC236}">
                <a16:creationId xmlns:a16="http://schemas.microsoft.com/office/drawing/2014/main" id="{4031E2F5-A8FA-4CD2-9F1B-1DB7A17F3C23}"/>
              </a:ext>
            </a:extLst>
          </p:cNvPr>
          <p:cNvSpPr>
            <a:spLocks noGrp="1"/>
          </p:cNvSpPr>
          <p:nvPr/>
        </p:nvSpPr>
        <p:spPr>
          <a:xfrm>
            <a:off x="304800" y="1009650"/>
            <a:ext cx="11582400" cy="28575"/>
          </a:xfrm>
          <a:prstGeom prst="rect">
            <a:avLst/>
          </a:prstGeom>
          <a:solidFill>
            <a:srgbClr val="ED1C24"/>
          </a:solidFill>
          <a:ln w="0">
            <a:noFill/>
          </a:ln>
        </p:spPr>
      </p:sp>
      <p:graphicFrame>
        <p:nvGraphicFramePr>
          <p:cNvPr id="6" name="Table 5">
            <a:extLst>
              <a:ext uri="{FF2B5EF4-FFF2-40B4-BE49-F238E27FC236}">
                <a16:creationId xmlns:a16="http://schemas.microsoft.com/office/drawing/2014/main" id="{C80F31DB-EDD3-4119-B16B-17B79B4D1AC9}"/>
              </a:ext>
            </a:extLst>
          </p:cNvPr>
          <p:cNvGraphicFramePr>
            <a:graphicFrameLocks noGrp="1"/>
          </p:cNvGraphicFramePr>
          <p:nvPr/>
        </p:nvGraphicFramePr>
        <p:xfrm>
          <a:off x="142980" y="1222214"/>
          <a:ext cx="11744220" cy="3192283"/>
        </p:xfrm>
        <a:graphic>
          <a:graphicData uri="http://schemas.openxmlformats.org/drawingml/2006/table">
            <a:tbl>
              <a:tblPr firstRow="1" bandRow="1">
                <a:tableStyleId>{B301B821-A1FF-4177-AEE7-76D212191A09}</a:tableStyleId>
              </a:tblPr>
              <a:tblGrid>
                <a:gridCol w="2344188">
                  <a:extLst>
                    <a:ext uri="{9D8B030D-6E8A-4147-A177-3AD203B41FA5}">
                      <a16:colId xmlns:a16="http://schemas.microsoft.com/office/drawing/2014/main" val="3737894642"/>
                    </a:ext>
                  </a:extLst>
                </a:gridCol>
                <a:gridCol w="4791456">
                  <a:extLst>
                    <a:ext uri="{9D8B030D-6E8A-4147-A177-3AD203B41FA5}">
                      <a16:colId xmlns:a16="http://schemas.microsoft.com/office/drawing/2014/main" val="1856694324"/>
                    </a:ext>
                  </a:extLst>
                </a:gridCol>
                <a:gridCol w="4608576">
                  <a:extLst>
                    <a:ext uri="{9D8B030D-6E8A-4147-A177-3AD203B41FA5}">
                      <a16:colId xmlns:a16="http://schemas.microsoft.com/office/drawing/2014/main" val="4206997053"/>
                    </a:ext>
                  </a:extLst>
                </a:gridCol>
              </a:tblGrid>
              <a:tr h="217567">
                <a:tc>
                  <a:txBody>
                    <a:bodyPr/>
                    <a:lstStyle/>
                    <a:p>
                      <a:r>
                        <a:rPr lang="en-US" sz="1100" dirty="0"/>
                        <a:t>Main Menu</a:t>
                      </a:r>
                    </a:p>
                  </a:txBody>
                  <a:tcPr anchor="ctr"/>
                </a:tc>
                <a:tc>
                  <a:txBody>
                    <a:bodyPr/>
                    <a:lstStyle/>
                    <a:p>
                      <a:r>
                        <a:rPr lang="en-US" sz="1100"/>
                        <a:t>Submenu / Isi Utama</a:t>
                      </a:r>
                    </a:p>
                  </a:txBody>
                  <a:tcPr anchor="ctr"/>
                </a:tc>
                <a:tc>
                  <a:txBody>
                    <a:bodyPr/>
                    <a:lstStyle/>
                    <a:p>
                      <a:r>
                        <a:rPr lang="en-US" sz="1100"/>
                        <a:t>Tujuan</a:t>
                      </a:r>
                    </a:p>
                  </a:txBody>
                  <a:tcPr anchor="ctr"/>
                </a:tc>
                <a:extLst>
                  <a:ext uri="{0D108BD9-81ED-4DB2-BD59-A6C34878D82A}">
                    <a16:rowId xmlns:a16="http://schemas.microsoft.com/office/drawing/2014/main" val="1286821772"/>
                  </a:ext>
                </a:extLst>
              </a:tr>
              <a:tr h="707092">
                <a:tc>
                  <a:txBody>
                    <a:bodyPr/>
                    <a:lstStyle/>
                    <a:p>
                      <a:r>
                        <a:rPr lang="en-US" sz="1100" b="1"/>
                        <a:t>1. Home</a:t>
                      </a:r>
                      <a:endParaRPr lang="en-US" sz="1100"/>
                    </a:p>
                  </a:txBody>
                  <a:tcPr anchor="ctr"/>
                </a:tc>
                <a:tc>
                  <a:txBody>
                    <a:bodyPr/>
                    <a:lstStyle/>
                    <a:p>
                      <a:r>
                        <a:rPr lang="en-US" sz="1100"/>
                        <a:t>Ringkasan tugas hari ini, tagging menunggu perbaikan/verifikasi, action plan jatuh tempo, notifikasi, shortcut tambah tagging.</a:t>
                      </a:r>
                    </a:p>
                  </a:txBody>
                  <a:tcPr anchor="ctr"/>
                </a:tc>
                <a:tc>
                  <a:txBody>
                    <a:bodyPr/>
                    <a:lstStyle/>
                    <a:p>
                      <a:r>
                        <a:rPr lang="en-US" sz="1100"/>
                        <a:t>Menunjukkan pekerjaan yang perlu dilakukan pengguna.</a:t>
                      </a:r>
                    </a:p>
                  </a:txBody>
                  <a:tcPr anchor="ctr"/>
                </a:tc>
                <a:extLst>
                  <a:ext uri="{0D108BD9-81ED-4DB2-BD59-A6C34878D82A}">
                    <a16:rowId xmlns:a16="http://schemas.microsoft.com/office/drawing/2014/main" val="1477033329"/>
                  </a:ext>
                </a:extLst>
              </a:tr>
              <a:tr h="543917">
                <a:tc>
                  <a:txBody>
                    <a:bodyPr/>
                    <a:lstStyle/>
                    <a:p>
                      <a:r>
                        <a:rPr lang="en-US" sz="1100" b="1"/>
                        <a:t>2. Inspection</a:t>
                      </a:r>
                      <a:endParaRPr lang="en-US" sz="1100"/>
                    </a:p>
                  </a:txBody>
                  <a:tcPr anchor="ctr"/>
                </a:tc>
                <a:tc>
                  <a:txBody>
                    <a:bodyPr/>
                    <a:lstStyle/>
                    <a:p>
                      <a:r>
                        <a:rPr lang="en-US" sz="1100" dirty="0"/>
                        <a:t>Start/stop </a:t>
                      </a:r>
                      <a:r>
                        <a:rPr lang="en-US" sz="1100" dirty="0" err="1"/>
                        <a:t>inspeksi</a:t>
                      </a:r>
                      <a:r>
                        <a:rPr lang="en-US" sz="1100" dirty="0"/>
                        <a:t>, </a:t>
                      </a:r>
                      <a:r>
                        <a:rPr lang="en-US" sz="1100" dirty="0" err="1"/>
                        <a:t>jenis</a:t>
                      </a:r>
                      <a:r>
                        <a:rPr lang="en-US" sz="1100" dirty="0"/>
                        <a:t> </a:t>
                      </a:r>
                      <a:r>
                        <a:rPr lang="en-US" sz="1100" dirty="0" err="1"/>
                        <a:t>aktifitas</a:t>
                      </a:r>
                      <a:r>
                        <a:rPr lang="en-US" sz="1100" dirty="0"/>
                        <a:t> </a:t>
                      </a:r>
                      <a:r>
                        <a:rPr lang="en-US" sz="1100" dirty="0" err="1"/>
                        <a:t>saat</a:t>
                      </a:r>
                      <a:r>
                        <a:rPr lang="en-US" sz="1100" dirty="0"/>
                        <a:t> </a:t>
                      </a:r>
                      <a:r>
                        <a:rPr lang="en-US" sz="1100" dirty="0" err="1"/>
                        <a:t>inspeksi</a:t>
                      </a:r>
                      <a:r>
                        <a:rPr lang="en-US" sz="1100" dirty="0"/>
                        <a:t>, (IPD, Blok Checklist, </a:t>
                      </a:r>
                      <a:r>
                        <a:rPr lang="en-US" sz="1100" dirty="0" err="1"/>
                        <a:t>Inspeksi</a:t>
                      </a:r>
                      <a:r>
                        <a:rPr lang="en-US" sz="1100" dirty="0"/>
                        <a:t> Upkeep, </a:t>
                      </a:r>
                      <a:r>
                        <a:rPr lang="en-US" sz="1100" dirty="0" err="1"/>
                        <a:t>Inspeksi</a:t>
                      </a:r>
                      <a:r>
                        <a:rPr lang="en-US" sz="1100" dirty="0"/>
                        <a:t> </a:t>
                      </a:r>
                      <a:r>
                        <a:rPr lang="en-US" sz="1100" dirty="0" err="1"/>
                        <a:t>Pupuk</a:t>
                      </a:r>
                      <a:r>
                        <a:rPr lang="en-US" sz="1100" dirty="0"/>
                        <a:t>) peta </a:t>
                      </a:r>
                      <a:r>
                        <a:rPr lang="en-US" sz="1100" dirty="0" err="1"/>
                        <a:t>posisi</a:t>
                      </a:r>
                      <a:r>
                        <a:rPr lang="en-US" sz="1100" dirty="0"/>
                        <a:t> dan </a:t>
                      </a:r>
                      <a:r>
                        <a:rPr lang="en-US" sz="1100" dirty="0" err="1"/>
                        <a:t>rute</a:t>
                      </a:r>
                      <a:r>
                        <a:rPr lang="en-US" sz="1100" dirty="0"/>
                        <a:t>, </a:t>
                      </a:r>
                      <a:r>
                        <a:rPr lang="en-US" sz="1100" dirty="0" err="1"/>
                        <a:t>tambah</a:t>
                      </a:r>
                      <a:r>
                        <a:rPr lang="en-US" sz="1100" dirty="0"/>
                        <a:t> tagging </a:t>
                      </a:r>
                      <a:r>
                        <a:rPr lang="en-US" sz="1100" dirty="0" err="1"/>
                        <a:t>saat</a:t>
                      </a:r>
                      <a:r>
                        <a:rPr lang="en-US" sz="1100" dirty="0"/>
                        <a:t> </a:t>
                      </a:r>
                      <a:r>
                        <a:rPr lang="en-US" sz="1100" dirty="0" err="1"/>
                        <a:t>inspeksi</a:t>
                      </a:r>
                      <a:r>
                        <a:rPr lang="en-US" sz="1100" dirty="0"/>
                        <a:t>, coverage, </a:t>
                      </a:r>
                      <a:r>
                        <a:rPr lang="en-US" sz="1100" dirty="0" err="1"/>
                        <a:t>riwayat</a:t>
                      </a:r>
                      <a:r>
                        <a:rPr lang="en-US" sz="1100" dirty="0"/>
                        <a:t> </a:t>
                      </a:r>
                      <a:r>
                        <a:rPr lang="en-US" sz="1100" dirty="0" err="1"/>
                        <a:t>inspeksi</a:t>
                      </a:r>
                      <a:r>
                        <a:rPr lang="en-US" sz="1100" dirty="0"/>
                        <a:t>.</a:t>
                      </a:r>
                    </a:p>
                  </a:txBody>
                  <a:tcPr anchor="ctr"/>
                </a:tc>
                <a:tc>
                  <a:txBody>
                    <a:bodyPr/>
                    <a:lstStyle/>
                    <a:p>
                      <a:r>
                        <a:rPr lang="en-US" sz="1100"/>
                        <a:t>Mendukung pemeriksaan lapangan dan pencatatan jalur.</a:t>
                      </a:r>
                    </a:p>
                  </a:txBody>
                  <a:tcPr anchor="ctr"/>
                </a:tc>
                <a:extLst>
                  <a:ext uri="{0D108BD9-81ED-4DB2-BD59-A6C34878D82A}">
                    <a16:rowId xmlns:a16="http://schemas.microsoft.com/office/drawing/2014/main" val="3666035236"/>
                  </a:ext>
                </a:extLst>
              </a:tr>
              <a:tr h="543917">
                <a:tc>
                  <a:txBody>
                    <a:bodyPr/>
                    <a:lstStyle/>
                    <a:p>
                      <a:r>
                        <a:rPr lang="en-US" sz="1100" b="1"/>
                        <a:t>3. Problem Tagging</a:t>
                      </a:r>
                      <a:endParaRPr lang="en-US" sz="1100"/>
                    </a:p>
                  </a:txBody>
                  <a:tcPr anchor="ctr"/>
                </a:tc>
                <a:tc>
                  <a:txBody>
                    <a:bodyPr/>
                    <a:lstStyle/>
                    <a:p>
                      <a:r>
                        <a:rPr lang="en-US" sz="1100" dirty="0" err="1"/>
                        <a:t>Tambah</a:t>
                      </a:r>
                      <a:r>
                        <a:rPr lang="en-US" sz="1100" dirty="0"/>
                        <a:t> tagging, draft, submitted, returned, verified; detail </a:t>
                      </a:r>
                      <a:r>
                        <a:rPr lang="en-US" sz="1100" dirty="0" err="1"/>
                        <a:t>masalah</a:t>
                      </a:r>
                      <a:r>
                        <a:rPr lang="en-US" sz="1100" dirty="0"/>
                        <a:t>; tab </a:t>
                      </a:r>
                      <a:r>
                        <a:rPr lang="en-US" sz="1100" dirty="0" err="1"/>
                        <a:t>verifikasi</a:t>
                      </a:r>
                      <a:r>
                        <a:rPr lang="en-US" sz="1100" dirty="0"/>
                        <a:t> </a:t>
                      </a:r>
                      <a:r>
                        <a:rPr lang="en-US" sz="1100" dirty="0" err="1"/>
                        <a:t>sesuai</a:t>
                      </a:r>
                      <a:r>
                        <a:rPr lang="en-US" sz="1100" dirty="0"/>
                        <a:t> role.</a:t>
                      </a:r>
                    </a:p>
                  </a:txBody>
                  <a:tcPr anchor="ctr"/>
                </a:tc>
                <a:tc>
                  <a:txBody>
                    <a:bodyPr/>
                    <a:lstStyle/>
                    <a:p>
                      <a:r>
                        <a:rPr lang="en-US" sz="1100"/>
                        <a:t>Mencatat dan memverifikasi masalah lapangan.</a:t>
                      </a:r>
                    </a:p>
                  </a:txBody>
                  <a:tcPr anchor="ctr"/>
                </a:tc>
                <a:extLst>
                  <a:ext uri="{0D108BD9-81ED-4DB2-BD59-A6C34878D82A}">
                    <a16:rowId xmlns:a16="http://schemas.microsoft.com/office/drawing/2014/main" val="2657816885"/>
                  </a:ext>
                </a:extLst>
              </a:tr>
              <a:tr h="543917">
                <a:tc>
                  <a:txBody>
                    <a:bodyPr/>
                    <a:lstStyle/>
                    <a:p>
                      <a:r>
                        <a:rPr lang="en-US" sz="1100" b="1" dirty="0"/>
                        <a:t>4. Action Plan</a:t>
                      </a:r>
                      <a:endParaRPr lang="en-US" sz="1100" dirty="0"/>
                    </a:p>
                  </a:txBody>
                  <a:tcPr anchor="ctr"/>
                </a:tc>
                <a:tc>
                  <a:txBody>
                    <a:bodyPr/>
                    <a:lstStyle/>
                    <a:p>
                      <a:r>
                        <a:rPr lang="en-US" sz="1100" dirty="0" err="1"/>
                        <a:t>Tugas</a:t>
                      </a:r>
                      <a:r>
                        <a:rPr lang="en-US" sz="1100" dirty="0"/>
                        <a:t> </a:t>
                      </a:r>
                      <a:r>
                        <a:rPr lang="en-US" sz="1100" dirty="0" err="1"/>
                        <a:t>saya</a:t>
                      </a:r>
                      <a:r>
                        <a:rPr lang="en-US" sz="1100" dirty="0"/>
                        <a:t>, detail </a:t>
                      </a:r>
                      <a:r>
                        <a:rPr lang="en-US" sz="1100" dirty="0" err="1"/>
                        <a:t>tindakan</a:t>
                      </a:r>
                      <a:r>
                        <a:rPr lang="en-US" sz="1100" dirty="0"/>
                        <a:t> dan target, update </a:t>
                      </a:r>
                      <a:r>
                        <a:rPr lang="en-US" sz="1100" dirty="0" err="1"/>
                        <a:t>progres</a:t>
                      </a:r>
                      <a:r>
                        <a:rPr lang="en-US" sz="1100" dirty="0"/>
                        <a:t>, </a:t>
                      </a:r>
                      <a:r>
                        <a:rPr lang="en-US" sz="1100" dirty="0" err="1"/>
                        <a:t>foto</a:t>
                      </a:r>
                      <a:r>
                        <a:rPr lang="en-US" sz="1100" dirty="0"/>
                        <a:t> </a:t>
                      </a:r>
                      <a:r>
                        <a:rPr lang="en-US" sz="1100" dirty="0" err="1"/>
                        <a:t>penyelesaian</a:t>
                      </a:r>
                      <a:r>
                        <a:rPr lang="en-US" sz="1100" dirty="0"/>
                        <a:t>, submit completion; tab </a:t>
                      </a:r>
                      <a:r>
                        <a:rPr lang="en-US" sz="1100" dirty="0" err="1"/>
                        <a:t>verifikasi</a:t>
                      </a:r>
                      <a:r>
                        <a:rPr lang="en-US" sz="1100" dirty="0"/>
                        <a:t> </a:t>
                      </a:r>
                      <a:r>
                        <a:rPr lang="en-US" sz="1100" dirty="0" err="1"/>
                        <a:t>sesuai</a:t>
                      </a:r>
                      <a:r>
                        <a:rPr lang="en-US" sz="1100" dirty="0"/>
                        <a:t> role.</a:t>
                      </a:r>
                    </a:p>
                  </a:txBody>
                  <a:tcPr anchor="ctr"/>
                </a:tc>
                <a:tc>
                  <a:txBody>
                    <a:bodyPr/>
                    <a:lstStyle/>
                    <a:p>
                      <a:r>
                        <a:rPr lang="en-US" sz="1100"/>
                        <a:t>Melaksanakan dan memverifikasi tindak lanjut.</a:t>
                      </a:r>
                    </a:p>
                  </a:txBody>
                  <a:tcPr anchor="ctr"/>
                </a:tc>
                <a:extLst>
                  <a:ext uri="{0D108BD9-81ED-4DB2-BD59-A6C34878D82A}">
                    <a16:rowId xmlns:a16="http://schemas.microsoft.com/office/drawing/2014/main" val="1235014737"/>
                  </a:ext>
                </a:extLst>
              </a:tr>
              <a:tr h="543917">
                <a:tc>
                  <a:txBody>
                    <a:bodyPr/>
                    <a:lstStyle/>
                    <a:p>
                      <a:r>
                        <a:rPr lang="en-US" sz="1100" b="1"/>
                        <a:t>5. Account</a:t>
                      </a:r>
                      <a:endParaRPr lang="en-US" sz="1100"/>
                    </a:p>
                  </a:txBody>
                  <a:tcPr anchor="ctr"/>
                </a:tc>
                <a:tc>
                  <a:txBody>
                    <a:bodyPr/>
                    <a:lstStyle/>
                    <a:p>
                      <a:r>
                        <a:rPr lang="en-US" sz="1100" dirty="0" err="1"/>
                        <a:t>Profil</a:t>
                      </a:r>
                      <a:r>
                        <a:rPr lang="en-US" sz="1100" dirty="0"/>
                        <a:t>, role dan </a:t>
                      </a:r>
                      <a:r>
                        <a:rPr lang="en-US" sz="1100" dirty="0" err="1"/>
                        <a:t>wilayah</a:t>
                      </a:r>
                      <a:r>
                        <a:rPr lang="en-US" sz="1100" dirty="0"/>
                        <a:t> </a:t>
                      </a:r>
                      <a:r>
                        <a:rPr lang="en-US" sz="1100" dirty="0" err="1"/>
                        <a:t>akses</a:t>
                      </a:r>
                      <a:r>
                        <a:rPr lang="en-US" sz="1100" dirty="0"/>
                        <a:t>, status </a:t>
                      </a:r>
                      <a:r>
                        <a:rPr lang="en-US" sz="1100" dirty="0" err="1"/>
                        <a:t>sinkronisasi</a:t>
                      </a:r>
                      <a:r>
                        <a:rPr lang="en-US" sz="1100" dirty="0"/>
                        <a:t>, data </a:t>
                      </a:r>
                      <a:r>
                        <a:rPr lang="en-US" sz="1100" dirty="0" err="1"/>
                        <a:t>belum</a:t>
                      </a:r>
                      <a:r>
                        <a:rPr lang="en-US" sz="1100" dirty="0"/>
                        <a:t> </a:t>
                      </a:r>
                      <a:r>
                        <a:rPr lang="en-US" sz="1100" dirty="0" err="1"/>
                        <a:t>terkirim</a:t>
                      </a:r>
                      <a:r>
                        <a:rPr lang="en-US" sz="1100" dirty="0"/>
                        <a:t>, </a:t>
                      </a:r>
                      <a:r>
                        <a:rPr lang="en-US" sz="1100" dirty="0" err="1"/>
                        <a:t>pengaturan</a:t>
                      </a:r>
                      <a:r>
                        <a:rPr lang="en-US" sz="1100" dirty="0"/>
                        <a:t> </a:t>
                      </a:r>
                      <a:r>
                        <a:rPr lang="en-US" sz="1100" dirty="0" err="1"/>
                        <a:t>aplikasi</a:t>
                      </a:r>
                      <a:r>
                        <a:rPr lang="en-US" sz="1100" dirty="0"/>
                        <a:t>.</a:t>
                      </a:r>
                    </a:p>
                  </a:txBody>
                  <a:tcPr anchor="ctr"/>
                </a:tc>
                <a:tc>
                  <a:txBody>
                    <a:bodyPr/>
                    <a:lstStyle/>
                    <a:p>
                      <a:r>
                        <a:rPr lang="fi-FI" sz="1100" dirty="0"/>
                        <a:t>Mengelola akun dan memastikan data lapangan terkirim.</a:t>
                      </a:r>
                    </a:p>
                  </a:txBody>
                  <a:tcPr anchor="ctr"/>
                </a:tc>
                <a:extLst>
                  <a:ext uri="{0D108BD9-81ED-4DB2-BD59-A6C34878D82A}">
                    <a16:rowId xmlns:a16="http://schemas.microsoft.com/office/drawing/2014/main" val="4212942174"/>
                  </a:ext>
                </a:extLst>
              </a:tr>
            </a:tbl>
          </a:graphicData>
        </a:graphic>
      </p:graphicFrame>
    </p:spTree>
    <p:extLst>
      <p:ext uri="{BB962C8B-B14F-4D97-AF65-F5344CB8AC3E}">
        <p14:creationId xmlns:p14="http://schemas.microsoft.com/office/powerpoint/2010/main" val="29584341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6976</TotalTime>
  <Words>1469</Words>
  <Application>Microsoft Office PowerPoint</Application>
  <DocSecurity>0</DocSecurity>
  <PresentationFormat>Widescreen</PresentationFormat>
  <Paragraphs>153</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Afik Zainul Wafa</cp:lastModifiedBy>
  <cp:revision>5</cp:revision>
  <dcterms:created xsi:type="dcterms:W3CDTF">2026-09-21T09:51:25Z</dcterms:created>
  <dcterms:modified xsi:type="dcterms:W3CDTF">2026-09-26T06:29:04Z</dcterms:modified>
</cp:coreProperties>
</file>