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147377402" r:id="rId2"/>
    <p:sldId id="2147377403" r:id="rId3"/>
    <p:sldId id="2147376329" r:id="rId4"/>
    <p:sldId id="2147377404" r:id="rId5"/>
    <p:sldId id="2147377405" r:id="rId6"/>
    <p:sldId id="2147377406" r:id="rId7"/>
    <p:sldId id="21473774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CD69D-D1D5-4E1E-ABED-94E8D6C13A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E77D8-56EF-4946-A12A-DEF3E4E66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5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 err="1"/>
              <a:t>Gmn</a:t>
            </a:r>
            <a:r>
              <a:rPr lang="en-US" sz="1050" dirty="0"/>
              <a:t> </a:t>
            </a:r>
            <a:r>
              <a:rPr lang="en-US" sz="1050" dirty="0" err="1"/>
              <a:t>caranya</a:t>
            </a:r>
            <a:r>
              <a:rPr lang="en-US" sz="1050" dirty="0"/>
              <a:t> </a:t>
            </a:r>
            <a:r>
              <a:rPr lang="en-US" sz="1050" dirty="0" err="1"/>
              <a:t>ada</a:t>
            </a:r>
            <a:r>
              <a:rPr lang="en-US" sz="1050" dirty="0"/>
              <a:t> super admin, </a:t>
            </a:r>
          </a:p>
          <a:p>
            <a:r>
              <a:rPr lang="en-US" sz="1050" dirty="0" err="1"/>
              <a:t>Kentosan</a:t>
            </a:r>
            <a:r>
              <a:rPr lang="en-US" sz="1050" dirty="0"/>
              <a:t> </a:t>
            </a:r>
            <a:r>
              <a:rPr lang="en-US" sz="1050" dirty="0" err="1"/>
              <a:t>dimasukkan</a:t>
            </a:r>
            <a:r>
              <a:rPr lang="en-US" sz="1050" dirty="0"/>
              <a:t>.</a:t>
            </a:r>
          </a:p>
          <a:p>
            <a:r>
              <a:rPr lang="en-US" sz="1050" dirty="0"/>
              <a:t>Dashboard </a:t>
            </a:r>
            <a:r>
              <a:rPr lang="en-US" sz="1050" dirty="0" err="1"/>
              <a:t>masih</a:t>
            </a:r>
            <a:r>
              <a:rPr lang="en-US" sz="1050" dirty="0"/>
              <a:t> </a:t>
            </a:r>
            <a:r>
              <a:rPr lang="en-US" sz="1050" dirty="0" err="1"/>
              <a:t>dari</a:t>
            </a:r>
            <a:r>
              <a:rPr lang="en-US" sz="1050" dirty="0"/>
              <a:t> PMNP, </a:t>
            </a:r>
          </a:p>
          <a:p>
            <a:r>
              <a:rPr lang="en-US" sz="1050" dirty="0" err="1"/>
              <a:t>Tgl</a:t>
            </a:r>
            <a:r>
              <a:rPr lang="en-US" sz="1050" dirty="0"/>
              <a:t> 4 </a:t>
            </a:r>
            <a:r>
              <a:rPr lang="en-US" sz="1050" dirty="0" err="1"/>
              <a:t>mei</a:t>
            </a:r>
            <a:r>
              <a:rPr lang="en-US" sz="1050" dirty="0"/>
              <a:t>, </a:t>
            </a:r>
            <a:r>
              <a:rPr lang="en-US" sz="1050" dirty="0" err="1"/>
              <a:t>ada</a:t>
            </a:r>
            <a:r>
              <a:rPr lang="en-US" sz="1050" dirty="0"/>
              <a:t> review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bapak</a:t>
            </a:r>
            <a:r>
              <a:rPr lang="en-US" sz="1050" dirty="0"/>
              <a:t> VPA, </a:t>
            </a:r>
            <a:r>
              <a:rPr lang="en-US" sz="1050" dirty="0" err="1"/>
              <a:t>siapkan</a:t>
            </a:r>
            <a:r>
              <a:rPr lang="en-US" sz="1050" dirty="0"/>
              <a:t> </a:t>
            </a:r>
            <a:r>
              <a:rPr lang="en-US" sz="1050" dirty="0" err="1"/>
              <a:t>materinya</a:t>
            </a:r>
            <a:r>
              <a:rPr lang="en-US" sz="1050" dirty="0"/>
              <a:t>.</a:t>
            </a:r>
          </a:p>
          <a:p>
            <a:endParaRPr lang="en-US" sz="1050" dirty="0"/>
          </a:p>
          <a:p>
            <a:pPr marL="228600" indent="-228600">
              <a:buAutoNum type="arabicPeriod"/>
            </a:pPr>
            <a:r>
              <a:rPr lang="en-US" sz="1050" dirty="0" err="1"/>
              <a:t>Sejauh</a:t>
            </a:r>
            <a:r>
              <a:rPr lang="en-US" sz="1050" dirty="0"/>
              <a:t> mana </a:t>
            </a:r>
            <a:r>
              <a:rPr lang="en-US" sz="1050" dirty="0" err="1"/>
              <a:t>penggunaan</a:t>
            </a:r>
            <a:r>
              <a:rPr lang="en-US" sz="1050" dirty="0"/>
              <a:t> quick win </a:t>
            </a:r>
            <a:r>
              <a:rPr lang="en-US" sz="1050" dirty="0" err="1"/>
              <a:t>dengan</a:t>
            </a:r>
            <a:r>
              <a:rPr lang="en-US" sz="1050" dirty="0"/>
              <a:t> PMNP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krn</a:t>
            </a:r>
            <a:r>
              <a:rPr lang="en-US" sz="1050" dirty="0"/>
              <a:t> </a:t>
            </a:r>
            <a:r>
              <a:rPr lang="en-US" sz="1050" dirty="0" err="1"/>
              <a:t>jangka</a:t>
            </a:r>
            <a:r>
              <a:rPr lang="en-US" sz="1050" dirty="0"/>
              <a:t> Panjang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akan</a:t>
            </a:r>
            <a:r>
              <a:rPr lang="en-US" sz="1050" dirty="0"/>
              <a:t> </a:t>
            </a:r>
            <a:r>
              <a:rPr lang="en-US" sz="1050" dirty="0" err="1"/>
              <a:t>membuat</a:t>
            </a:r>
            <a:r>
              <a:rPr lang="en-US" sz="1050" dirty="0"/>
              <a:t>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sempurna</a:t>
            </a:r>
            <a:r>
              <a:rPr lang="en-US" sz="1050" dirty="0"/>
              <a:t>, </a:t>
            </a:r>
            <a:r>
              <a:rPr lang="en-US" sz="1050" dirty="0" err="1"/>
              <a:t>jalan</a:t>
            </a:r>
            <a:r>
              <a:rPr lang="en-US" sz="1050" dirty="0"/>
              <a:t> </a:t>
            </a:r>
            <a:r>
              <a:rPr lang="en-US" sz="1050" dirty="0" err="1"/>
              <a:t>aja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 </a:t>
            </a:r>
            <a:r>
              <a:rPr lang="en-US" sz="1050" dirty="0" err="1"/>
              <a:t>inikan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uji </a:t>
            </a:r>
            <a:r>
              <a:rPr lang="en-US" sz="1050" dirty="0" err="1"/>
              <a:t>coba</a:t>
            </a:r>
            <a:r>
              <a:rPr lang="en-US" sz="1050" dirty="0"/>
              <a:t> (</a:t>
            </a:r>
            <a:r>
              <a:rPr lang="en-US" sz="1050" dirty="0" err="1"/>
              <a:t>apa</a:t>
            </a:r>
            <a:r>
              <a:rPr lang="en-US" sz="1050" dirty="0"/>
              <a:t> </a:t>
            </a:r>
            <a:r>
              <a:rPr lang="en-US" sz="1050" dirty="0" err="1"/>
              <a:t>perbedaan</a:t>
            </a:r>
            <a:r>
              <a:rPr lang="en-US" sz="1050" dirty="0"/>
              <a:t> user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smart field survey </a:t>
            </a:r>
            <a:r>
              <a:rPr lang="en-US" sz="1050" dirty="0" err="1"/>
              <a:t>yg</a:t>
            </a:r>
            <a:r>
              <a:rPr lang="en-US" sz="1050" dirty="0"/>
              <a:t> di </a:t>
            </a:r>
            <a:r>
              <a:rPr lang="en-US" sz="1050" dirty="0" err="1"/>
              <a:t>eFACT</a:t>
            </a:r>
            <a:r>
              <a:rPr lang="en-US" sz="1050" dirty="0"/>
              <a:t>) </a:t>
            </a:r>
            <a:r>
              <a:rPr lang="en-US" sz="1050" dirty="0" err="1"/>
              <a:t>kalau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 orang </a:t>
            </a: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tambahannya</a:t>
            </a:r>
            <a:r>
              <a:rPr lang="en-US" sz="1050" dirty="0"/>
              <a:t>. </a:t>
            </a:r>
            <a:r>
              <a:rPr lang="en-US" sz="1050" dirty="0" err="1"/>
              <a:t>Fyi</a:t>
            </a:r>
            <a:r>
              <a:rPr lang="en-US" sz="1050" dirty="0"/>
              <a:t>, </a:t>
            </a:r>
            <a:r>
              <a:rPr lang="en-US" sz="1050" dirty="0" err="1"/>
              <a:t>untuk</a:t>
            </a:r>
            <a:r>
              <a:rPr lang="en-US" sz="1050" dirty="0"/>
              <a:t> review </a:t>
            </a:r>
            <a:r>
              <a:rPr lang="en-US" sz="1050" dirty="0" err="1"/>
              <a:t>itu</a:t>
            </a:r>
            <a:r>
              <a:rPr lang="en-US" sz="1050" dirty="0"/>
              <a:t> </a:t>
            </a:r>
            <a:r>
              <a:rPr lang="en-US" sz="1050" dirty="0" err="1"/>
              <a:t>tidak</a:t>
            </a:r>
            <a:r>
              <a:rPr lang="en-US" sz="1050" dirty="0"/>
              <a:t> </a:t>
            </a:r>
            <a:r>
              <a:rPr lang="en-US" sz="1050" dirty="0" err="1"/>
              <a:t>lagi</a:t>
            </a:r>
            <a:r>
              <a:rPr lang="en-US" sz="1050" dirty="0"/>
              <a:t> 3 </a:t>
            </a:r>
            <a:r>
              <a:rPr lang="en-US" sz="1050" dirty="0" err="1"/>
              <a:t>bulanan</a:t>
            </a:r>
            <a:r>
              <a:rPr lang="en-US" sz="1050" dirty="0"/>
              <a:t>, </a:t>
            </a:r>
            <a:r>
              <a:rPr lang="en-US" sz="1050" dirty="0" err="1"/>
              <a:t>manunya</a:t>
            </a:r>
            <a:r>
              <a:rPr lang="en-US" sz="1050" dirty="0"/>
              <a:t> 1 </a:t>
            </a:r>
            <a:r>
              <a:rPr lang="en-US" sz="1050" dirty="0" err="1"/>
              <a:t>minggu</a:t>
            </a:r>
            <a:r>
              <a:rPr lang="en-US" sz="1050" dirty="0"/>
              <a:t>, </a:t>
            </a:r>
            <a:r>
              <a:rPr lang="en-US" sz="1050" dirty="0" err="1"/>
              <a:t>projek</a:t>
            </a:r>
            <a:r>
              <a:rPr lang="en-US" sz="1050" dirty="0"/>
              <a:t> urgent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langsung</a:t>
            </a:r>
            <a:r>
              <a:rPr lang="en-US" sz="1050" dirty="0"/>
              <a:t> </a:t>
            </a:r>
            <a:r>
              <a:rPr lang="en-US" sz="1050" dirty="0" err="1"/>
              <a:t>maju</a:t>
            </a:r>
            <a:r>
              <a:rPr lang="en-US" sz="1050" dirty="0"/>
              <a:t> per 2 jam. Kita </a:t>
            </a:r>
            <a:r>
              <a:rPr lang="en-US" sz="1050" dirty="0" err="1"/>
              <a:t>bawa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Analisa cost </a:t>
            </a:r>
            <a:r>
              <a:rPr lang="en-US" sz="1050" dirty="0" err="1"/>
              <a:t>nya</a:t>
            </a:r>
            <a:r>
              <a:rPr lang="en-US" sz="1050" dirty="0"/>
              <a:t>, </a:t>
            </a:r>
            <a:r>
              <a:rPr lang="en-US" sz="1050" dirty="0" err="1"/>
              <a:t>supaya</a:t>
            </a:r>
            <a:r>
              <a:rPr lang="en-US" sz="1050" dirty="0"/>
              <a:t> </a:t>
            </a:r>
            <a:r>
              <a:rPr lang="en-US" sz="1050" dirty="0" err="1"/>
              <a:t>lebih</a:t>
            </a:r>
            <a:r>
              <a:rPr lang="en-US" sz="1050" dirty="0"/>
              <a:t> </a:t>
            </a:r>
            <a:r>
              <a:rPr lang="en-US" sz="1050" dirty="0" err="1"/>
              <a:t>murah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Maunya</a:t>
            </a:r>
            <a:r>
              <a:rPr lang="en-US" sz="1050" dirty="0"/>
              <a:t> </a:t>
            </a:r>
            <a:r>
              <a:rPr lang="en-US" sz="1050" dirty="0" err="1"/>
              <a:t>tetap</a:t>
            </a:r>
            <a:r>
              <a:rPr lang="en-US" sz="1050" dirty="0"/>
              <a:t> </a:t>
            </a:r>
            <a:r>
              <a:rPr lang="en-US" sz="1050" dirty="0" err="1"/>
              <a:t>narik</a:t>
            </a:r>
            <a:r>
              <a:rPr lang="en-US" sz="1050" dirty="0"/>
              <a:t> </a:t>
            </a:r>
            <a:r>
              <a:rPr lang="en-US" sz="1050" dirty="0" err="1"/>
              <a:t>petanya</a:t>
            </a:r>
            <a:r>
              <a:rPr lang="en-US" sz="1050" dirty="0"/>
              <a:t> PMNP,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aplikasi</a:t>
            </a:r>
            <a:r>
              <a:rPr lang="en-US" sz="1050" dirty="0"/>
              <a:t> </a:t>
            </a:r>
            <a:r>
              <a:rPr lang="en-US" sz="1050" dirty="0" err="1"/>
              <a:t>diskusi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, proposal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bebeapa</a:t>
            </a:r>
            <a:r>
              <a:rPr lang="en-US" sz="1050" dirty="0"/>
              <a:t> view.  Keputusan </a:t>
            </a:r>
            <a:r>
              <a:rPr lang="en-US" sz="1050" dirty="0" err="1"/>
              <a:t>berdasarkan</a:t>
            </a:r>
            <a:r>
              <a:rPr lang="en-US" sz="1050" dirty="0"/>
              <a:t> scientific justification.</a:t>
            </a:r>
          </a:p>
          <a:p>
            <a:pPr marL="228600" indent="-228600">
              <a:buAutoNum type="arabicPeriod"/>
            </a:pPr>
            <a:r>
              <a:rPr lang="en-US" sz="1050" dirty="0"/>
              <a:t>Kita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masukkan</a:t>
            </a:r>
            <a:r>
              <a:rPr lang="en-US" sz="1050" dirty="0"/>
              <a:t>, </a:t>
            </a:r>
            <a:r>
              <a:rPr lang="en-US" sz="1050" dirty="0" err="1"/>
              <a:t>sama</a:t>
            </a:r>
            <a:r>
              <a:rPr lang="en-US" sz="1050" dirty="0"/>
              <a:t> </a:t>
            </a:r>
            <a:r>
              <a:rPr lang="en-US" sz="1050" dirty="0" err="1"/>
              <a:t>pak</a:t>
            </a:r>
            <a:r>
              <a:rPr lang="en-US" sz="1050" dirty="0"/>
              <a:t> </a:t>
            </a:r>
            <a:r>
              <a:rPr lang="en-US" sz="1050" dirty="0" err="1"/>
              <a:t>Sumario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Ke</a:t>
            </a:r>
            <a:r>
              <a:rPr lang="en-US" sz="1050" dirty="0"/>
              <a:t> Pak </a:t>
            </a:r>
            <a:r>
              <a:rPr lang="en-US" sz="1050" dirty="0" err="1"/>
              <a:t>HoU</a:t>
            </a:r>
            <a:r>
              <a:rPr lang="en-US" sz="1050" dirty="0"/>
              <a:t> </a:t>
            </a:r>
            <a:r>
              <a:rPr lang="en-US" sz="1050" dirty="0" err="1"/>
              <a:t>sudah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comparison.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Aplikasinya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dampak</a:t>
            </a:r>
            <a:r>
              <a:rPr lang="en-US" sz="1050" dirty="0"/>
              <a:t> </a:t>
            </a:r>
            <a:r>
              <a:rPr lang="en-US" sz="1050" dirty="0" err="1"/>
              <a:t>akurasi</a:t>
            </a:r>
            <a:r>
              <a:rPr lang="en-US" sz="1050"/>
              <a:t>?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E02D1-1DCC-4572-8F68-0B22B7367D19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5000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 err="1"/>
              <a:t>Gmn</a:t>
            </a:r>
            <a:r>
              <a:rPr lang="en-US" sz="1050" dirty="0"/>
              <a:t> </a:t>
            </a:r>
            <a:r>
              <a:rPr lang="en-US" sz="1050" dirty="0" err="1"/>
              <a:t>caranya</a:t>
            </a:r>
            <a:r>
              <a:rPr lang="en-US" sz="1050" dirty="0"/>
              <a:t> </a:t>
            </a:r>
            <a:r>
              <a:rPr lang="en-US" sz="1050" dirty="0" err="1"/>
              <a:t>ada</a:t>
            </a:r>
            <a:r>
              <a:rPr lang="en-US" sz="1050" dirty="0"/>
              <a:t> super admin, </a:t>
            </a:r>
          </a:p>
          <a:p>
            <a:r>
              <a:rPr lang="en-US" sz="1050" dirty="0" err="1"/>
              <a:t>Kentosan</a:t>
            </a:r>
            <a:r>
              <a:rPr lang="en-US" sz="1050" dirty="0"/>
              <a:t> </a:t>
            </a:r>
            <a:r>
              <a:rPr lang="en-US" sz="1050" dirty="0" err="1"/>
              <a:t>dimasukkan</a:t>
            </a:r>
            <a:r>
              <a:rPr lang="en-US" sz="1050" dirty="0"/>
              <a:t>.</a:t>
            </a:r>
          </a:p>
          <a:p>
            <a:r>
              <a:rPr lang="en-US" sz="1050" dirty="0"/>
              <a:t>Dashboard </a:t>
            </a:r>
            <a:r>
              <a:rPr lang="en-US" sz="1050" dirty="0" err="1"/>
              <a:t>masih</a:t>
            </a:r>
            <a:r>
              <a:rPr lang="en-US" sz="1050" dirty="0"/>
              <a:t> </a:t>
            </a:r>
            <a:r>
              <a:rPr lang="en-US" sz="1050" dirty="0" err="1"/>
              <a:t>dari</a:t>
            </a:r>
            <a:r>
              <a:rPr lang="en-US" sz="1050" dirty="0"/>
              <a:t> PMNP, </a:t>
            </a:r>
          </a:p>
          <a:p>
            <a:r>
              <a:rPr lang="en-US" sz="1050" dirty="0" err="1"/>
              <a:t>Tgl</a:t>
            </a:r>
            <a:r>
              <a:rPr lang="en-US" sz="1050" dirty="0"/>
              <a:t> 4 </a:t>
            </a:r>
            <a:r>
              <a:rPr lang="en-US" sz="1050" dirty="0" err="1"/>
              <a:t>mei</a:t>
            </a:r>
            <a:r>
              <a:rPr lang="en-US" sz="1050" dirty="0"/>
              <a:t>, </a:t>
            </a:r>
            <a:r>
              <a:rPr lang="en-US" sz="1050" dirty="0" err="1"/>
              <a:t>ada</a:t>
            </a:r>
            <a:r>
              <a:rPr lang="en-US" sz="1050" dirty="0"/>
              <a:t> review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bapak</a:t>
            </a:r>
            <a:r>
              <a:rPr lang="en-US" sz="1050" dirty="0"/>
              <a:t> VPA, </a:t>
            </a:r>
            <a:r>
              <a:rPr lang="en-US" sz="1050" dirty="0" err="1"/>
              <a:t>siapkan</a:t>
            </a:r>
            <a:r>
              <a:rPr lang="en-US" sz="1050" dirty="0"/>
              <a:t> </a:t>
            </a:r>
            <a:r>
              <a:rPr lang="en-US" sz="1050" dirty="0" err="1"/>
              <a:t>materinya</a:t>
            </a:r>
            <a:r>
              <a:rPr lang="en-US" sz="1050" dirty="0"/>
              <a:t>.</a:t>
            </a:r>
          </a:p>
          <a:p>
            <a:endParaRPr lang="en-US" sz="1050" dirty="0"/>
          </a:p>
          <a:p>
            <a:pPr marL="228600" indent="-228600">
              <a:buAutoNum type="arabicPeriod"/>
            </a:pPr>
            <a:r>
              <a:rPr lang="en-US" sz="1050" dirty="0" err="1"/>
              <a:t>Sejauh</a:t>
            </a:r>
            <a:r>
              <a:rPr lang="en-US" sz="1050" dirty="0"/>
              <a:t> mana </a:t>
            </a:r>
            <a:r>
              <a:rPr lang="en-US" sz="1050" dirty="0" err="1"/>
              <a:t>penggunaan</a:t>
            </a:r>
            <a:r>
              <a:rPr lang="en-US" sz="1050" dirty="0"/>
              <a:t> quick win </a:t>
            </a:r>
            <a:r>
              <a:rPr lang="en-US" sz="1050" dirty="0" err="1"/>
              <a:t>dengan</a:t>
            </a:r>
            <a:r>
              <a:rPr lang="en-US" sz="1050" dirty="0"/>
              <a:t> PMNP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krn</a:t>
            </a:r>
            <a:r>
              <a:rPr lang="en-US" sz="1050" dirty="0"/>
              <a:t> </a:t>
            </a:r>
            <a:r>
              <a:rPr lang="en-US" sz="1050" dirty="0" err="1"/>
              <a:t>jangka</a:t>
            </a:r>
            <a:r>
              <a:rPr lang="en-US" sz="1050" dirty="0"/>
              <a:t> Panjang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akan</a:t>
            </a:r>
            <a:r>
              <a:rPr lang="en-US" sz="1050" dirty="0"/>
              <a:t> </a:t>
            </a:r>
            <a:r>
              <a:rPr lang="en-US" sz="1050" dirty="0" err="1"/>
              <a:t>membuat</a:t>
            </a:r>
            <a:r>
              <a:rPr lang="en-US" sz="1050" dirty="0"/>
              <a:t>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sempurna</a:t>
            </a:r>
            <a:r>
              <a:rPr lang="en-US" sz="1050" dirty="0"/>
              <a:t>, </a:t>
            </a:r>
            <a:r>
              <a:rPr lang="en-US" sz="1050" dirty="0" err="1"/>
              <a:t>jalan</a:t>
            </a:r>
            <a:r>
              <a:rPr lang="en-US" sz="1050" dirty="0"/>
              <a:t> </a:t>
            </a:r>
            <a:r>
              <a:rPr lang="en-US" sz="1050" dirty="0" err="1"/>
              <a:t>aja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 </a:t>
            </a:r>
            <a:r>
              <a:rPr lang="en-US" sz="1050" dirty="0" err="1"/>
              <a:t>inikan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uji </a:t>
            </a:r>
            <a:r>
              <a:rPr lang="en-US" sz="1050" dirty="0" err="1"/>
              <a:t>coba</a:t>
            </a:r>
            <a:r>
              <a:rPr lang="en-US" sz="1050" dirty="0"/>
              <a:t> (</a:t>
            </a:r>
            <a:r>
              <a:rPr lang="en-US" sz="1050" dirty="0" err="1"/>
              <a:t>apa</a:t>
            </a:r>
            <a:r>
              <a:rPr lang="en-US" sz="1050" dirty="0"/>
              <a:t> </a:t>
            </a:r>
            <a:r>
              <a:rPr lang="en-US" sz="1050" dirty="0" err="1"/>
              <a:t>perbedaan</a:t>
            </a:r>
            <a:r>
              <a:rPr lang="en-US" sz="1050" dirty="0"/>
              <a:t> user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smart field survey </a:t>
            </a:r>
            <a:r>
              <a:rPr lang="en-US" sz="1050" dirty="0" err="1"/>
              <a:t>yg</a:t>
            </a:r>
            <a:r>
              <a:rPr lang="en-US" sz="1050" dirty="0"/>
              <a:t> di </a:t>
            </a:r>
            <a:r>
              <a:rPr lang="en-US" sz="1050" dirty="0" err="1"/>
              <a:t>eFACT</a:t>
            </a:r>
            <a:r>
              <a:rPr lang="en-US" sz="1050" dirty="0"/>
              <a:t>) </a:t>
            </a:r>
            <a:r>
              <a:rPr lang="en-US" sz="1050" dirty="0" err="1"/>
              <a:t>kalau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 orang </a:t>
            </a: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tambahannya</a:t>
            </a:r>
            <a:r>
              <a:rPr lang="en-US" sz="1050" dirty="0"/>
              <a:t>. </a:t>
            </a:r>
            <a:r>
              <a:rPr lang="en-US" sz="1050" dirty="0" err="1"/>
              <a:t>Fyi</a:t>
            </a:r>
            <a:r>
              <a:rPr lang="en-US" sz="1050" dirty="0"/>
              <a:t>, </a:t>
            </a:r>
            <a:r>
              <a:rPr lang="en-US" sz="1050" dirty="0" err="1"/>
              <a:t>untuk</a:t>
            </a:r>
            <a:r>
              <a:rPr lang="en-US" sz="1050" dirty="0"/>
              <a:t> review </a:t>
            </a:r>
            <a:r>
              <a:rPr lang="en-US" sz="1050" dirty="0" err="1"/>
              <a:t>itu</a:t>
            </a:r>
            <a:r>
              <a:rPr lang="en-US" sz="1050" dirty="0"/>
              <a:t> </a:t>
            </a:r>
            <a:r>
              <a:rPr lang="en-US" sz="1050" dirty="0" err="1"/>
              <a:t>tidak</a:t>
            </a:r>
            <a:r>
              <a:rPr lang="en-US" sz="1050" dirty="0"/>
              <a:t> </a:t>
            </a:r>
            <a:r>
              <a:rPr lang="en-US" sz="1050" dirty="0" err="1"/>
              <a:t>lagi</a:t>
            </a:r>
            <a:r>
              <a:rPr lang="en-US" sz="1050" dirty="0"/>
              <a:t> 3 </a:t>
            </a:r>
            <a:r>
              <a:rPr lang="en-US" sz="1050" dirty="0" err="1"/>
              <a:t>bulanan</a:t>
            </a:r>
            <a:r>
              <a:rPr lang="en-US" sz="1050" dirty="0"/>
              <a:t>, </a:t>
            </a:r>
            <a:r>
              <a:rPr lang="en-US" sz="1050" dirty="0" err="1"/>
              <a:t>manunya</a:t>
            </a:r>
            <a:r>
              <a:rPr lang="en-US" sz="1050" dirty="0"/>
              <a:t> 1 </a:t>
            </a:r>
            <a:r>
              <a:rPr lang="en-US" sz="1050" dirty="0" err="1"/>
              <a:t>minggu</a:t>
            </a:r>
            <a:r>
              <a:rPr lang="en-US" sz="1050" dirty="0"/>
              <a:t>, </a:t>
            </a:r>
            <a:r>
              <a:rPr lang="en-US" sz="1050" dirty="0" err="1"/>
              <a:t>projek</a:t>
            </a:r>
            <a:r>
              <a:rPr lang="en-US" sz="1050" dirty="0"/>
              <a:t> urgent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langsung</a:t>
            </a:r>
            <a:r>
              <a:rPr lang="en-US" sz="1050" dirty="0"/>
              <a:t> </a:t>
            </a:r>
            <a:r>
              <a:rPr lang="en-US" sz="1050" dirty="0" err="1"/>
              <a:t>maju</a:t>
            </a:r>
            <a:r>
              <a:rPr lang="en-US" sz="1050" dirty="0"/>
              <a:t> per 2 jam. Kita </a:t>
            </a:r>
            <a:r>
              <a:rPr lang="en-US" sz="1050" dirty="0" err="1"/>
              <a:t>bawa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Analisa cost </a:t>
            </a:r>
            <a:r>
              <a:rPr lang="en-US" sz="1050" dirty="0" err="1"/>
              <a:t>nya</a:t>
            </a:r>
            <a:r>
              <a:rPr lang="en-US" sz="1050" dirty="0"/>
              <a:t>, </a:t>
            </a:r>
            <a:r>
              <a:rPr lang="en-US" sz="1050" dirty="0" err="1"/>
              <a:t>supaya</a:t>
            </a:r>
            <a:r>
              <a:rPr lang="en-US" sz="1050" dirty="0"/>
              <a:t> </a:t>
            </a:r>
            <a:r>
              <a:rPr lang="en-US" sz="1050" dirty="0" err="1"/>
              <a:t>lebih</a:t>
            </a:r>
            <a:r>
              <a:rPr lang="en-US" sz="1050" dirty="0"/>
              <a:t> </a:t>
            </a:r>
            <a:r>
              <a:rPr lang="en-US" sz="1050" dirty="0" err="1"/>
              <a:t>murah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Maunya</a:t>
            </a:r>
            <a:r>
              <a:rPr lang="en-US" sz="1050" dirty="0"/>
              <a:t> </a:t>
            </a:r>
            <a:r>
              <a:rPr lang="en-US" sz="1050" dirty="0" err="1"/>
              <a:t>tetap</a:t>
            </a:r>
            <a:r>
              <a:rPr lang="en-US" sz="1050" dirty="0"/>
              <a:t> </a:t>
            </a:r>
            <a:r>
              <a:rPr lang="en-US" sz="1050" dirty="0" err="1"/>
              <a:t>narik</a:t>
            </a:r>
            <a:r>
              <a:rPr lang="en-US" sz="1050" dirty="0"/>
              <a:t> </a:t>
            </a:r>
            <a:r>
              <a:rPr lang="en-US" sz="1050" dirty="0" err="1"/>
              <a:t>petanya</a:t>
            </a:r>
            <a:r>
              <a:rPr lang="en-US" sz="1050" dirty="0"/>
              <a:t> PMNP,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aplikasi</a:t>
            </a:r>
            <a:r>
              <a:rPr lang="en-US" sz="1050" dirty="0"/>
              <a:t> </a:t>
            </a:r>
            <a:r>
              <a:rPr lang="en-US" sz="1050" dirty="0" err="1"/>
              <a:t>diskusi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, proposal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bebeapa</a:t>
            </a:r>
            <a:r>
              <a:rPr lang="en-US" sz="1050" dirty="0"/>
              <a:t> view.  Keputusan </a:t>
            </a:r>
            <a:r>
              <a:rPr lang="en-US" sz="1050" dirty="0" err="1"/>
              <a:t>berdasarkan</a:t>
            </a:r>
            <a:r>
              <a:rPr lang="en-US" sz="1050" dirty="0"/>
              <a:t> scientific justification.</a:t>
            </a:r>
          </a:p>
          <a:p>
            <a:pPr marL="228600" indent="-228600">
              <a:buAutoNum type="arabicPeriod"/>
            </a:pPr>
            <a:r>
              <a:rPr lang="en-US" sz="1050" dirty="0"/>
              <a:t>Kita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masukkan</a:t>
            </a:r>
            <a:r>
              <a:rPr lang="en-US" sz="1050" dirty="0"/>
              <a:t>, </a:t>
            </a:r>
            <a:r>
              <a:rPr lang="en-US" sz="1050" dirty="0" err="1"/>
              <a:t>sama</a:t>
            </a:r>
            <a:r>
              <a:rPr lang="en-US" sz="1050" dirty="0"/>
              <a:t> </a:t>
            </a:r>
            <a:r>
              <a:rPr lang="en-US" sz="1050" dirty="0" err="1"/>
              <a:t>pak</a:t>
            </a:r>
            <a:r>
              <a:rPr lang="en-US" sz="1050" dirty="0"/>
              <a:t> </a:t>
            </a:r>
            <a:r>
              <a:rPr lang="en-US" sz="1050" dirty="0" err="1"/>
              <a:t>Sumario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Ke</a:t>
            </a:r>
            <a:r>
              <a:rPr lang="en-US" sz="1050" dirty="0"/>
              <a:t> Pak </a:t>
            </a:r>
            <a:r>
              <a:rPr lang="en-US" sz="1050" dirty="0" err="1"/>
              <a:t>HoU</a:t>
            </a:r>
            <a:r>
              <a:rPr lang="en-US" sz="1050" dirty="0"/>
              <a:t> </a:t>
            </a:r>
            <a:r>
              <a:rPr lang="en-US" sz="1050" dirty="0" err="1"/>
              <a:t>sudah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comparison.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Aplikasinya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dampak</a:t>
            </a:r>
            <a:r>
              <a:rPr lang="en-US" sz="1050" dirty="0"/>
              <a:t> </a:t>
            </a:r>
            <a:r>
              <a:rPr lang="en-US" sz="1050" dirty="0" err="1"/>
              <a:t>akurasi</a:t>
            </a:r>
            <a:r>
              <a:rPr lang="en-US" sz="1050"/>
              <a:t>?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E02D1-1DCC-4572-8F68-0B22B7367D1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614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 err="1"/>
              <a:t>Gmn</a:t>
            </a:r>
            <a:r>
              <a:rPr lang="en-US" sz="1050" dirty="0"/>
              <a:t> </a:t>
            </a:r>
            <a:r>
              <a:rPr lang="en-US" sz="1050" dirty="0" err="1"/>
              <a:t>caranya</a:t>
            </a:r>
            <a:r>
              <a:rPr lang="en-US" sz="1050" dirty="0"/>
              <a:t> </a:t>
            </a:r>
            <a:r>
              <a:rPr lang="en-US" sz="1050" dirty="0" err="1"/>
              <a:t>ada</a:t>
            </a:r>
            <a:r>
              <a:rPr lang="en-US" sz="1050" dirty="0"/>
              <a:t> super admin, </a:t>
            </a:r>
          </a:p>
          <a:p>
            <a:r>
              <a:rPr lang="en-US" sz="1050" dirty="0" err="1"/>
              <a:t>Kentosan</a:t>
            </a:r>
            <a:r>
              <a:rPr lang="en-US" sz="1050" dirty="0"/>
              <a:t> </a:t>
            </a:r>
            <a:r>
              <a:rPr lang="en-US" sz="1050" dirty="0" err="1"/>
              <a:t>dimasukkan</a:t>
            </a:r>
            <a:r>
              <a:rPr lang="en-US" sz="1050" dirty="0"/>
              <a:t>.</a:t>
            </a:r>
          </a:p>
          <a:p>
            <a:r>
              <a:rPr lang="en-US" sz="1050" dirty="0"/>
              <a:t>Dashboard </a:t>
            </a:r>
            <a:r>
              <a:rPr lang="en-US" sz="1050" dirty="0" err="1"/>
              <a:t>masih</a:t>
            </a:r>
            <a:r>
              <a:rPr lang="en-US" sz="1050" dirty="0"/>
              <a:t> </a:t>
            </a:r>
            <a:r>
              <a:rPr lang="en-US" sz="1050" dirty="0" err="1"/>
              <a:t>dari</a:t>
            </a:r>
            <a:r>
              <a:rPr lang="en-US" sz="1050" dirty="0"/>
              <a:t> PMNP, </a:t>
            </a:r>
          </a:p>
          <a:p>
            <a:r>
              <a:rPr lang="en-US" sz="1050" dirty="0" err="1"/>
              <a:t>Tgl</a:t>
            </a:r>
            <a:r>
              <a:rPr lang="en-US" sz="1050" dirty="0"/>
              <a:t> 4 </a:t>
            </a:r>
            <a:r>
              <a:rPr lang="en-US" sz="1050" dirty="0" err="1"/>
              <a:t>mei</a:t>
            </a:r>
            <a:r>
              <a:rPr lang="en-US" sz="1050" dirty="0"/>
              <a:t>, </a:t>
            </a:r>
            <a:r>
              <a:rPr lang="en-US" sz="1050" dirty="0" err="1"/>
              <a:t>ada</a:t>
            </a:r>
            <a:r>
              <a:rPr lang="en-US" sz="1050" dirty="0"/>
              <a:t> review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bapak</a:t>
            </a:r>
            <a:r>
              <a:rPr lang="en-US" sz="1050" dirty="0"/>
              <a:t> VPA, </a:t>
            </a:r>
            <a:r>
              <a:rPr lang="en-US" sz="1050" dirty="0" err="1"/>
              <a:t>siapkan</a:t>
            </a:r>
            <a:r>
              <a:rPr lang="en-US" sz="1050" dirty="0"/>
              <a:t> </a:t>
            </a:r>
            <a:r>
              <a:rPr lang="en-US" sz="1050" dirty="0" err="1"/>
              <a:t>materinya</a:t>
            </a:r>
            <a:r>
              <a:rPr lang="en-US" sz="1050" dirty="0"/>
              <a:t>.</a:t>
            </a:r>
          </a:p>
          <a:p>
            <a:endParaRPr lang="en-US" sz="1050" dirty="0"/>
          </a:p>
          <a:p>
            <a:pPr marL="228600" indent="-228600">
              <a:buAutoNum type="arabicPeriod"/>
            </a:pPr>
            <a:r>
              <a:rPr lang="en-US" sz="1050" dirty="0" err="1"/>
              <a:t>Sejauh</a:t>
            </a:r>
            <a:r>
              <a:rPr lang="en-US" sz="1050" dirty="0"/>
              <a:t> mana </a:t>
            </a:r>
            <a:r>
              <a:rPr lang="en-US" sz="1050" dirty="0" err="1"/>
              <a:t>penggunaan</a:t>
            </a:r>
            <a:r>
              <a:rPr lang="en-US" sz="1050" dirty="0"/>
              <a:t> quick win </a:t>
            </a:r>
            <a:r>
              <a:rPr lang="en-US" sz="1050" dirty="0" err="1"/>
              <a:t>dengan</a:t>
            </a:r>
            <a:r>
              <a:rPr lang="en-US" sz="1050" dirty="0"/>
              <a:t> PMNP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krn</a:t>
            </a:r>
            <a:r>
              <a:rPr lang="en-US" sz="1050" dirty="0"/>
              <a:t> </a:t>
            </a:r>
            <a:r>
              <a:rPr lang="en-US" sz="1050" dirty="0" err="1"/>
              <a:t>jangka</a:t>
            </a:r>
            <a:r>
              <a:rPr lang="en-US" sz="1050" dirty="0"/>
              <a:t> Panjang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akan</a:t>
            </a:r>
            <a:r>
              <a:rPr lang="en-US" sz="1050" dirty="0"/>
              <a:t> </a:t>
            </a:r>
            <a:r>
              <a:rPr lang="en-US" sz="1050" dirty="0" err="1"/>
              <a:t>membuat</a:t>
            </a:r>
            <a:r>
              <a:rPr lang="en-US" sz="1050" dirty="0"/>
              <a:t>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sempurna</a:t>
            </a:r>
            <a:r>
              <a:rPr lang="en-US" sz="1050" dirty="0"/>
              <a:t>, </a:t>
            </a:r>
            <a:r>
              <a:rPr lang="en-US" sz="1050" dirty="0" err="1"/>
              <a:t>jalan</a:t>
            </a:r>
            <a:r>
              <a:rPr lang="en-US" sz="1050" dirty="0"/>
              <a:t> </a:t>
            </a:r>
            <a:r>
              <a:rPr lang="en-US" sz="1050" dirty="0" err="1"/>
              <a:t>aja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 </a:t>
            </a:r>
            <a:r>
              <a:rPr lang="en-US" sz="1050" dirty="0" err="1"/>
              <a:t>inikan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uji </a:t>
            </a:r>
            <a:r>
              <a:rPr lang="en-US" sz="1050" dirty="0" err="1"/>
              <a:t>coba</a:t>
            </a:r>
            <a:r>
              <a:rPr lang="en-US" sz="1050" dirty="0"/>
              <a:t> (</a:t>
            </a:r>
            <a:r>
              <a:rPr lang="en-US" sz="1050" dirty="0" err="1"/>
              <a:t>apa</a:t>
            </a:r>
            <a:r>
              <a:rPr lang="en-US" sz="1050" dirty="0"/>
              <a:t> </a:t>
            </a:r>
            <a:r>
              <a:rPr lang="en-US" sz="1050" dirty="0" err="1"/>
              <a:t>perbedaan</a:t>
            </a:r>
            <a:r>
              <a:rPr lang="en-US" sz="1050" dirty="0"/>
              <a:t> user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smart field survey </a:t>
            </a:r>
            <a:r>
              <a:rPr lang="en-US" sz="1050" dirty="0" err="1"/>
              <a:t>yg</a:t>
            </a:r>
            <a:r>
              <a:rPr lang="en-US" sz="1050" dirty="0"/>
              <a:t> di </a:t>
            </a:r>
            <a:r>
              <a:rPr lang="en-US" sz="1050" dirty="0" err="1"/>
              <a:t>eFACT</a:t>
            </a:r>
            <a:r>
              <a:rPr lang="en-US" sz="1050" dirty="0"/>
              <a:t>) </a:t>
            </a:r>
            <a:r>
              <a:rPr lang="en-US" sz="1050" dirty="0" err="1"/>
              <a:t>kalau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 orang </a:t>
            </a: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tambahannya</a:t>
            </a:r>
            <a:r>
              <a:rPr lang="en-US" sz="1050" dirty="0"/>
              <a:t>. </a:t>
            </a:r>
            <a:r>
              <a:rPr lang="en-US" sz="1050" dirty="0" err="1"/>
              <a:t>Fyi</a:t>
            </a:r>
            <a:r>
              <a:rPr lang="en-US" sz="1050" dirty="0"/>
              <a:t>, </a:t>
            </a:r>
            <a:r>
              <a:rPr lang="en-US" sz="1050" dirty="0" err="1"/>
              <a:t>untuk</a:t>
            </a:r>
            <a:r>
              <a:rPr lang="en-US" sz="1050" dirty="0"/>
              <a:t> review </a:t>
            </a:r>
            <a:r>
              <a:rPr lang="en-US" sz="1050" dirty="0" err="1"/>
              <a:t>itu</a:t>
            </a:r>
            <a:r>
              <a:rPr lang="en-US" sz="1050" dirty="0"/>
              <a:t> </a:t>
            </a:r>
            <a:r>
              <a:rPr lang="en-US" sz="1050" dirty="0" err="1"/>
              <a:t>tidak</a:t>
            </a:r>
            <a:r>
              <a:rPr lang="en-US" sz="1050" dirty="0"/>
              <a:t> </a:t>
            </a:r>
            <a:r>
              <a:rPr lang="en-US" sz="1050" dirty="0" err="1"/>
              <a:t>lagi</a:t>
            </a:r>
            <a:r>
              <a:rPr lang="en-US" sz="1050" dirty="0"/>
              <a:t> 3 </a:t>
            </a:r>
            <a:r>
              <a:rPr lang="en-US" sz="1050" dirty="0" err="1"/>
              <a:t>bulanan</a:t>
            </a:r>
            <a:r>
              <a:rPr lang="en-US" sz="1050" dirty="0"/>
              <a:t>, </a:t>
            </a:r>
            <a:r>
              <a:rPr lang="en-US" sz="1050" dirty="0" err="1"/>
              <a:t>manunya</a:t>
            </a:r>
            <a:r>
              <a:rPr lang="en-US" sz="1050" dirty="0"/>
              <a:t> 1 </a:t>
            </a:r>
            <a:r>
              <a:rPr lang="en-US" sz="1050" dirty="0" err="1"/>
              <a:t>minggu</a:t>
            </a:r>
            <a:r>
              <a:rPr lang="en-US" sz="1050" dirty="0"/>
              <a:t>, </a:t>
            </a:r>
            <a:r>
              <a:rPr lang="en-US" sz="1050" dirty="0" err="1"/>
              <a:t>projek</a:t>
            </a:r>
            <a:r>
              <a:rPr lang="en-US" sz="1050" dirty="0"/>
              <a:t> urgent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langsung</a:t>
            </a:r>
            <a:r>
              <a:rPr lang="en-US" sz="1050" dirty="0"/>
              <a:t> </a:t>
            </a:r>
            <a:r>
              <a:rPr lang="en-US" sz="1050" dirty="0" err="1"/>
              <a:t>maju</a:t>
            </a:r>
            <a:r>
              <a:rPr lang="en-US" sz="1050" dirty="0"/>
              <a:t> per 2 jam. Kita </a:t>
            </a:r>
            <a:r>
              <a:rPr lang="en-US" sz="1050" dirty="0" err="1"/>
              <a:t>bawa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Analisa cost </a:t>
            </a:r>
            <a:r>
              <a:rPr lang="en-US" sz="1050" dirty="0" err="1"/>
              <a:t>nya</a:t>
            </a:r>
            <a:r>
              <a:rPr lang="en-US" sz="1050" dirty="0"/>
              <a:t>, </a:t>
            </a:r>
            <a:r>
              <a:rPr lang="en-US" sz="1050" dirty="0" err="1"/>
              <a:t>supaya</a:t>
            </a:r>
            <a:r>
              <a:rPr lang="en-US" sz="1050" dirty="0"/>
              <a:t> </a:t>
            </a:r>
            <a:r>
              <a:rPr lang="en-US" sz="1050" dirty="0" err="1"/>
              <a:t>lebih</a:t>
            </a:r>
            <a:r>
              <a:rPr lang="en-US" sz="1050" dirty="0"/>
              <a:t> </a:t>
            </a:r>
            <a:r>
              <a:rPr lang="en-US" sz="1050" dirty="0" err="1"/>
              <a:t>murah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Maunya</a:t>
            </a:r>
            <a:r>
              <a:rPr lang="en-US" sz="1050" dirty="0"/>
              <a:t> </a:t>
            </a:r>
            <a:r>
              <a:rPr lang="en-US" sz="1050" dirty="0" err="1"/>
              <a:t>tetap</a:t>
            </a:r>
            <a:r>
              <a:rPr lang="en-US" sz="1050" dirty="0"/>
              <a:t> </a:t>
            </a:r>
            <a:r>
              <a:rPr lang="en-US" sz="1050" dirty="0" err="1"/>
              <a:t>narik</a:t>
            </a:r>
            <a:r>
              <a:rPr lang="en-US" sz="1050" dirty="0"/>
              <a:t> </a:t>
            </a:r>
            <a:r>
              <a:rPr lang="en-US" sz="1050" dirty="0" err="1"/>
              <a:t>petanya</a:t>
            </a:r>
            <a:r>
              <a:rPr lang="en-US" sz="1050" dirty="0"/>
              <a:t> PMNP,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aplikasi</a:t>
            </a:r>
            <a:r>
              <a:rPr lang="en-US" sz="1050" dirty="0"/>
              <a:t> </a:t>
            </a:r>
            <a:r>
              <a:rPr lang="en-US" sz="1050" dirty="0" err="1"/>
              <a:t>diskusi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, proposal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bebeapa</a:t>
            </a:r>
            <a:r>
              <a:rPr lang="en-US" sz="1050" dirty="0"/>
              <a:t> view.  Keputusan </a:t>
            </a:r>
            <a:r>
              <a:rPr lang="en-US" sz="1050" dirty="0" err="1"/>
              <a:t>berdasarkan</a:t>
            </a:r>
            <a:r>
              <a:rPr lang="en-US" sz="1050" dirty="0"/>
              <a:t> scientific justification.</a:t>
            </a:r>
          </a:p>
          <a:p>
            <a:pPr marL="228600" indent="-228600">
              <a:buAutoNum type="arabicPeriod"/>
            </a:pPr>
            <a:r>
              <a:rPr lang="en-US" sz="1050" dirty="0"/>
              <a:t>Kita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masukkan</a:t>
            </a:r>
            <a:r>
              <a:rPr lang="en-US" sz="1050" dirty="0"/>
              <a:t>, </a:t>
            </a:r>
            <a:r>
              <a:rPr lang="en-US" sz="1050" dirty="0" err="1"/>
              <a:t>sama</a:t>
            </a:r>
            <a:r>
              <a:rPr lang="en-US" sz="1050" dirty="0"/>
              <a:t> </a:t>
            </a:r>
            <a:r>
              <a:rPr lang="en-US" sz="1050" dirty="0" err="1"/>
              <a:t>pak</a:t>
            </a:r>
            <a:r>
              <a:rPr lang="en-US" sz="1050" dirty="0"/>
              <a:t> </a:t>
            </a:r>
            <a:r>
              <a:rPr lang="en-US" sz="1050" dirty="0" err="1"/>
              <a:t>Sumario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Ke</a:t>
            </a:r>
            <a:r>
              <a:rPr lang="en-US" sz="1050" dirty="0"/>
              <a:t> Pak </a:t>
            </a:r>
            <a:r>
              <a:rPr lang="en-US" sz="1050" dirty="0" err="1"/>
              <a:t>HoU</a:t>
            </a:r>
            <a:r>
              <a:rPr lang="en-US" sz="1050" dirty="0"/>
              <a:t> </a:t>
            </a:r>
            <a:r>
              <a:rPr lang="en-US" sz="1050" dirty="0" err="1"/>
              <a:t>sudah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comparison.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Aplikasinya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dampak</a:t>
            </a:r>
            <a:r>
              <a:rPr lang="en-US" sz="1050" dirty="0"/>
              <a:t> </a:t>
            </a:r>
            <a:r>
              <a:rPr lang="en-US" sz="1050" dirty="0" err="1"/>
              <a:t>akurasi</a:t>
            </a:r>
            <a:r>
              <a:rPr lang="en-US" sz="1050"/>
              <a:t>?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E02D1-1DCC-4572-8F68-0B22B7367D19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21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 err="1"/>
              <a:t>Gmn</a:t>
            </a:r>
            <a:r>
              <a:rPr lang="en-US" sz="1050" dirty="0"/>
              <a:t> </a:t>
            </a:r>
            <a:r>
              <a:rPr lang="en-US" sz="1050" dirty="0" err="1"/>
              <a:t>caranya</a:t>
            </a:r>
            <a:r>
              <a:rPr lang="en-US" sz="1050" dirty="0"/>
              <a:t> </a:t>
            </a:r>
            <a:r>
              <a:rPr lang="en-US" sz="1050" dirty="0" err="1"/>
              <a:t>ada</a:t>
            </a:r>
            <a:r>
              <a:rPr lang="en-US" sz="1050" dirty="0"/>
              <a:t> super admin, </a:t>
            </a:r>
          </a:p>
          <a:p>
            <a:r>
              <a:rPr lang="en-US" sz="1050" dirty="0" err="1"/>
              <a:t>Kentosan</a:t>
            </a:r>
            <a:r>
              <a:rPr lang="en-US" sz="1050" dirty="0"/>
              <a:t> </a:t>
            </a:r>
            <a:r>
              <a:rPr lang="en-US" sz="1050" dirty="0" err="1"/>
              <a:t>dimasukkan</a:t>
            </a:r>
            <a:r>
              <a:rPr lang="en-US" sz="1050" dirty="0"/>
              <a:t>.</a:t>
            </a:r>
          </a:p>
          <a:p>
            <a:r>
              <a:rPr lang="en-US" sz="1050" dirty="0"/>
              <a:t>Dashboard </a:t>
            </a:r>
            <a:r>
              <a:rPr lang="en-US" sz="1050" dirty="0" err="1"/>
              <a:t>masih</a:t>
            </a:r>
            <a:r>
              <a:rPr lang="en-US" sz="1050" dirty="0"/>
              <a:t> </a:t>
            </a:r>
            <a:r>
              <a:rPr lang="en-US" sz="1050" dirty="0" err="1"/>
              <a:t>dari</a:t>
            </a:r>
            <a:r>
              <a:rPr lang="en-US" sz="1050" dirty="0"/>
              <a:t> PMNP, </a:t>
            </a:r>
          </a:p>
          <a:p>
            <a:r>
              <a:rPr lang="en-US" sz="1050" dirty="0" err="1"/>
              <a:t>Tgl</a:t>
            </a:r>
            <a:r>
              <a:rPr lang="en-US" sz="1050" dirty="0"/>
              <a:t> 4 </a:t>
            </a:r>
            <a:r>
              <a:rPr lang="en-US" sz="1050" dirty="0" err="1"/>
              <a:t>mei</a:t>
            </a:r>
            <a:r>
              <a:rPr lang="en-US" sz="1050" dirty="0"/>
              <a:t>, </a:t>
            </a:r>
            <a:r>
              <a:rPr lang="en-US" sz="1050" dirty="0" err="1"/>
              <a:t>ada</a:t>
            </a:r>
            <a:r>
              <a:rPr lang="en-US" sz="1050" dirty="0"/>
              <a:t> review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bapak</a:t>
            </a:r>
            <a:r>
              <a:rPr lang="en-US" sz="1050" dirty="0"/>
              <a:t> VPA, </a:t>
            </a:r>
            <a:r>
              <a:rPr lang="en-US" sz="1050" dirty="0" err="1"/>
              <a:t>siapkan</a:t>
            </a:r>
            <a:r>
              <a:rPr lang="en-US" sz="1050" dirty="0"/>
              <a:t> </a:t>
            </a:r>
            <a:r>
              <a:rPr lang="en-US" sz="1050" dirty="0" err="1"/>
              <a:t>materinya</a:t>
            </a:r>
            <a:r>
              <a:rPr lang="en-US" sz="1050" dirty="0"/>
              <a:t>.</a:t>
            </a:r>
          </a:p>
          <a:p>
            <a:endParaRPr lang="en-US" sz="1050" dirty="0"/>
          </a:p>
          <a:p>
            <a:pPr marL="228600" indent="-228600">
              <a:buAutoNum type="arabicPeriod"/>
            </a:pPr>
            <a:r>
              <a:rPr lang="en-US" sz="1050" dirty="0" err="1"/>
              <a:t>Sejauh</a:t>
            </a:r>
            <a:r>
              <a:rPr lang="en-US" sz="1050" dirty="0"/>
              <a:t> mana </a:t>
            </a:r>
            <a:r>
              <a:rPr lang="en-US" sz="1050" dirty="0" err="1"/>
              <a:t>penggunaan</a:t>
            </a:r>
            <a:r>
              <a:rPr lang="en-US" sz="1050" dirty="0"/>
              <a:t> quick win </a:t>
            </a:r>
            <a:r>
              <a:rPr lang="en-US" sz="1050" dirty="0" err="1"/>
              <a:t>dengan</a:t>
            </a:r>
            <a:r>
              <a:rPr lang="en-US" sz="1050" dirty="0"/>
              <a:t> PMNP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krn</a:t>
            </a:r>
            <a:r>
              <a:rPr lang="en-US" sz="1050" dirty="0"/>
              <a:t> </a:t>
            </a:r>
            <a:r>
              <a:rPr lang="en-US" sz="1050" dirty="0" err="1"/>
              <a:t>jangka</a:t>
            </a:r>
            <a:r>
              <a:rPr lang="en-US" sz="1050" dirty="0"/>
              <a:t> Panjang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akan</a:t>
            </a:r>
            <a:r>
              <a:rPr lang="en-US" sz="1050" dirty="0"/>
              <a:t> </a:t>
            </a:r>
            <a:r>
              <a:rPr lang="en-US" sz="1050" dirty="0" err="1"/>
              <a:t>membuat</a:t>
            </a:r>
            <a:r>
              <a:rPr lang="en-US" sz="1050" dirty="0"/>
              <a:t>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sempurna</a:t>
            </a:r>
            <a:r>
              <a:rPr lang="en-US" sz="1050" dirty="0"/>
              <a:t>, </a:t>
            </a:r>
            <a:r>
              <a:rPr lang="en-US" sz="1050" dirty="0" err="1"/>
              <a:t>jalan</a:t>
            </a:r>
            <a:r>
              <a:rPr lang="en-US" sz="1050" dirty="0"/>
              <a:t> </a:t>
            </a:r>
            <a:r>
              <a:rPr lang="en-US" sz="1050" dirty="0" err="1"/>
              <a:t>aja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 </a:t>
            </a:r>
            <a:r>
              <a:rPr lang="en-US" sz="1050" dirty="0" err="1"/>
              <a:t>inikan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uji </a:t>
            </a:r>
            <a:r>
              <a:rPr lang="en-US" sz="1050" dirty="0" err="1"/>
              <a:t>coba</a:t>
            </a:r>
            <a:r>
              <a:rPr lang="en-US" sz="1050" dirty="0"/>
              <a:t> (</a:t>
            </a:r>
            <a:r>
              <a:rPr lang="en-US" sz="1050" dirty="0" err="1"/>
              <a:t>apa</a:t>
            </a:r>
            <a:r>
              <a:rPr lang="en-US" sz="1050" dirty="0"/>
              <a:t> </a:t>
            </a:r>
            <a:r>
              <a:rPr lang="en-US" sz="1050" dirty="0" err="1"/>
              <a:t>perbedaan</a:t>
            </a:r>
            <a:r>
              <a:rPr lang="en-US" sz="1050" dirty="0"/>
              <a:t> user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smart field survey </a:t>
            </a:r>
            <a:r>
              <a:rPr lang="en-US" sz="1050" dirty="0" err="1"/>
              <a:t>yg</a:t>
            </a:r>
            <a:r>
              <a:rPr lang="en-US" sz="1050" dirty="0"/>
              <a:t> di </a:t>
            </a:r>
            <a:r>
              <a:rPr lang="en-US" sz="1050" dirty="0" err="1"/>
              <a:t>eFACT</a:t>
            </a:r>
            <a:r>
              <a:rPr lang="en-US" sz="1050" dirty="0"/>
              <a:t>) </a:t>
            </a:r>
            <a:r>
              <a:rPr lang="en-US" sz="1050" dirty="0" err="1"/>
              <a:t>kalau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 orang </a:t>
            </a: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tambahannya</a:t>
            </a:r>
            <a:r>
              <a:rPr lang="en-US" sz="1050" dirty="0"/>
              <a:t>. </a:t>
            </a:r>
            <a:r>
              <a:rPr lang="en-US" sz="1050" dirty="0" err="1"/>
              <a:t>Fyi</a:t>
            </a:r>
            <a:r>
              <a:rPr lang="en-US" sz="1050" dirty="0"/>
              <a:t>, </a:t>
            </a:r>
            <a:r>
              <a:rPr lang="en-US" sz="1050" dirty="0" err="1"/>
              <a:t>untuk</a:t>
            </a:r>
            <a:r>
              <a:rPr lang="en-US" sz="1050" dirty="0"/>
              <a:t> review </a:t>
            </a:r>
            <a:r>
              <a:rPr lang="en-US" sz="1050" dirty="0" err="1"/>
              <a:t>itu</a:t>
            </a:r>
            <a:r>
              <a:rPr lang="en-US" sz="1050" dirty="0"/>
              <a:t> </a:t>
            </a:r>
            <a:r>
              <a:rPr lang="en-US" sz="1050" dirty="0" err="1"/>
              <a:t>tidak</a:t>
            </a:r>
            <a:r>
              <a:rPr lang="en-US" sz="1050" dirty="0"/>
              <a:t> </a:t>
            </a:r>
            <a:r>
              <a:rPr lang="en-US" sz="1050" dirty="0" err="1"/>
              <a:t>lagi</a:t>
            </a:r>
            <a:r>
              <a:rPr lang="en-US" sz="1050" dirty="0"/>
              <a:t> 3 </a:t>
            </a:r>
            <a:r>
              <a:rPr lang="en-US" sz="1050" dirty="0" err="1"/>
              <a:t>bulanan</a:t>
            </a:r>
            <a:r>
              <a:rPr lang="en-US" sz="1050" dirty="0"/>
              <a:t>, </a:t>
            </a:r>
            <a:r>
              <a:rPr lang="en-US" sz="1050" dirty="0" err="1"/>
              <a:t>manunya</a:t>
            </a:r>
            <a:r>
              <a:rPr lang="en-US" sz="1050" dirty="0"/>
              <a:t> 1 </a:t>
            </a:r>
            <a:r>
              <a:rPr lang="en-US" sz="1050" dirty="0" err="1"/>
              <a:t>minggu</a:t>
            </a:r>
            <a:r>
              <a:rPr lang="en-US" sz="1050" dirty="0"/>
              <a:t>, </a:t>
            </a:r>
            <a:r>
              <a:rPr lang="en-US" sz="1050" dirty="0" err="1"/>
              <a:t>projek</a:t>
            </a:r>
            <a:r>
              <a:rPr lang="en-US" sz="1050" dirty="0"/>
              <a:t> urgent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langsung</a:t>
            </a:r>
            <a:r>
              <a:rPr lang="en-US" sz="1050" dirty="0"/>
              <a:t> </a:t>
            </a:r>
            <a:r>
              <a:rPr lang="en-US" sz="1050" dirty="0" err="1"/>
              <a:t>maju</a:t>
            </a:r>
            <a:r>
              <a:rPr lang="en-US" sz="1050" dirty="0"/>
              <a:t> per 2 jam. Kita </a:t>
            </a:r>
            <a:r>
              <a:rPr lang="en-US" sz="1050" dirty="0" err="1"/>
              <a:t>bawa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Analisa cost </a:t>
            </a:r>
            <a:r>
              <a:rPr lang="en-US" sz="1050" dirty="0" err="1"/>
              <a:t>nya</a:t>
            </a:r>
            <a:r>
              <a:rPr lang="en-US" sz="1050" dirty="0"/>
              <a:t>, </a:t>
            </a:r>
            <a:r>
              <a:rPr lang="en-US" sz="1050" dirty="0" err="1"/>
              <a:t>supaya</a:t>
            </a:r>
            <a:r>
              <a:rPr lang="en-US" sz="1050" dirty="0"/>
              <a:t> </a:t>
            </a:r>
            <a:r>
              <a:rPr lang="en-US" sz="1050" dirty="0" err="1"/>
              <a:t>lebih</a:t>
            </a:r>
            <a:r>
              <a:rPr lang="en-US" sz="1050" dirty="0"/>
              <a:t> </a:t>
            </a:r>
            <a:r>
              <a:rPr lang="en-US" sz="1050" dirty="0" err="1"/>
              <a:t>murah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Maunya</a:t>
            </a:r>
            <a:r>
              <a:rPr lang="en-US" sz="1050" dirty="0"/>
              <a:t> </a:t>
            </a:r>
            <a:r>
              <a:rPr lang="en-US" sz="1050" dirty="0" err="1"/>
              <a:t>tetap</a:t>
            </a:r>
            <a:r>
              <a:rPr lang="en-US" sz="1050" dirty="0"/>
              <a:t> </a:t>
            </a:r>
            <a:r>
              <a:rPr lang="en-US" sz="1050" dirty="0" err="1"/>
              <a:t>narik</a:t>
            </a:r>
            <a:r>
              <a:rPr lang="en-US" sz="1050" dirty="0"/>
              <a:t> </a:t>
            </a:r>
            <a:r>
              <a:rPr lang="en-US" sz="1050" dirty="0" err="1"/>
              <a:t>petanya</a:t>
            </a:r>
            <a:r>
              <a:rPr lang="en-US" sz="1050" dirty="0"/>
              <a:t> PMNP,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aplikasi</a:t>
            </a:r>
            <a:r>
              <a:rPr lang="en-US" sz="1050" dirty="0"/>
              <a:t> </a:t>
            </a:r>
            <a:r>
              <a:rPr lang="en-US" sz="1050" dirty="0" err="1"/>
              <a:t>diskusi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, proposal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bebeapa</a:t>
            </a:r>
            <a:r>
              <a:rPr lang="en-US" sz="1050" dirty="0"/>
              <a:t> view.  Keputusan </a:t>
            </a:r>
            <a:r>
              <a:rPr lang="en-US" sz="1050" dirty="0" err="1"/>
              <a:t>berdasarkan</a:t>
            </a:r>
            <a:r>
              <a:rPr lang="en-US" sz="1050" dirty="0"/>
              <a:t> scientific justification.</a:t>
            </a:r>
          </a:p>
          <a:p>
            <a:pPr marL="228600" indent="-228600">
              <a:buAutoNum type="arabicPeriod"/>
            </a:pPr>
            <a:r>
              <a:rPr lang="en-US" sz="1050" dirty="0"/>
              <a:t>Kita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masukkan</a:t>
            </a:r>
            <a:r>
              <a:rPr lang="en-US" sz="1050" dirty="0"/>
              <a:t>, </a:t>
            </a:r>
            <a:r>
              <a:rPr lang="en-US" sz="1050" dirty="0" err="1"/>
              <a:t>sama</a:t>
            </a:r>
            <a:r>
              <a:rPr lang="en-US" sz="1050" dirty="0"/>
              <a:t> </a:t>
            </a:r>
            <a:r>
              <a:rPr lang="en-US" sz="1050" dirty="0" err="1"/>
              <a:t>pak</a:t>
            </a:r>
            <a:r>
              <a:rPr lang="en-US" sz="1050" dirty="0"/>
              <a:t> </a:t>
            </a:r>
            <a:r>
              <a:rPr lang="en-US" sz="1050" dirty="0" err="1"/>
              <a:t>Sumario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Ke</a:t>
            </a:r>
            <a:r>
              <a:rPr lang="en-US" sz="1050" dirty="0"/>
              <a:t> Pak </a:t>
            </a:r>
            <a:r>
              <a:rPr lang="en-US" sz="1050" dirty="0" err="1"/>
              <a:t>HoU</a:t>
            </a:r>
            <a:r>
              <a:rPr lang="en-US" sz="1050" dirty="0"/>
              <a:t> </a:t>
            </a:r>
            <a:r>
              <a:rPr lang="en-US" sz="1050" dirty="0" err="1"/>
              <a:t>sudah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comparison.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Aplikasinya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dampak</a:t>
            </a:r>
            <a:r>
              <a:rPr lang="en-US" sz="1050" dirty="0"/>
              <a:t> </a:t>
            </a:r>
            <a:r>
              <a:rPr lang="en-US" sz="1050" dirty="0" err="1"/>
              <a:t>akurasi</a:t>
            </a:r>
            <a:r>
              <a:rPr lang="en-US" sz="1050"/>
              <a:t>?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E02D1-1DCC-4572-8F68-0B22B7367D1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8825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 err="1"/>
              <a:t>Gmn</a:t>
            </a:r>
            <a:r>
              <a:rPr lang="en-US" sz="1050" dirty="0"/>
              <a:t> </a:t>
            </a:r>
            <a:r>
              <a:rPr lang="en-US" sz="1050" dirty="0" err="1"/>
              <a:t>caranya</a:t>
            </a:r>
            <a:r>
              <a:rPr lang="en-US" sz="1050" dirty="0"/>
              <a:t> </a:t>
            </a:r>
            <a:r>
              <a:rPr lang="en-US" sz="1050" dirty="0" err="1"/>
              <a:t>ada</a:t>
            </a:r>
            <a:r>
              <a:rPr lang="en-US" sz="1050" dirty="0"/>
              <a:t> super admin, </a:t>
            </a:r>
          </a:p>
          <a:p>
            <a:r>
              <a:rPr lang="en-US" sz="1050" dirty="0" err="1"/>
              <a:t>Kentosan</a:t>
            </a:r>
            <a:r>
              <a:rPr lang="en-US" sz="1050" dirty="0"/>
              <a:t> </a:t>
            </a:r>
            <a:r>
              <a:rPr lang="en-US" sz="1050" dirty="0" err="1"/>
              <a:t>dimasukkan</a:t>
            </a:r>
            <a:r>
              <a:rPr lang="en-US" sz="1050" dirty="0"/>
              <a:t>.</a:t>
            </a:r>
          </a:p>
          <a:p>
            <a:r>
              <a:rPr lang="en-US" sz="1050" dirty="0"/>
              <a:t>Dashboard </a:t>
            </a:r>
            <a:r>
              <a:rPr lang="en-US" sz="1050" dirty="0" err="1"/>
              <a:t>masih</a:t>
            </a:r>
            <a:r>
              <a:rPr lang="en-US" sz="1050" dirty="0"/>
              <a:t> </a:t>
            </a:r>
            <a:r>
              <a:rPr lang="en-US" sz="1050" dirty="0" err="1"/>
              <a:t>dari</a:t>
            </a:r>
            <a:r>
              <a:rPr lang="en-US" sz="1050" dirty="0"/>
              <a:t> PMNP, </a:t>
            </a:r>
          </a:p>
          <a:p>
            <a:r>
              <a:rPr lang="en-US" sz="1050" dirty="0" err="1"/>
              <a:t>Tgl</a:t>
            </a:r>
            <a:r>
              <a:rPr lang="en-US" sz="1050" dirty="0"/>
              <a:t> 4 </a:t>
            </a:r>
            <a:r>
              <a:rPr lang="en-US" sz="1050" dirty="0" err="1"/>
              <a:t>mei</a:t>
            </a:r>
            <a:r>
              <a:rPr lang="en-US" sz="1050" dirty="0"/>
              <a:t>, </a:t>
            </a:r>
            <a:r>
              <a:rPr lang="en-US" sz="1050" dirty="0" err="1"/>
              <a:t>ada</a:t>
            </a:r>
            <a:r>
              <a:rPr lang="en-US" sz="1050" dirty="0"/>
              <a:t> review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bapak</a:t>
            </a:r>
            <a:r>
              <a:rPr lang="en-US" sz="1050" dirty="0"/>
              <a:t> VPA, </a:t>
            </a:r>
            <a:r>
              <a:rPr lang="en-US" sz="1050" dirty="0" err="1"/>
              <a:t>siapkan</a:t>
            </a:r>
            <a:r>
              <a:rPr lang="en-US" sz="1050" dirty="0"/>
              <a:t> </a:t>
            </a:r>
            <a:r>
              <a:rPr lang="en-US" sz="1050" dirty="0" err="1"/>
              <a:t>materinya</a:t>
            </a:r>
            <a:r>
              <a:rPr lang="en-US" sz="1050" dirty="0"/>
              <a:t>.</a:t>
            </a:r>
          </a:p>
          <a:p>
            <a:endParaRPr lang="en-US" sz="1050" dirty="0"/>
          </a:p>
          <a:p>
            <a:pPr marL="228600" indent="-228600">
              <a:buAutoNum type="arabicPeriod"/>
            </a:pPr>
            <a:r>
              <a:rPr lang="en-US" sz="1050" dirty="0" err="1"/>
              <a:t>Sejauh</a:t>
            </a:r>
            <a:r>
              <a:rPr lang="en-US" sz="1050" dirty="0"/>
              <a:t> mana </a:t>
            </a:r>
            <a:r>
              <a:rPr lang="en-US" sz="1050" dirty="0" err="1"/>
              <a:t>penggunaan</a:t>
            </a:r>
            <a:r>
              <a:rPr lang="en-US" sz="1050" dirty="0"/>
              <a:t> quick win </a:t>
            </a:r>
            <a:r>
              <a:rPr lang="en-US" sz="1050" dirty="0" err="1"/>
              <a:t>dengan</a:t>
            </a:r>
            <a:r>
              <a:rPr lang="en-US" sz="1050" dirty="0"/>
              <a:t> PMNP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krn</a:t>
            </a:r>
            <a:r>
              <a:rPr lang="en-US" sz="1050" dirty="0"/>
              <a:t> </a:t>
            </a:r>
            <a:r>
              <a:rPr lang="en-US" sz="1050" dirty="0" err="1"/>
              <a:t>jangka</a:t>
            </a:r>
            <a:r>
              <a:rPr lang="en-US" sz="1050" dirty="0"/>
              <a:t> Panjang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akan</a:t>
            </a:r>
            <a:r>
              <a:rPr lang="en-US" sz="1050" dirty="0"/>
              <a:t> </a:t>
            </a:r>
            <a:r>
              <a:rPr lang="en-US" sz="1050" dirty="0" err="1"/>
              <a:t>membuat</a:t>
            </a:r>
            <a:r>
              <a:rPr lang="en-US" sz="1050" dirty="0"/>
              <a:t>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sempurna</a:t>
            </a:r>
            <a:r>
              <a:rPr lang="en-US" sz="1050" dirty="0"/>
              <a:t>, </a:t>
            </a:r>
            <a:r>
              <a:rPr lang="en-US" sz="1050" dirty="0" err="1"/>
              <a:t>jalan</a:t>
            </a:r>
            <a:r>
              <a:rPr lang="en-US" sz="1050" dirty="0"/>
              <a:t> </a:t>
            </a:r>
            <a:r>
              <a:rPr lang="en-US" sz="1050" dirty="0" err="1"/>
              <a:t>aja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 </a:t>
            </a:r>
            <a:r>
              <a:rPr lang="en-US" sz="1050" dirty="0" err="1"/>
              <a:t>inikan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uji </a:t>
            </a:r>
            <a:r>
              <a:rPr lang="en-US" sz="1050" dirty="0" err="1"/>
              <a:t>coba</a:t>
            </a:r>
            <a:r>
              <a:rPr lang="en-US" sz="1050" dirty="0"/>
              <a:t> (</a:t>
            </a:r>
            <a:r>
              <a:rPr lang="en-US" sz="1050" dirty="0" err="1"/>
              <a:t>apa</a:t>
            </a:r>
            <a:r>
              <a:rPr lang="en-US" sz="1050" dirty="0"/>
              <a:t> </a:t>
            </a:r>
            <a:r>
              <a:rPr lang="en-US" sz="1050" dirty="0" err="1"/>
              <a:t>perbedaan</a:t>
            </a:r>
            <a:r>
              <a:rPr lang="en-US" sz="1050" dirty="0"/>
              <a:t> user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smart field survey </a:t>
            </a:r>
            <a:r>
              <a:rPr lang="en-US" sz="1050" dirty="0" err="1"/>
              <a:t>yg</a:t>
            </a:r>
            <a:r>
              <a:rPr lang="en-US" sz="1050" dirty="0"/>
              <a:t> di </a:t>
            </a:r>
            <a:r>
              <a:rPr lang="en-US" sz="1050" dirty="0" err="1"/>
              <a:t>eFACT</a:t>
            </a:r>
            <a:r>
              <a:rPr lang="en-US" sz="1050" dirty="0"/>
              <a:t>) </a:t>
            </a:r>
            <a:r>
              <a:rPr lang="en-US" sz="1050" dirty="0" err="1"/>
              <a:t>kalau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 orang </a:t>
            </a: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tambahannya</a:t>
            </a:r>
            <a:r>
              <a:rPr lang="en-US" sz="1050" dirty="0"/>
              <a:t>. </a:t>
            </a:r>
            <a:r>
              <a:rPr lang="en-US" sz="1050" dirty="0" err="1"/>
              <a:t>Fyi</a:t>
            </a:r>
            <a:r>
              <a:rPr lang="en-US" sz="1050" dirty="0"/>
              <a:t>, </a:t>
            </a:r>
            <a:r>
              <a:rPr lang="en-US" sz="1050" dirty="0" err="1"/>
              <a:t>untuk</a:t>
            </a:r>
            <a:r>
              <a:rPr lang="en-US" sz="1050" dirty="0"/>
              <a:t> review </a:t>
            </a:r>
            <a:r>
              <a:rPr lang="en-US" sz="1050" dirty="0" err="1"/>
              <a:t>itu</a:t>
            </a:r>
            <a:r>
              <a:rPr lang="en-US" sz="1050" dirty="0"/>
              <a:t> </a:t>
            </a:r>
            <a:r>
              <a:rPr lang="en-US" sz="1050" dirty="0" err="1"/>
              <a:t>tidak</a:t>
            </a:r>
            <a:r>
              <a:rPr lang="en-US" sz="1050" dirty="0"/>
              <a:t> </a:t>
            </a:r>
            <a:r>
              <a:rPr lang="en-US" sz="1050" dirty="0" err="1"/>
              <a:t>lagi</a:t>
            </a:r>
            <a:r>
              <a:rPr lang="en-US" sz="1050" dirty="0"/>
              <a:t> 3 </a:t>
            </a:r>
            <a:r>
              <a:rPr lang="en-US" sz="1050" dirty="0" err="1"/>
              <a:t>bulanan</a:t>
            </a:r>
            <a:r>
              <a:rPr lang="en-US" sz="1050" dirty="0"/>
              <a:t>, </a:t>
            </a:r>
            <a:r>
              <a:rPr lang="en-US" sz="1050" dirty="0" err="1"/>
              <a:t>manunya</a:t>
            </a:r>
            <a:r>
              <a:rPr lang="en-US" sz="1050" dirty="0"/>
              <a:t> 1 </a:t>
            </a:r>
            <a:r>
              <a:rPr lang="en-US" sz="1050" dirty="0" err="1"/>
              <a:t>minggu</a:t>
            </a:r>
            <a:r>
              <a:rPr lang="en-US" sz="1050" dirty="0"/>
              <a:t>, </a:t>
            </a:r>
            <a:r>
              <a:rPr lang="en-US" sz="1050" dirty="0" err="1"/>
              <a:t>projek</a:t>
            </a:r>
            <a:r>
              <a:rPr lang="en-US" sz="1050" dirty="0"/>
              <a:t> urgent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langsung</a:t>
            </a:r>
            <a:r>
              <a:rPr lang="en-US" sz="1050" dirty="0"/>
              <a:t> </a:t>
            </a:r>
            <a:r>
              <a:rPr lang="en-US" sz="1050" dirty="0" err="1"/>
              <a:t>maju</a:t>
            </a:r>
            <a:r>
              <a:rPr lang="en-US" sz="1050" dirty="0"/>
              <a:t> per 2 jam. Kita </a:t>
            </a:r>
            <a:r>
              <a:rPr lang="en-US" sz="1050" dirty="0" err="1"/>
              <a:t>bawa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Analisa cost </a:t>
            </a:r>
            <a:r>
              <a:rPr lang="en-US" sz="1050" dirty="0" err="1"/>
              <a:t>nya</a:t>
            </a:r>
            <a:r>
              <a:rPr lang="en-US" sz="1050" dirty="0"/>
              <a:t>, </a:t>
            </a:r>
            <a:r>
              <a:rPr lang="en-US" sz="1050" dirty="0" err="1"/>
              <a:t>supaya</a:t>
            </a:r>
            <a:r>
              <a:rPr lang="en-US" sz="1050" dirty="0"/>
              <a:t> </a:t>
            </a:r>
            <a:r>
              <a:rPr lang="en-US" sz="1050" dirty="0" err="1"/>
              <a:t>lebih</a:t>
            </a:r>
            <a:r>
              <a:rPr lang="en-US" sz="1050" dirty="0"/>
              <a:t> </a:t>
            </a:r>
            <a:r>
              <a:rPr lang="en-US" sz="1050" dirty="0" err="1"/>
              <a:t>murah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Maunya</a:t>
            </a:r>
            <a:r>
              <a:rPr lang="en-US" sz="1050" dirty="0"/>
              <a:t> </a:t>
            </a:r>
            <a:r>
              <a:rPr lang="en-US" sz="1050" dirty="0" err="1"/>
              <a:t>tetap</a:t>
            </a:r>
            <a:r>
              <a:rPr lang="en-US" sz="1050" dirty="0"/>
              <a:t> </a:t>
            </a:r>
            <a:r>
              <a:rPr lang="en-US" sz="1050" dirty="0" err="1"/>
              <a:t>narik</a:t>
            </a:r>
            <a:r>
              <a:rPr lang="en-US" sz="1050" dirty="0"/>
              <a:t> </a:t>
            </a:r>
            <a:r>
              <a:rPr lang="en-US" sz="1050" dirty="0" err="1"/>
              <a:t>petanya</a:t>
            </a:r>
            <a:r>
              <a:rPr lang="en-US" sz="1050" dirty="0"/>
              <a:t> PMNP,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aplikasi</a:t>
            </a:r>
            <a:r>
              <a:rPr lang="en-US" sz="1050" dirty="0"/>
              <a:t> </a:t>
            </a:r>
            <a:r>
              <a:rPr lang="en-US" sz="1050" dirty="0" err="1"/>
              <a:t>diskusi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, proposal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bebeapa</a:t>
            </a:r>
            <a:r>
              <a:rPr lang="en-US" sz="1050" dirty="0"/>
              <a:t> view.  Keputusan </a:t>
            </a:r>
            <a:r>
              <a:rPr lang="en-US" sz="1050" dirty="0" err="1"/>
              <a:t>berdasarkan</a:t>
            </a:r>
            <a:r>
              <a:rPr lang="en-US" sz="1050" dirty="0"/>
              <a:t> scientific justification.</a:t>
            </a:r>
          </a:p>
          <a:p>
            <a:pPr marL="228600" indent="-228600">
              <a:buAutoNum type="arabicPeriod"/>
            </a:pPr>
            <a:r>
              <a:rPr lang="en-US" sz="1050" dirty="0"/>
              <a:t>Kita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masukkan</a:t>
            </a:r>
            <a:r>
              <a:rPr lang="en-US" sz="1050" dirty="0"/>
              <a:t>, </a:t>
            </a:r>
            <a:r>
              <a:rPr lang="en-US" sz="1050" dirty="0" err="1"/>
              <a:t>sama</a:t>
            </a:r>
            <a:r>
              <a:rPr lang="en-US" sz="1050" dirty="0"/>
              <a:t> </a:t>
            </a:r>
            <a:r>
              <a:rPr lang="en-US" sz="1050" dirty="0" err="1"/>
              <a:t>pak</a:t>
            </a:r>
            <a:r>
              <a:rPr lang="en-US" sz="1050" dirty="0"/>
              <a:t> </a:t>
            </a:r>
            <a:r>
              <a:rPr lang="en-US" sz="1050" dirty="0" err="1"/>
              <a:t>Sumario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Ke</a:t>
            </a:r>
            <a:r>
              <a:rPr lang="en-US" sz="1050" dirty="0"/>
              <a:t> Pak </a:t>
            </a:r>
            <a:r>
              <a:rPr lang="en-US" sz="1050" dirty="0" err="1"/>
              <a:t>HoU</a:t>
            </a:r>
            <a:r>
              <a:rPr lang="en-US" sz="1050" dirty="0"/>
              <a:t> </a:t>
            </a:r>
            <a:r>
              <a:rPr lang="en-US" sz="1050" dirty="0" err="1"/>
              <a:t>sudah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comparison.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Aplikasinya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dampak</a:t>
            </a:r>
            <a:r>
              <a:rPr lang="en-US" sz="1050" dirty="0"/>
              <a:t> </a:t>
            </a:r>
            <a:r>
              <a:rPr lang="en-US" sz="1050" dirty="0" err="1"/>
              <a:t>akurasi</a:t>
            </a:r>
            <a:r>
              <a:rPr lang="en-US" sz="1050"/>
              <a:t>?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E02D1-1DCC-4572-8F68-0B22B7367D19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9995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 err="1"/>
              <a:t>Gmn</a:t>
            </a:r>
            <a:r>
              <a:rPr lang="en-US" sz="1050" dirty="0"/>
              <a:t> </a:t>
            </a:r>
            <a:r>
              <a:rPr lang="en-US" sz="1050" dirty="0" err="1"/>
              <a:t>caranya</a:t>
            </a:r>
            <a:r>
              <a:rPr lang="en-US" sz="1050" dirty="0"/>
              <a:t> </a:t>
            </a:r>
            <a:r>
              <a:rPr lang="en-US" sz="1050" dirty="0" err="1"/>
              <a:t>ada</a:t>
            </a:r>
            <a:r>
              <a:rPr lang="en-US" sz="1050" dirty="0"/>
              <a:t> super admin, </a:t>
            </a:r>
          </a:p>
          <a:p>
            <a:r>
              <a:rPr lang="en-US" sz="1050" dirty="0" err="1"/>
              <a:t>Kentosan</a:t>
            </a:r>
            <a:r>
              <a:rPr lang="en-US" sz="1050" dirty="0"/>
              <a:t> </a:t>
            </a:r>
            <a:r>
              <a:rPr lang="en-US" sz="1050" dirty="0" err="1"/>
              <a:t>dimasukkan</a:t>
            </a:r>
            <a:r>
              <a:rPr lang="en-US" sz="1050" dirty="0"/>
              <a:t>.</a:t>
            </a:r>
          </a:p>
          <a:p>
            <a:r>
              <a:rPr lang="en-US" sz="1050" dirty="0"/>
              <a:t>Dashboard </a:t>
            </a:r>
            <a:r>
              <a:rPr lang="en-US" sz="1050" dirty="0" err="1"/>
              <a:t>masih</a:t>
            </a:r>
            <a:r>
              <a:rPr lang="en-US" sz="1050" dirty="0"/>
              <a:t> </a:t>
            </a:r>
            <a:r>
              <a:rPr lang="en-US" sz="1050" dirty="0" err="1"/>
              <a:t>dari</a:t>
            </a:r>
            <a:r>
              <a:rPr lang="en-US" sz="1050" dirty="0"/>
              <a:t> PMNP, </a:t>
            </a:r>
          </a:p>
          <a:p>
            <a:r>
              <a:rPr lang="en-US" sz="1050" dirty="0" err="1"/>
              <a:t>Tgl</a:t>
            </a:r>
            <a:r>
              <a:rPr lang="en-US" sz="1050" dirty="0"/>
              <a:t> 4 </a:t>
            </a:r>
            <a:r>
              <a:rPr lang="en-US" sz="1050" dirty="0" err="1"/>
              <a:t>mei</a:t>
            </a:r>
            <a:r>
              <a:rPr lang="en-US" sz="1050" dirty="0"/>
              <a:t>, </a:t>
            </a:r>
            <a:r>
              <a:rPr lang="en-US" sz="1050" dirty="0" err="1"/>
              <a:t>ada</a:t>
            </a:r>
            <a:r>
              <a:rPr lang="en-US" sz="1050" dirty="0"/>
              <a:t> review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bapak</a:t>
            </a:r>
            <a:r>
              <a:rPr lang="en-US" sz="1050" dirty="0"/>
              <a:t> VPA, </a:t>
            </a:r>
            <a:r>
              <a:rPr lang="en-US" sz="1050" dirty="0" err="1"/>
              <a:t>siapkan</a:t>
            </a:r>
            <a:r>
              <a:rPr lang="en-US" sz="1050" dirty="0"/>
              <a:t> </a:t>
            </a:r>
            <a:r>
              <a:rPr lang="en-US" sz="1050" dirty="0" err="1"/>
              <a:t>materinya</a:t>
            </a:r>
            <a:r>
              <a:rPr lang="en-US" sz="1050" dirty="0"/>
              <a:t>.</a:t>
            </a:r>
          </a:p>
          <a:p>
            <a:endParaRPr lang="en-US" sz="1050" dirty="0"/>
          </a:p>
          <a:p>
            <a:pPr marL="228600" indent="-228600">
              <a:buAutoNum type="arabicPeriod"/>
            </a:pPr>
            <a:r>
              <a:rPr lang="en-US" sz="1050" dirty="0" err="1"/>
              <a:t>Sejauh</a:t>
            </a:r>
            <a:r>
              <a:rPr lang="en-US" sz="1050" dirty="0"/>
              <a:t> mana </a:t>
            </a:r>
            <a:r>
              <a:rPr lang="en-US" sz="1050" dirty="0" err="1"/>
              <a:t>penggunaan</a:t>
            </a:r>
            <a:r>
              <a:rPr lang="en-US" sz="1050" dirty="0"/>
              <a:t> quick win </a:t>
            </a:r>
            <a:r>
              <a:rPr lang="en-US" sz="1050" dirty="0" err="1"/>
              <a:t>dengan</a:t>
            </a:r>
            <a:r>
              <a:rPr lang="en-US" sz="1050" dirty="0"/>
              <a:t> PMNP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krn</a:t>
            </a:r>
            <a:r>
              <a:rPr lang="en-US" sz="1050" dirty="0"/>
              <a:t> </a:t>
            </a:r>
            <a:r>
              <a:rPr lang="en-US" sz="1050" dirty="0" err="1"/>
              <a:t>jangka</a:t>
            </a:r>
            <a:r>
              <a:rPr lang="en-US" sz="1050" dirty="0"/>
              <a:t> Panjang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akan</a:t>
            </a:r>
            <a:r>
              <a:rPr lang="en-US" sz="1050" dirty="0"/>
              <a:t> </a:t>
            </a:r>
            <a:r>
              <a:rPr lang="en-US" sz="1050" dirty="0" err="1"/>
              <a:t>membuat</a:t>
            </a:r>
            <a:r>
              <a:rPr lang="en-US" sz="1050" dirty="0"/>
              <a:t>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sempurna</a:t>
            </a:r>
            <a:r>
              <a:rPr lang="en-US" sz="1050" dirty="0"/>
              <a:t>, </a:t>
            </a:r>
            <a:r>
              <a:rPr lang="en-US" sz="1050" dirty="0" err="1"/>
              <a:t>jalan</a:t>
            </a:r>
            <a:r>
              <a:rPr lang="en-US" sz="1050" dirty="0"/>
              <a:t> </a:t>
            </a:r>
            <a:r>
              <a:rPr lang="en-US" sz="1050" dirty="0" err="1"/>
              <a:t>aja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 </a:t>
            </a:r>
            <a:r>
              <a:rPr lang="en-US" sz="1050" dirty="0" err="1"/>
              <a:t>inikan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uji </a:t>
            </a:r>
            <a:r>
              <a:rPr lang="en-US" sz="1050" dirty="0" err="1"/>
              <a:t>coba</a:t>
            </a:r>
            <a:r>
              <a:rPr lang="en-US" sz="1050" dirty="0"/>
              <a:t> (</a:t>
            </a:r>
            <a:r>
              <a:rPr lang="en-US" sz="1050" dirty="0" err="1"/>
              <a:t>apa</a:t>
            </a:r>
            <a:r>
              <a:rPr lang="en-US" sz="1050" dirty="0"/>
              <a:t> </a:t>
            </a:r>
            <a:r>
              <a:rPr lang="en-US" sz="1050" dirty="0" err="1"/>
              <a:t>perbedaan</a:t>
            </a:r>
            <a:r>
              <a:rPr lang="en-US" sz="1050" dirty="0"/>
              <a:t> user </a:t>
            </a:r>
            <a:r>
              <a:rPr lang="en-US" sz="1050" dirty="0" err="1"/>
              <a:t>ini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smart field survey </a:t>
            </a:r>
            <a:r>
              <a:rPr lang="en-US" sz="1050" dirty="0" err="1"/>
              <a:t>yg</a:t>
            </a:r>
            <a:r>
              <a:rPr lang="en-US" sz="1050" dirty="0"/>
              <a:t> di </a:t>
            </a:r>
            <a:r>
              <a:rPr lang="en-US" sz="1050" dirty="0" err="1"/>
              <a:t>eFACT</a:t>
            </a:r>
            <a:r>
              <a:rPr lang="en-US" sz="1050" dirty="0"/>
              <a:t>) </a:t>
            </a:r>
            <a:r>
              <a:rPr lang="en-US" sz="1050" dirty="0" err="1"/>
              <a:t>kalau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 orang </a:t>
            </a: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tambahannya</a:t>
            </a:r>
            <a:r>
              <a:rPr lang="en-US" sz="1050" dirty="0"/>
              <a:t>. </a:t>
            </a:r>
            <a:r>
              <a:rPr lang="en-US" sz="1050" dirty="0" err="1"/>
              <a:t>Fyi</a:t>
            </a:r>
            <a:r>
              <a:rPr lang="en-US" sz="1050" dirty="0"/>
              <a:t>, </a:t>
            </a:r>
            <a:r>
              <a:rPr lang="en-US" sz="1050" dirty="0" err="1"/>
              <a:t>untuk</a:t>
            </a:r>
            <a:r>
              <a:rPr lang="en-US" sz="1050" dirty="0"/>
              <a:t> review </a:t>
            </a:r>
            <a:r>
              <a:rPr lang="en-US" sz="1050" dirty="0" err="1"/>
              <a:t>itu</a:t>
            </a:r>
            <a:r>
              <a:rPr lang="en-US" sz="1050" dirty="0"/>
              <a:t> </a:t>
            </a:r>
            <a:r>
              <a:rPr lang="en-US" sz="1050" dirty="0" err="1"/>
              <a:t>tidak</a:t>
            </a:r>
            <a:r>
              <a:rPr lang="en-US" sz="1050" dirty="0"/>
              <a:t> </a:t>
            </a:r>
            <a:r>
              <a:rPr lang="en-US" sz="1050" dirty="0" err="1"/>
              <a:t>lagi</a:t>
            </a:r>
            <a:r>
              <a:rPr lang="en-US" sz="1050" dirty="0"/>
              <a:t> 3 </a:t>
            </a:r>
            <a:r>
              <a:rPr lang="en-US" sz="1050" dirty="0" err="1"/>
              <a:t>bulanan</a:t>
            </a:r>
            <a:r>
              <a:rPr lang="en-US" sz="1050" dirty="0"/>
              <a:t>, </a:t>
            </a:r>
            <a:r>
              <a:rPr lang="en-US" sz="1050" dirty="0" err="1"/>
              <a:t>manunya</a:t>
            </a:r>
            <a:r>
              <a:rPr lang="en-US" sz="1050" dirty="0"/>
              <a:t> 1 </a:t>
            </a:r>
            <a:r>
              <a:rPr lang="en-US" sz="1050" dirty="0" err="1"/>
              <a:t>minggu</a:t>
            </a:r>
            <a:r>
              <a:rPr lang="en-US" sz="1050" dirty="0"/>
              <a:t>, </a:t>
            </a:r>
            <a:r>
              <a:rPr lang="en-US" sz="1050" dirty="0" err="1"/>
              <a:t>projek</a:t>
            </a:r>
            <a:r>
              <a:rPr lang="en-US" sz="1050" dirty="0"/>
              <a:t> urgent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langsung</a:t>
            </a:r>
            <a:r>
              <a:rPr lang="en-US" sz="1050" dirty="0"/>
              <a:t> </a:t>
            </a:r>
            <a:r>
              <a:rPr lang="en-US" sz="1050" dirty="0" err="1"/>
              <a:t>maju</a:t>
            </a:r>
            <a:r>
              <a:rPr lang="en-US" sz="1050" dirty="0"/>
              <a:t> per 2 jam. Kita </a:t>
            </a:r>
            <a:r>
              <a:rPr lang="en-US" sz="1050" dirty="0" err="1"/>
              <a:t>bawa</a:t>
            </a:r>
            <a:r>
              <a:rPr lang="en-US" sz="1050" dirty="0"/>
              <a:t> </a:t>
            </a:r>
            <a:r>
              <a:rPr lang="en-US" sz="1050" dirty="0" err="1"/>
              <a:t>untuk</a:t>
            </a:r>
            <a:r>
              <a:rPr lang="en-US" sz="1050" dirty="0"/>
              <a:t> Analisa cost </a:t>
            </a:r>
            <a:r>
              <a:rPr lang="en-US" sz="1050" dirty="0" err="1"/>
              <a:t>nya</a:t>
            </a:r>
            <a:r>
              <a:rPr lang="en-US" sz="1050" dirty="0"/>
              <a:t>, </a:t>
            </a:r>
            <a:r>
              <a:rPr lang="en-US" sz="1050" dirty="0" err="1"/>
              <a:t>supaya</a:t>
            </a:r>
            <a:r>
              <a:rPr lang="en-US" sz="1050" dirty="0"/>
              <a:t> </a:t>
            </a:r>
            <a:r>
              <a:rPr lang="en-US" sz="1050" dirty="0" err="1"/>
              <a:t>lebih</a:t>
            </a:r>
            <a:r>
              <a:rPr lang="en-US" sz="1050" dirty="0"/>
              <a:t> </a:t>
            </a:r>
            <a:r>
              <a:rPr lang="en-US" sz="1050" dirty="0" err="1"/>
              <a:t>murah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Maunya</a:t>
            </a:r>
            <a:r>
              <a:rPr lang="en-US" sz="1050" dirty="0"/>
              <a:t> </a:t>
            </a:r>
            <a:r>
              <a:rPr lang="en-US" sz="1050" dirty="0" err="1"/>
              <a:t>tetap</a:t>
            </a:r>
            <a:r>
              <a:rPr lang="en-US" sz="1050" dirty="0"/>
              <a:t> </a:t>
            </a:r>
            <a:r>
              <a:rPr lang="en-US" sz="1050" dirty="0" err="1"/>
              <a:t>narik</a:t>
            </a:r>
            <a:r>
              <a:rPr lang="en-US" sz="1050" dirty="0"/>
              <a:t> </a:t>
            </a:r>
            <a:r>
              <a:rPr lang="en-US" sz="1050" dirty="0" err="1"/>
              <a:t>petanya</a:t>
            </a:r>
            <a:r>
              <a:rPr lang="en-US" sz="1050" dirty="0"/>
              <a:t> PMNP, </a:t>
            </a:r>
            <a:r>
              <a:rPr lang="en-US" sz="1050" dirty="0" err="1"/>
              <a:t>kita</a:t>
            </a:r>
            <a:r>
              <a:rPr lang="en-US" sz="1050" dirty="0"/>
              <a:t> </a:t>
            </a:r>
            <a:r>
              <a:rPr lang="en-US" sz="1050" dirty="0" err="1"/>
              <a:t>aplikasi</a:t>
            </a:r>
            <a:r>
              <a:rPr lang="en-US" sz="1050" dirty="0"/>
              <a:t> </a:t>
            </a:r>
            <a:r>
              <a:rPr lang="en-US" sz="1050" dirty="0" err="1"/>
              <a:t>diskusi</a:t>
            </a:r>
            <a:r>
              <a:rPr lang="en-US" sz="1050" dirty="0"/>
              <a:t> </a:t>
            </a:r>
            <a:r>
              <a:rPr lang="en-US" sz="1050" dirty="0" err="1"/>
              <a:t>dulu</a:t>
            </a:r>
            <a:r>
              <a:rPr lang="en-US" sz="1050" dirty="0"/>
              <a:t>, proposal </a:t>
            </a:r>
            <a:r>
              <a:rPr lang="en-US" sz="1050" dirty="0" err="1"/>
              <a:t>dengan</a:t>
            </a:r>
            <a:r>
              <a:rPr lang="en-US" sz="1050" dirty="0"/>
              <a:t> </a:t>
            </a:r>
            <a:r>
              <a:rPr lang="en-US" sz="1050" dirty="0" err="1"/>
              <a:t>bebeapa</a:t>
            </a:r>
            <a:r>
              <a:rPr lang="en-US" sz="1050" dirty="0"/>
              <a:t> view.  Keputusan </a:t>
            </a:r>
            <a:r>
              <a:rPr lang="en-US" sz="1050" dirty="0" err="1"/>
              <a:t>berdasarkan</a:t>
            </a:r>
            <a:r>
              <a:rPr lang="en-US" sz="1050" dirty="0"/>
              <a:t> scientific justification.</a:t>
            </a:r>
          </a:p>
          <a:p>
            <a:pPr marL="228600" indent="-228600">
              <a:buAutoNum type="arabicPeriod"/>
            </a:pPr>
            <a:r>
              <a:rPr lang="en-US" sz="1050" dirty="0"/>
              <a:t>Kita </a:t>
            </a:r>
            <a:r>
              <a:rPr lang="en-US" sz="1050" dirty="0" err="1"/>
              <a:t>bisa</a:t>
            </a:r>
            <a:r>
              <a:rPr lang="en-US" sz="1050" dirty="0"/>
              <a:t> </a:t>
            </a:r>
            <a:r>
              <a:rPr lang="en-US" sz="1050" dirty="0" err="1"/>
              <a:t>masukkan</a:t>
            </a:r>
            <a:r>
              <a:rPr lang="en-US" sz="1050" dirty="0"/>
              <a:t>, </a:t>
            </a:r>
            <a:r>
              <a:rPr lang="en-US" sz="1050" dirty="0" err="1"/>
              <a:t>sama</a:t>
            </a:r>
            <a:r>
              <a:rPr lang="en-US" sz="1050" dirty="0"/>
              <a:t> </a:t>
            </a:r>
            <a:r>
              <a:rPr lang="en-US" sz="1050" dirty="0" err="1"/>
              <a:t>pak</a:t>
            </a:r>
            <a:r>
              <a:rPr lang="en-US" sz="1050" dirty="0"/>
              <a:t> </a:t>
            </a:r>
            <a:r>
              <a:rPr lang="en-US" sz="1050" dirty="0" err="1"/>
              <a:t>Sumario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Ke</a:t>
            </a:r>
            <a:r>
              <a:rPr lang="en-US" sz="1050" dirty="0"/>
              <a:t> Pak </a:t>
            </a:r>
            <a:r>
              <a:rPr lang="en-US" sz="1050" dirty="0" err="1"/>
              <a:t>HoU</a:t>
            </a:r>
            <a:r>
              <a:rPr lang="en-US" sz="1050" dirty="0"/>
              <a:t> </a:t>
            </a:r>
            <a:r>
              <a:rPr lang="en-US" sz="1050" dirty="0" err="1"/>
              <a:t>sudah</a:t>
            </a:r>
            <a:r>
              <a:rPr lang="en-US" sz="1050" dirty="0"/>
              <a:t> </a:t>
            </a:r>
            <a:r>
              <a:rPr lang="en-US" sz="1050" dirty="0" err="1"/>
              <a:t>dengan</a:t>
            </a:r>
            <a:r>
              <a:rPr lang="en-US" sz="1050" dirty="0"/>
              <a:t> comparison.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Aplikasinya</a:t>
            </a:r>
            <a:r>
              <a:rPr lang="en-US" sz="1050" dirty="0"/>
              <a:t> </a:t>
            </a:r>
            <a:r>
              <a:rPr lang="en-US" sz="1050" dirty="0" err="1"/>
              <a:t>beda</a:t>
            </a:r>
            <a:r>
              <a:rPr lang="en-US" sz="1050" dirty="0"/>
              <a:t>.</a:t>
            </a:r>
          </a:p>
          <a:p>
            <a:pPr marL="228600" indent="-228600">
              <a:buAutoNum type="arabicPeriod"/>
            </a:pPr>
            <a:r>
              <a:rPr lang="en-US" sz="1050" dirty="0" err="1"/>
              <a:t>Berapa</a:t>
            </a:r>
            <a:r>
              <a:rPr lang="en-US" sz="1050" dirty="0"/>
              <a:t> </a:t>
            </a:r>
            <a:r>
              <a:rPr lang="en-US" sz="1050" dirty="0" err="1"/>
              <a:t>dampak</a:t>
            </a:r>
            <a:r>
              <a:rPr lang="en-US" sz="1050" dirty="0"/>
              <a:t> </a:t>
            </a:r>
            <a:r>
              <a:rPr lang="en-US" sz="1050" dirty="0" err="1"/>
              <a:t>akurasi</a:t>
            </a:r>
            <a:r>
              <a:rPr lang="en-US" sz="1050"/>
              <a:t>?</a:t>
            </a: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E02D1-1DCC-4572-8F68-0B22B7367D19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914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05CF-7026-41A0-92E5-748448063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E0B4A-85C4-4B90-AB2C-E6E9F2D14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37ACA-48BB-4E35-B73F-7249C7B4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650B3-1D64-4B87-A91D-4F51567AF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9A11B-4F6B-4D5F-BCDA-F6345CEF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5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AAF2-83D1-4D7A-97C2-C51EABC7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5D427-AC20-447C-93C5-09211D41C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D418D-B22C-473B-AC33-6471E37C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95F72-5545-4514-883C-15C0DFBE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0EEB8-AC84-4BD1-BB88-37A061C0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6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D170-2D0A-4AB3-9552-7DCCB70A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D840C-CF68-4732-AE27-6D8591E4E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5A84C-F481-4442-A924-06E6ACA4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BFB6F-1321-40C2-9617-672A42EF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EA5FB-4DA8-4726-86C4-0FDA5B8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8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A8A1-7CF1-498F-B76B-F0ABD6C2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0DA0-2A6E-456F-9567-BEAC82EB3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B070D-846B-4FBC-8AB4-6F54533DB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0E259-D93C-4864-9E08-EC2BF493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33C7A-3477-4BF9-A2E9-192B26536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36CF2-4340-4BE0-87B7-2956DEB7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6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1ABD-1EC7-4A95-9D3A-2FFABACB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9F6BB-60D3-4E24-9E01-50C7CB17A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5F031-A29B-46C5-B5E1-D9D2E4541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68953-A565-4104-9D37-F64DE350D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1F6A0-D247-4A19-9427-63E5DC52A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EEAFB-702E-45D8-B0A0-A523A4F1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1D7C6-1E51-4971-92E4-562B54AC7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D0C6F-18E9-46BD-8B11-32393B40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56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84E3-E080-4506-92D8-B2897405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58E06-0D98-49C0-B556-A2D3F186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6F563-2E4C-4B3D-994E-D4511028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73328-6915-4B77-BD69-AA9A7CFC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9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98C72-FFB3-4DA9-AC44-D8E74888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E09A1-E7F6-4FAE-A237-6DEB281E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49805-7387-41A8-8A2B-07514055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02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109B-09D1-4744-8751-882E9E88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C73C2-5DB7-4D43-AF27-495B26B52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09848-A383-47EE-AF60-5EF1F7AA1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BF6F2-6DB2-4D36-BA9B-92F5EE35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326D7-6BEB-4718-821B-AFFC413A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5F90-444C-4A79-99C3-09E1DEC1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9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12D3-D1A7-4331-B291-15A0A45F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9E49B-E3A0-4D9B-9182-B43C0AEE7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1DE83-F894-4EA1-8482-883E1D372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1223E-0C8A-4D63-898C-37FD75BB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2E27C-5DDA-4C9E-A743-29744FEC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CA480-4D1C-42F2-B705-5CA8B678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4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99B8-02A4-4F35-9A06-E32537D1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0E531-DE60-409C-947D-331D61E52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1C66-4F14-4F5E-8911-B8167310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DAAF9-ECE1-4C2F-9E84-205597DA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0424-EECA-468B-97BA-1D9B2180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7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2D57D7-7A68-4B1D-B0BD-8CFE489A2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516E1-ECC8-4093-AA1B-94D2515CF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275DB-1388-43A1-8D36-24791BEC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EF5FF-4A21-478A-A60A-00B0E298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886D8-70CC-4EEC-8875-65E87D59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41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022380" y="1713229"/>
            <a:ext cx="6631238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CA4524-3362-6C74-6822-8FD52A0D3747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758C99-8D53-DB71-9BF9-9D35468185C1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424D05-9310-D265-FB75-02DF6B912A21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669D9E7-6120-DC14-01C1-FB244F19C363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1345B8-CCC4-CCCB-BB11-CA45BDAE567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17CE8FB-FF34-4F0F-2CA8-029541D16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8F667D2-0C33-01FD-E2C6-D4F879DAB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6EA3EB-0638-F810-AE83-950F076F79FA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C179283-C04C-3A63-1949-3934BB9C0EA4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8B438-54B2-1258-C65F-2344B13809F0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343D5F-7787-DBD3-758A-3AE511188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4" y="7576"/>
            <a:ext cx="4480277" cy="1564541"/>
          </a:xfrm>
          <a:prstGeom prst="rect">
            <a:avLst/>
          </a:prstGeom>
        </p:spPr>
      </p:pic>
      <p:pic>
        <p:nvPicPr>
          <p:cNvPr id="14" name="Picture Placeholder 2">
            <a:extLst>
              <a:ext uri="{FF2B5EF4-FFF2-40B4-BE49-F238E27FC236}">
                <a16:creationId xmlns:a16="http://schemas.microsoft.com/office/drawing/2014/main" id="{BD47B931-7020-42F8-BA19-500C131877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73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with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D463A1-D2BC-60F9-C275-F9957A468BBB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AB829E-B7F6-44C6-F1BD-FF08780826D3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0E51EC-1787-3D2C-A3C9-5C13B94DBA43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AE24D81-D122-61A2-2FED-316E39FE32F6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34509-EC4C-4F01-3FE3-6B7A18AFA92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C2B2F08-3B53-A555-E9D2-6BA341CFD9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35059AE-A141-8D36-0F0D-E1ABFBCA4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7459C-66DC-0E48-172F-F395C140C985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95A1DDC-594D-7F38-EA74-B3B27D80640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34768D-8BCA-A7E2-D41F-78E4A504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383DC79-82AF-8844-A908-5B4A2C81957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68061E-6D18-66A8-C266-9856785E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171DC2-EAFE-BB97-2C2A-D88E24A210D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4" name="Picture Placeholder 2">
            <a:extLst>
              <a:ext uri="{FF2B5EF4-FFF2-40B4-BE49-F238E27FC236}">
                <a16:creationId xmlns:a16="http://schemas.microsoft.com/office/drawing/2014/main" id="{1FF24BA6-989D-41E9-980E-EAA4D655DD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2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8234F-E831-4965-8261-9713AF12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8AAC6-EF3A-419B-B4AD-94D6869C1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E47A3-0D6D-44C9-9AA6-DD8E00B7C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88C11-22C0-49A1-8934-EAA3C74C65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AD84-7C55-45A1-8970-17577DD44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15340-5291-4F39-BA5D-41B1578C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E61A9-1EDE-4BAB-ACB1-9AD344D1C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8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1A1779-F8EC-AA20-BED9-5B3EB4291569}"/>
              </a:ext>
            </a:extLst>
          </p:cNvPr>
          <p:cNvSpPr txBox="1"/>
          <p:nvPr/>
        </p:nvSpPr>
        <p:spPr>
          <a:xfrm>
            <a:off x="786853" y="2951946"/>
            <a:ext cx="3992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rgbClr val="000000"/>
                </a:solidFill>
                <a:latin typeface="Poppins Black" panose="00000A00000000000000" pitchFamily="2" charset="0"/>
                <a:ea typeface="Inter SemiBold" panose="02000503000000020004" pitchFamily="2" charset="0"/>
                <a:cs typeface="Poppins Black" panose="00000A00000000000000" pitchFamily="2" charset="0"/>
              </a:rPr>
              <a:t>Smart Problem Tagging Phase 1</a:t>
            </a:r>
            <a:endParaRPr lang="en-US" sz="2400" i="1" dirty="0">
              <a:solidFill>
                <a:srgbClr val="000000"/>
              </a:solidFill>
              <a:latin typeface="Poppins Black" panose="00000A00000000000000" pitchFamily="2" charset="0"/>
              <a:ea typeface="Inter SemiBold" panose="02000503000000020004" pitchFamily="2" charset="0"/>
              <a:cs typeface="Poppins Black" panose="00000A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210BF-91A5-3342-056B-13CA3047276E}"/>
              </a:ext>
            </a:extLst>
          </p:cNvPr>
          <p:cNvSpPr txBox="1"/>
          <p:nvPr/>
        </p:nvSpPr>
        <p:spPr>
          <a:xfrm>
            <a:off x="786853" y="4701538"/>
            <a:ext cx="2096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itchFamily="2" charset="77"/>
                <a:ea typeface="Inter Medium" panose="02000603000000020004" pitchFamily="50" charset="0"/>
                <a:cs typeface="Poppins" pitchFamily="2" charset="77"/>
              </a:rPr>
              <a:t>21 Sep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5CBEC9-1ED0-495A-92A5-8C9229E47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16" t="23985" r="43205" b="21402"/>
          <a:stretch/>
        </p:blipFill>
        <p:spPr bwMode="auto">
          <a:xfrm>
            <a:off x="5382602" y="1703604"/>
            <a:ext cx="663123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432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C016630-82AC-42D8-95DF-30C5F6AB4A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96000" y="121734"/>
            <a:ext cx="5845630" cy="680223"/>
          </a:xfrm>
        </p:spPr>
        <p:txBody>
          <a:bodyPr>
            <a:normAutofit/>
          </a:bodyPr>
          <a:lstStyle/>
          <a:p>
            <a:pPr algn="r"/>
            <a:r>
              <a:rPr lang="en-US" sz="2400" b="1" dirty="0">
                <a:solidFill>
                  <a:srgbClr val="000000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GUIDING PRINCIPLES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F6A0D3-34C7-4DDC-8B20-57921C9F3312}"/>
              </a:ext>
            </a:extLst>
          </p:cNvPr>
          <p:cNvSpPr>
            <a:spLocks noGrp="1"/>
          </p:cNvSpPr>
          <p:nvPr/>
        </p:nvSpPr>
        <p:spPr>
          <a:xfrm>
            <a:off x="304800" y="1009650"/>
            <a:ext cx="11582400" cy="28575"/>
          </a:xfrm>
          <a:prstGeom prst="rect">
            <a:avLst/>
          </a:prstGeom>
          <a:solidFill>
            <a:srgbClr val="ED1C24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BCA02C-F614-4B8B-8E1F-1C5760A5DA6B}"/>
              </a:ext>
            </a:extLst>
          </p:cNvPr>
          <p:cNvSpPr>
            <a:spLocks noGrp="1"/>
          </p:cNvSpPr>
          <p:nvPr/>
        </p:nvSpPr>
        <p:spPr>
          <a:xfrm>
            <a:off x="323850" y="1238250"/>
            <a:ext cx="37623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14E78"/>
                </a:solidFill>
                <a:latin typeface="Arial"/>
                <a:ea typeface="Arial"/>
                <a:cs typeface="Arial"/>
              </a:rPr>
              <a:t>GUIDING PRINCIPLES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2B0273-FFB5-46E7-B568-BAAC0D42913F}"/>
              </a:ext>
            </a:extLst>
          </p:cNvPr>
          <p:cNvSpPr>
            <a:spLocks noGrp="1"/>
          </p:cNvSpPr>
          <p:nvPr/>
        </p:nvSpPr>
        <p:spPr>
          <a:xfrm>
            <a:off x="323850" y="1628775"/>
            <a:ext cx="1924050" cy="2009775"/>
          </a:xfrm>
          <a:prstGeom prst="rect">
            <a:avLst/>
          </a:prstGeom>
          <a:solidFill>
            <a:srgbClr val="5184BD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961B7-9D19-4574-BB05-1FB53345991A}"/>
              </a:ext>
            </a:extLst>
          </p:cNvPr>
          <p:cNvSpPr>
            <a:spLocks noGrp="1"/>
          </p:cNvSpPr>
          <p:nvPr/>
        </p:nvSpPr>
        <p:spPr>
          <a:xfrm>
            <a:off x="466725" y="191452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Enhance Visibility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302828-76BA-4CEF-9543-0E19C046B6A9}"/>
              </a:ext>
            </a:extLst>
          </p:cNvPr>
          <p:cNvSpPr>
            <a:spLocks noGrp="1"/>
          </p:cNvSpPr>
          <p:nvPr/>
        </p:nvSpPr>
        <p:spPr>
          <a:xfrm>
            <a:off x="466725" y="269557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through spatial visualization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06EB9-4562-4C82-A753-C0C24AAC3453}"/>
              </a:ext>
            </a:extLst>
          </p:cNvPr>
          <p:cNvSpPr>
            <a:spLocks noGrp="1"/>
          </p:cNvSpPr>
          <p:nvPr/>
        </p:nvSpPr>
        <p:spPr>
          <a:xfrm>
            <a:off x="2276475" y="1628775"/>
            <a:ext cx="1924050" cy="2009775"/>
          </a:xfrm>
          <a:prstGeom prst="rect">
            <a:avLst/>
          </a:prstGeom>
          <a:solidFill>
            <a:srgbClr val="5184BD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6F10F8-3E9E-4B67-8ABB-576374F4A494}"/>
              </a:ext>
            </a:extLst>
          </p:cNvPr>
          <p:cNvSpPr>
            <a:spLocks noGrp="1"/>
          </p:cNvSpPr>
          <p:nvPr/>
        </p:nvSpPr>
        <p:spPr>
          <a:xfrm>
            <a:off x="2419350" y="191452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Optimize Management’s 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0B928-63EB-4A86-8410-3412594FBDAC}"/>
              </a:ext>
            </a:extLst>
          </p:cNvPr>
          <p:cNvSpPr>
            <a:spLocks noGrp="1"/>
          </p:cNvSpPr>
          <p:nvPr/>
        </p:nvSpPr>
        <p:spPr>
          <a:xfrm>
            <a:off x="2419350" y="269557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through prioritization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43BCDC-5DF0-426A-9487-BAA232721830}"/>
              </a:ext>
            </a:extLst>
          </p:cNvPr>
          <p:cNvSpPr>
            <a:spLocks noGrp="1"/>
          </p:cNvSpPr>
          <p:nvPr/>
        </p:nvSpPr>
        <p:spPr>
          <a:xfrm>
            <a:off x="323850" y="3895725"/>
            <a:ext cx="1924050" cy="2009775"/>
          </a:xfrm>
          <a:prstGeom prst="rect">
            <a:avLst/>
          </a:prstGeom>
          <a:solidFill>
            <a:srgbClr val="5184BD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D06CB4-3543-4F21-933A-0D4F3BB5A4C6}"/>
              </a:ext>
            </a:extLst>
          </p:cNvPr>
          <p:cNvSpPr>
            <a:spLocks noGrp="1"/>
          </p:cNvSpPr>
          <p:nvPr/>
        </p:nvSpPr>
        <p:spPr>
          <a:xfrm>
            <a:off x="466725" y="418147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Ensure Problem Resolution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DC1B72-BDAE-4900-A9DD-B84DAF88D243}"/>
              </a:ext>
            </a:extLst>
          </p:cNvPr>
          <p:cNvSpPr>
            <a:spLocks noGrp="1"/>
          </p:cNvSpPr>
          <p:nvPr/>
        </p:nvSpPr>
        <p:spPr>
          <a:xfrm>
            <a:off x="466725" y="496252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through end-to-end tracking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BBAC8A-74D7-4C85-BC13-541E7E6D2949}"/>
              </a:ext>
            </a:extLst>
          </p:cNvPr>
          <p:cNvSpPr>
            <a:spLocks noGrp="1"/>
          </p:cNvSpPr>
          <p:nvPr/>
        </p:nvSpPr>
        <p:spPr>
          <a:xfrm>
            <a:off x="2276475" y="3895725"/>
            <a:ext cx="1924050" cy="2009775"/>
          </a:xfrm>
          <a:prstGeom prst="rect">
            <a:avLst/>
          </a:prstGeom>
          <a:solidFill>
            <a:srgbClr val="5184BD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9E9A1A-2EAE-4AC0-AF76-5F5CE15B2EBF}"/>
              </a:ext>
            </a:extLst>
          </p:cNvPr>
          <p:cNvSpPr>
            <a:spLocks noGrp="1"/>
          </p:cNvSpPr>
          <p:nvPr/>
        </p:nvSpPr>
        <p:spPr>
          <a:xfrm>
            <a:off x="2419350" y="418147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Integrate Existing Systems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75352-3CBE-46E8-8F7B-49EFB234DE6B}"/>
              </a:ext>
            </a:extLst>
          </p:cNvPr>
          <p:cNvSpPr>
            <a:spLocks noGrp="1"/>
          </p:cNvSpPr>
          <p:nvPr/>
        </p:nvSpPr>
        <p:spPr>
          <a:xfrm>
            <a:off x="2419350" y="4962525"/>
            <a:ext cx="16383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relevant operational 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7E92B1-D864-4057-87F4-94B1C863C1B4}"/>
              </a:ext>
            </a:extLst>
          </p:cNvPr>
          <p:cNvSpPr>
            <a:spLocks noGrp="1"/>
          </p:cNvSpPr>
          <p:nvPr/>
        </p:nvSpPr>
        <p:spPr>
          <a:xfrm>
            <a:off x="723900" y="3171825"/>
            <a:ext cx="3076575" cy="1066800"/>
          </a:xfrm>
          <a:prstGeom prst="rect">
            <a:avLst/>
          </a:prstGeom>
          <a:solidFill>
            <a:srgbClr val="E2ECF7"/>
          </a:solidFill>
          <a:ln w="14288">
            <a:solidFill>
              <a:srgbClr val="FFFFF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F1D307-606F-4979-B615-2A2A3822A869}"/>
              </a:ext>
            </a:extLst>
          </p:cNvPr>
          <p:cNvSpPr>
            <a:spLocks noGrp="1"/>
          </p:cNvSpPr>
          <p:nvPr/>
        </p:nvSpPr>
        <p:spPr>
          <a:xfrm>
            <a:off x="904875" y="3343275"/>
            <a:ext cx="27336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Accelerate Field</a:t>
            </a:r>
          </a:p>
          <a:p>
            <a:pPr>
              <a:defRPr sz="1875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Problem Resolution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7AE522-8C86-4071-89F8-0E47BB21491B}"/>
              </a:ext>
            </a:extLst>
          </p:cNvPr>
          <p:cNvSpPr>
            <a:spLocks noGrp="1"/>
          </p:cNvSpPr>
          <p:nvPr/>
        </p:nvSpPr>
        <p:spPr>
          <a:xfrm>
            <a:off x="4552950" y="1238250"/>
            <a:ext cx="7048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14E78"/>
                </a:solidFill>
                <a:latin typeface="Arial"/>
                <a:ea typeface="Arial"/>
                <a:cs typeface="Arial"/>
              </a:rPr>
              <a:t>PROBLEM RESOLUTION FRAMEWORK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4684D6-B549-45A4-A5B4-B690821A51CD}"/>
              </a:ext>
            </a:extLst>
          </p:cNvPr>
          <p:cNvSpPr>
            <a:spLocks noGrp="1"/>
          </p:cNvSpPr>
          <p:nvPr/>
        </p:nvSpPr>
        <p:spPr>
          <a:xfrm>
            <a:off x="4552950" y="1676400"/>
            <a:ext cx="3286125" cy="990600"/>
          </a:xfrm>
          <a:prstGeom prst="rect">
            <a:avLst/>
          </a:prstGeom>
          <a:solidFill>
            <a:srgbClr val="F1F6FA"/>
          </a:solidFill>
          <a:ln w="14288">
            <a:solidFill>
              <a:srgbClr val="CCDCE9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22F4EF-F9D3-4AEF-94A7-FC5298D0FA06}"/>
              </a:ext>
            </a:extLst>
          </p:cNvPr>
          <p:cNvSpPr>
            <a:spLocks noGrp="1"/>
          </p:cNvSpPr>
          <p:nvPr/>
        </p:nvSpPr>
        <p:spPr>
          <a:xfrm>
            <a:off x="4676775" y="18002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09FA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FA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B53D23-04F7-47F8-9317-F1223125CE4B}"/>
              </a:ext>
            </a:extLst>
          </p:cNvPr>
          <p:cNvSpPr>
            <a:spLocks noGrp="1"/>
          </p:cNvSpPr>
          <p:nvPr/>
        </p:nvSpPr>
        <p:spPr>
          <a:xfrm>
            <a:off x="5067300" y="180022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Tag Field Problems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7F2987-8B0E-4F83-9638-D13A4E5F87E1}"/>
              </a:ext>
            </a:extLst>
          </p:cNvPr>
          <p:cNvSpPr>
            <a:spLocks noGrp="1"/>
          </p:cNvSpPr>
          <p:nvPr/>
        </p:nvSpPr>
        <p:spPr>
          <a:xfrm>
            <a:off x="5067300" y="2124075"/>
            <a:ext cx="26098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1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1"/>
                </a:solidFill>
                <a:latin typeface="Arial"/>
                <a:ea typeface="Arial"/>
                <a:cs typeface="Arial"/>
              </a:rPr>
              <a:t>GPS photo, classification and volume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25F047-59B7-4768-9C4B-279133FE89A9}"/>
              </a:ext>
            </a:extLst>
          </p:cNvPr>
          <p:cNvSpPr>
            <a:spLocks noGrp="1"/>
          </p:cNvSpPr>
          <p:nvPr/>
        </p:nvSpPr>
        <p:spPr>
          <a:xfrm>
            <a:off x="8439150" y="1676400"/>
            <a:ext cx="3286125" cy="990600"/>
          </a:xfrm>
          <a:prstGeom prst="rect">
            <a:avLst/>
          </a:prstGeom>
          <a:solidFill>
            <a:srgbClr val="F1F6FA"/>
          </a:solidFill>
          <a:ln w="14288">
            <a:solidFill>
              <a:srgbClr val="CCDCE9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8F6752-12F5-4C57-B237-5CFC583122BB}"/>
              </a:ext>
            </a:extLst>
          </p:cNvPr>
          <p:cNvSpPr>
            <a:spLocks noGrp="1"/>
          </p:cNvSpPr>
          <p:nvPr/>
        </p:nvSpPr>
        <p:spPr>
          <a:xfrm>
            <a:off x="8562975" y="18002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09FA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FA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AD6C8F-D621-4E3E-8AA9-2D84A40B674A}"/>
              </a:ext>
            </a:extLst>
          </p:cNvPr>
          <p:cNvSpPr>
            <a:spLocks noGrp="1"/>
          </p:cNvSpPr>
          <p:nvPr/>
        </p:nvSpPr>
        <p:spPr>
          <a:xfrm>
            <a:off x="8953500" y="180022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Verify &amp; Prioritize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D3599D-FCA0-4459-9A66-6072455D0905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098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1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1"/>
                </a:solidFill>
                <a:latin typeface="Arial"/>
                <a:ea typeface="Arial"/>
                <a:cs typeface="Arial"/>
              </a:rPr>
              <a:t>Validate findings and set priorities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4F75D1-C367-47BE-8BD2-8328FD22099A}"/>
              </a:ext>
            </a:extLst>
          </p:cNvPr>
          <p:cNvSpPr>
            <a:spLocks noGrp="1"/>
          </p:cNvSpPr>
          <p:nvPr/>
        </p:nvSpPr>
        <p:spPr>
          <a:xfrm>
            <a:off x="8439150" y="3238500"/>
            <a:ext cx="3286125" cy="990600"/>
          </a:xfrm>
          <a:prstGeom prst="rect">
            <a:avLst/>
          </a:prstGeom>
          <a:solidFill>
            <a:srgbClr val="F1F6FA"/>
          </a:solidFill>
          <a:ln w="14288">
            <a:solidFill>
              <a:srgbClr val="CCDCE9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25DE55-EF16-41CB-8536-941B0CB84A25}"/>
              </a:ext>
            </a:extLst>
          </p:cNvPr>
          <p:cNvSpPr>
            <a:spLocks noGrp="1"/>
          </p:cNvSpPr>
          <p:nvPr/>
        </p:nvSpPr>
        <p:spPr>
          <a:xfrm>
            <a:off x="8562975" y="33623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09FA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FA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EAAA6E-371D-4178-88F3-1FB88BC9E65E}"/>
              </a:ext>
            </a:extLst>
          </p:cNvPr>
          <p:cNvSpPr>
            <a:spLocks noGrp="1"/>
          </p:cNvSpPr>
          <p:nvPr/>
        </p:nvSpPr>
        <p:spPr>
          <a:xfrm>
            <a:off x="8953500" y="336232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Plan &amp; Execute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073E0D-0F4D-4A9E-8990-2755F233F0DB}"/>
              </a:ext>
            </a:extLst>
          </p:cNvPr>
          <p:cNvSpPr>
            <a:spLocks noGrp="1"/>
          </p:cNvSpPr>
          <p:nvPr/>
        </p:nvSpPr>
        <p:spPr>
          <a:xfrm>
            <a:off x="8953500" y="3686175"/>
            <a:ext cx="26098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1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1"/>
                </a:solidFill>
                <a:latin typeface="Arial"/>
                <a:ea typeface="Arial"/>
                <a:cs typeface="Arial"/>
              </a:rPr>
              <a:t>Assign PIC, due date and record progress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2EAE78-3E8D-475A-9695-BE9E32C72F4D}"/>
              </a:ext>
            </a:extLst>
          </p:cNvPr>
          <p:cNvSpPr>
            <a:spLocks noGrp="1"/>
          </p:cNvSpPr>
          <p:nvPr/>
        </p:nvSpPr>
        <p:spPr>
          <a:xfrm>
            <a:off x="4552950" y="3238500"/>
            <a:ext cx="3286125" cy="990600"/>
          </a:xfrm>
          <a:prstGeom prst="rect">
            <a:avLst/>
          </a:prstGeom>
          <a:solidFill>
            <a:srgbClr val="F1F6FA"/>
          </a:solidFill>
          <a:ln w="14288">
            <a:solidFill>
              <a:srgbClr val="CCDCE9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E594DC-10EE-41C5-888C-0146A833788F}"/>
              </a:ext>
            </a:extLst>
          </p:cNvPr>
          <p:cNvSpPr>
            <a:spLocks noGrp="1"/>
          </p:cNvSpPr>
          <p:nvPr/>
        </p:nvSpPr>
        <p:spPr>
          <a:xfrm>
            <a:off x="4676775" y="33623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09FA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FA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64E08B-76EA-4C22-9FB9-8EB5A636F856}"/>
              </a:ext>
            </a:extLst>
          </p:cNvPr>
          <p:cNvSpPr>
            <a:spLocks noGrp="1"/>
          </p:cNvSpPr>
          <p:nvPr/>
        </p:nvSpPr>
        <p:spPr>
          <a:xfrm>
            <a:off x="5067300" y="3362325"/>
            <a:ext cx="2619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Verify &amp; Close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699B668-77C8-437D-9D24-349738CABC33}"/>
              </a:ext>
            </a:extLst>
          </p:cNvPr>
          <p:cNvSpPr>
            <a:spLocks noGrp="1"/>
          </p:cNvSpPr>
          <p:nvPr/>
        </p:nvSpPr>
        <p:spPr>
          <a:xfrm>
            <a:off x="5067300" y="3686175"/>
            <a:ext cx="26098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1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1"/>
                </a:solidFill>
                <a:latin typeface="Arial"/>
                <a:ea typeface="Arial"/>
                <a:cs typeface="Arial"/>
              </a:rPr>
              <a:t>Check completion evidence or reopen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880B19-F50C-4F4C-BEA7-03837CF8D4DC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7839075" y="2171700"/>
            <a:ext cx="600075" cy="0"/>
          </a:xfrm>
          <a:prstGeom prst="straightConnector1">
            <a:avLst/>
          </a:prstGeom>
          <a:ln w="23813">
            <a:solidFill>
              <a:srgbClr val="009FAE"/>
            </a:solidFill>
            <a:tailEnd type="arrow" w="med" len="med"/>
          </a:ln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E97474E-4D27-4B37-9150-F8FD2CE90900}"/>
              </a:ext>
            </a:extLst>
          </p:cNvPr>
          <p:cNvCxnSpPr>
            <a:stCxn id="31" idx="2"/>
            <a:endCxn id="35" idx="0"/>
          </p:cNvCxnSpPr>
          <p:nvPr/>
        </p:nvCxnSpPr>
        <p:spPr>
          <a:xfrm>
            <a:off x="10082213" y="2667000"/>
            <a:ext cx="0" cy="571500"/>
          </a:xfrm>
          <a:prstGeom prst="straightConnector1">
            <a:avLst/>
          </a:prstGeom>
          <a:ln w="23813">
            <a:solidFill>
              <a:srgbClr val="009FAE"/>
            </a:solidFill>
            <a:tailEnd type="arrow" w="med" len="med"/>
          </a:ln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D79E8C-D0F8-41AC-9E94-180FE57FBEAE}"/>
              </a:ext>
            </a:extLst>
          </p:cNvPr>
          <p:cNvCxnSpPr>
            <a:stCxn id="35" idx="1"/>
            <a:endCxn id="39" idx="3"/>
          </p:cNvCxnSpPr>
          <p:nvPr/>
        </p:nvCxnSpPr>
        <p:spPr>
          <a:xfrm flipH="1">
            <a:off x="7839075" y="3733800"/>
            <a:ext cx="600075" cy="0"/>
          </a:xfrm>
          <a:prstGeom prst="straightConnector1">
            <a:avLst/>
          </a:prstGeom>
          <a:ln w="23813">
            <a:solidFill>
              <a:srgbClr val="009FAE"/>
            </a:solidFill>
            <a:tailEnd type="arrow" w="med" len="med"/>
          </a:ln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117B60F-050B-4944-A577-A71CDBE2D467}"/>
              </a:ext>
            </a:extLst>
          </p:cNvPr>
          <p:cNvSpPr>
            <a:spLocks noGrp="1"/>
          </p:cNvSpPr>
          <p:nvPr/>
        </p:nvSpPr>
        <p:spPr>
          <a:xfrm>
            <a:off x="4552950" y="4676775"/>
            <a:ext cx="7172325" cy="742950"/>
          </a:xfrm>
          <a:prstGeom prst="rect">
            <a:avLst/>
          </a:prstGeom>
          <a:solidFill>
            <a:srgbClr val="214E78"/>
          </a:solidFill>
          <a:ln w="0">
            <a:noFill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288C7E2-BBF1-4DC1-9074-790C6965BA11}"/>
              </a:ext>
            </a:extLst>
          </p:cNvPr>
          <p:cNvSpPr>
            <a:spLocks noGrp="1"/>
          </p:cNvSpPr>
          <p:nvPr/>
        </p:nvSpPr>
        <p:spPr>
          <a:xfrm>
            <a:off x="4714875" y="4772025"/>
            <a:ext cx="68103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PROBLEM TAGGING DASHBOARD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D4C6AA-D60A-4CBA-84A8-792AB35AF158}"/>
              </a:ext>
            </a:extLst>
          </p:cNvPr>
          <p:cNvSpPr>
            <a:spLocks noGrp="1"/>
          </p:cNvSpPr>
          <p:nvPr/>
        </p:nvSpPr>
        <p:spPr>
          <a:xfrm>
            <a:off x="4714875" y="5067300"/>
            <a:ext cx="68103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Visual Map     /     Tracking     /     Summary     /     Action Plan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D903765-C6B0-4A45-AE5D-74A54008BD96}"/>
              </a:ext>
            </a:extLst>
          </p:cNvPr>
          <p:cNvCxnSpPr>
            <a:stCxn id="39" idx="2"/>
            <a:endCxn id="46" idx="0"/>
          </p:cNvCxnSpPr>
          <p:nvPr/>
        </p:nvCxnSpPr>
        <p:spPr>
          <a:xfrm>
            <a:off x="6196013" y="4229100"/>
            <a:ext cx="1943100" cy="4476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009FAE"/>
            </a:solidFill>
            <a:tailEnd type="arrow" w="med" len="med"/>
          </a:ln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C94EF70-F13E-4547-BD7E-72DA919865CD}"/>
              </a:ext>
            </a:extLst>
          </p:cNvPr>
          <p:cNvSpPr>
            <a:spLocks noGrp="1"/>
          </p:cNvSpPr>
          <p:nvPr/>
        </p:nvSpPr>
        <p:spPr>
          <a:xfrm>
            <a:off x="8524875" y="430530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09F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FAE"/>
                </a:solidFill>
                <a:latin typeface="Arial"/>
                <a:ea typeface="Arial"/>
                <a:cs typeface="Arial"/>
              </a:rPr>
              <a:t>Feedback and progress monitoring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E1455AE-CEC4-442E-AF20-FCC0C6A039ED}"/>
              </a:ext>
            </a:extLst>
          </p:cNvPr>
          <p:cNvCxnSpPr>
            <a:stCxn id="46" idx="3"/>
            <a:endCxn id="35" idx="3"/>
          </p:cNvCxnSpPr>
          <p:nvPr/>
        </p:nvCxnSpPr>
        <p:spPr>
          <a:xfrm flipV="1">
            <a:off x="11725275" y="3733800"/>
            <a:ext cx="228600" cy="1314450"/>
          </a:xfrm>
          <a:prstGeom prst="bentConnector4">
            <a:avLst/>
          </a:prstGeom>
          <a:ln w="23813">
            <a:solidFill>
              <a:srgbClr val="009FAE"/>
            </a:solidFill>
            <a:tailEnd type="arrow" w="med" len="med"/>
          </a:ln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6567F55-E56D-40F0-AA65-478E6992F51F}"/>
              </a:ext>
            </a:extLst>
          </p:cNvPr>
          <p:cNvSpPr>
            <a:spLocks noGrp="1"/>
          </p:cNvSpPr>
          <p:nvPr/>
        </p:nvSpPr>
        <p:spPr>
          <a:xfrm>
            <a:off x="4552950" y="5629275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14E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4E78"/>
                </a:solidFill>
                <a:latin typeface="Arial"/>
                <a:ea typeface="Arial"/>
                <a:cs typeface="Arial"/>
              </a:rPr>
              <a:t>PROPOSED DATA INTEGRATION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281875-20AB-404E-8E67-7084808773D2}"/>
              </a:ext>
            </a:extLst>
          </p:cNvPr>
          <p:cNvSpPr>
            <a:spLocks noGrp="1"/>
          </p:cNvSpPr>
          <p:nvPr/>
        </p:nvSpPr>
        <p:spPr>
          <a:xfrm>
            <a:off x="4552950" y="5953125"/>
            <a:ext cx="71913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261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1"/>
                </a:solidFill>
                <a:latin typeface="Arial"/>
                <a:ea typeface="Arial"/>
                <a:cs typeface="Arial"/>
              </a:rPr>
              <a:t>GIS &amp; block master data     ·     Production &amp; BCCR     ·     eFACT / SAP*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F629D22-4995-4C97-AB61-0290143516A0}"/>
              </a:ext>
            </a:extLst>
          </p:cNvPr>
          <p:cNvSpPr>
            <a:spLocks noGrp="1"/>
          </p:cNvSpPr>
          <p:nvPr/>
        </p:nvSpPr>
        <p:spPr>
          <a:xfrm>
            <a:off x="4552950" y="6334125"/>
            <a:ext cx="719137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261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1"/>
                </a:solidFill>
                <a:latin typeface="Arial"/>
                <a:ea typeface="Arial"/>
                <a:cs typeface="Arial"/>
              </a:rPr>
              <a:t>*Integration scope and data availability to be confirmed</a:t>
            </a:r>
          </a:p>
        </p:txBody>
      </p:sp>
    </p:spTree>
    <p:extLst>
      <p:ext uri="{BB962C8B-B14F-4D97-AF65-F5344CB8AC3E}">
        <p14:creationId xmlns:p14="http://schemas.microsoft.com/office/powerpoint/2010/main" val="181942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F6A0D3-34C7-4DDC-8B20-57921C9F3312}"/>
              </a:ext>
            </a:extLst>
          </p:cNvPr>
          <p:cNvSpPr>
            <a:spLocks noGrp="1"/>
          </p:cNvSpPr>
          <p:nvPr/>
        </p:nvSpPr>
        <p:spPr>
          <a:xfrm>
            <a:off x="304800" y="1009650"/>
            <a:ext cx="11582400" cy="28575"/>
          </a:xfrm>
          <a:prstGeom prst="rect">
            <a:avLst/>
          </a:prstGeom>
          <a:solidFill>
            <a:srgbClr val="ED1C24"/>
          </a:solidFill>
          <a:ln w="0">
            <a:noFill/>
          </a:ln>
        </p:spPr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ACD6EEB-2554-4C97-ACDB-8E8568394EC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9685"/>
          <a:stretch/>
        </p:blipFill>
        <p:spPr>
          <a:xfrm>
            <a:off x="802255" y="1094223"/>
            <a:ext cx="11283350" cy="5735202"/>
          </a:xfrm>
          <a:prstGeom prst="rect">
            <a:avLst/>
          </a:prstGeom>
        </p:spPr>
      </p:pic>
      <p:sp>
        <p:nvSpPr>
          <p:cNvPr id="56" name="Title 2">
            <a:extLst>
              <a:ext uri="{FF2B5EF4-FFF2-40B4-BE49-F238E27FC236}">
                <a16:creationId xmlns:a16="http://schemas.microsoft.com/office/drawing/2014/main" id="{746D50EF-322B-4038-BE79-07805E4D9570}"/>
              </a:ext>
            </a:extLst>
          </p:cNvPr>
          <p:cNvSpPr txBox="1">
            <a:spLocks/>
          </p:cNvSpPr>
          <p:nvPr/>
        </p:nvSpPr>
        <p:spPr>
          <a:xfrm>
            <a:off x="6096000" y="121734"/>
            <a:ext cx="5845630" cy="68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b="1" dirty="0">
                <a:solidFill>
                  <a:srgbClr val="000000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217186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F6A0D3-34C7-4DDC-8B20-57921C9F3312}"/>
              </a:ext>
            </a:extLst>
          </p:cNvPr>
          <p:cNvSpPr>
            <a:spLocks noGrp="1"/>
          </p:cNvSpPr>
          <p:nvPr/>
        </p:nvSpPr>
        <p:spPr>
          <a:xfrm>
            <a:off x="304800" y="1009650"/>
            <a:ext cx="11582400" cy="28575"/>
          </a:xfrm>
          <a:prstGeom prst="rect">
            <a:avLst/>
          </a:prstGeom>
          <a:solidFill>
            <a:srgbClr val="ED1C24"/>
          </a:solidFill>
          <a:ln w="0">
            <a:noFill/>
          </a:ln>
        </p:spPr>
      </p:sp>
      <p:sp>
        <p:nvSpPr>
          <p:cNvPr id="56" name="Title 2">
            <a:extLst>
              <a:ext uri="{FF2B5EF4-FFF2-40B4-BE49-F238E27FC236}">
                <a16:creationId xmlns:a16="http://schemas.microsoft.com/office/drawing/2014/main" id="{746D50EF-322B-4038-BE79-07805E4D9570}"/>
              </a:ext>
            </a:extLst>
          </p:cNvPr>
          <p:cNvSpPr txBox="1">
            <a:spLocks/>
          </p:cNvSpPr>
          <p:nvPr/>
        </p:nvSpPr>
        <p:spPr>
          <a:xfrm>
            <a:off x="6096000" y="121734"/>
            <a:ext cx="5845630" cy="68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b="1" dirty="0">
                <a:solidFill>
                  <a:srgbClr val="000000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MAIN FEATURES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3F7005-0F1F-4B0D-8D7E-BDA236573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165503"/>
              </p:ext>
            </p:extLst>
          </p:nvPr>
        </p:nvGraphicFramePr>
        <p:xfrm>
          <a:off x="252024" y="1114785"/>
          <a:ext cx="11687952" cy="544829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98742">
                  <a:extLst>
                    <a:ext uri="{9D8B030D-6E8A-4147-A177-3AD203B41FA5}">
                      <a16:colId xmlns:a16="http://schemas.microsoft.com/office/drawing/2014/main" val="3123122941"/>
                    </a:ext>
                  </a:extLst>
                </a:gridCol>
                <a:gridCol w="7144718">
                  <a:extLst>
                    <a:ext uri="{9D8B030D-6E8A-4147-A177-3AD203B41FA5}">
                      <a16:colId xmlns:a16="http://schemas.microsoft.com/office/drawing/2014/main" val="2550591814"/>
                    </a:ext>
                  </a:extLst>
                </a:gridCol>
                <a:gridCol w="2744492">
                  <a:extLst>
                    <a:ext uri="{9D8B030D-6E8A-4147-A177-3AD203B41FA5}">
                      <a16:colId xmlns:a16="http://schemas.microsoft.com/office/drawing/2014/main" val="627461052"/>
                    </a:ext>
                  </a:extLst>
                </a:gridCol>
              </a:tblGrid>
              <a:tr h="224413">
                <a:tc>
                  <a:txBody>
                    <a:bodyPr/>
                    <a:lstStyle/>
                    <a:p>
                      <a:r>
                        <a:rPr lang="en-US" sz="1200"/>
                        <a:t>Main Feature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Detailed Features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Platform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1286633896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Geotagged Problem Capture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Buat problem tagging; pilih kategori masalah; input severity, sensitivity, volume dan satuan; foto dengan koordinat dan waktu pengambilan; catatan kondisi; simpan draft dan submit.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Mobile, dashboard untuk melihat detail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2482088737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Interactive Problem Map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Peta </a:t>
                      </a:r>
                      <a:r>
                        <a:rPr lang="en-US" sz="1200" dirty="0" err="1"/>
                        <a:t>batas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blok</a:t>
                      </a:r>
                      <a:r>
                        <a:rPr lang="en-US" sz="1200" dirty="0"/>
                        <a:t> dan </a:t>
                      </a:r>
                      <a:r>
                        <a:rPr lang="en-US" sz="1200" dirty="0" err="1"/>
                        <a:t>titik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masalah</a:t>
                      </a:r>
                      <a:r>
                        <a:rPr lang="en-US" sz="1200" dirty="0"/>
                        <a:t>; </a:t>
                      </a:r>
                      <a:r>
                        <a:rPr lang="en-US" sz="1200" dirty="0" err="1"/>
                        <a:t>warna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berdasarkan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kategori</a:t>
                      </a:r>
                      <a:r>
                        <a:rPr lang="en-US" sz="1200" dirty="0"/>
                        <a:t>/status; filter </a:t>
                      </a:r>
                      <a:r>
                        <a:rPr lang="en-US" sz="1200" dirty="0" err="1"/>
                        <a:t>wilayah</a:t>
                      </a:r>
                      <a:r>
                        <a:rPr lang="en-US" sz="1200" dirty="0"/>
                        <a:t> dan </a:t>
                      </a:r>
                      <a:r>
                        <a:rPr lang="en-US" sz="1200" dirty="0" err="1"/>
                        <a:t>periode</a:t>
                      </a:r>
                      <a:r>
                        <a:rPr lang="en-US" sz="1200" dirty="0"/>
                        <a:t>; detail </a:t>
                      </a:r>
                      <a:r>
                        <a:rPr lang="en-US" sz="1200" dirty="0" err="1"/>
                        <a:t>foto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saat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titik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dipilih</a:t>
                      </a:r>
                      <a:r>
                        <a:rPr lang="en-US" sz="1200" dirty="0"/>
                        <a:t>; drill-down PSM–Region–Estate–Divisi–Blok; </a:t>
                      </a:r>
                      <a:r>
                        <a:rPr lang="en-US" sz="1200" dirty="0" err="1"/>
                        <a:t>fullscreen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&amp;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789598314"/>
                  </a:ext>
                </a:extLst>
              </a:tr>
              <a:tr h="475988">
                <a:tc>
                  <a:txBody>
                    <a:bodyPr/>
                    <a:lstStyle/>
                    <a:p>
                      <a:r>
                        <a:rPr lang="en-US" sz="1200"/>
                        <a:t>Inspection Tracking &amp; Coverage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Start/stop tracking inspeksi; rekam jalur GPS; hubungkan tagging dengan sesi inspeksi; riwayat rute; jarak dan durasi; tampilkan estimasi coverage serta area yang belum diperiksa dalam periode tertentu.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Mobile untuk merekam, dashboard untuk analisis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2579267868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Problem Summary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Jumlah tagging per kategori dan status; volume berdasarkan satuan yang sama; distribusi major/minor dan severity; progres penyelesaian; rekap per wilayah dan periode; export laporan.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Dashboard, ringkasan pribadi di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2159434371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Priority-Based Review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Daftar masalah prioritas; sorting/filter berdasarkan severity, sensitivity, umur masalah dan keterlambatan; tandai masalah yang membutuhkan perhatian; buka detail dan action plan terkait.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&amp;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2724013729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Alerts &amp; Trend Monitoring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Notifikasi tagging menunggu verifikasi; penugasan action plan; pengingat deadline; overdue; tren masalah baru dan selesai; identifikasi masalah berulang.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&amp;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3105163507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Problem Tagging Verification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Antrean verifikasi; review foto, lokasi dan klasifikasi; approve, return untuk perbaikan atau reject dengan alasan; riwayat keputusan dan perubahan status.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&amp;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2948089221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Action Plan Management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Tentukan tindakan; PIC; target waktu; kebutuhan sumber daya; volume pekerjaan; update realisasi, foto dan kendala; pantau rencana dibandingkan realisasi.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&amp;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1462051378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Verified Closure &amp; History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Ajukan penyelesaian; bandingkan foto sebelum–sesudah; verifikasi penyelesaian bertahap; return/reopen jika belum sesuai; riwayat tagging, tindakan dan persetujuan.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 &amp; mobile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962013237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Standardized Master Data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Master wilayah dan blok; kategori masalah; satuan; aturan severity dan sensitivity; referensi tindakan; user, role dan cakupan akses.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725887689"/>
                  </a:ext>
                </a:extLst>
              </a:tr>
              <a:tr h="475988">
                <a:tc>
                  <a:txBody>
                    <a:bodyPr/>
                    <a:lstStyle/>
                    <a:p>
                      <a:r>
                        <a:rPr lang="en-US" sz="1200"/>
                        <a:t>Production &amp; BCCR Linkage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Tampilkan produksi aktual dibandingkan potensi; histori produksi; kondisi BCCR; lihat masalah dan progres tindakan pada blok yang sama; evaluasi perubahan produksi setelah tindakan.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Dashboard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1987565130"/>
                  </a:ext>
                </a:extLst>
              </a:tr>
              <a:tr h="427191">
                <a:tc>
                  <a:txBody>
                    <a:bodyPr/>
                    <a:lstStyle/>
                    <a:p>
                      <a:r>
                        <a:rPr lang="en-US" sz="1200"/>
                        <a:t>Relevant System Integration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Integrasi peta dan master blok; data produksi/BCCR; data operasional yang disepakati; status sinkronisasi; waktu pembaruan terakhir dan penanganan kegagalan sinkronisasi.</a:t>
                      </a:r>
                    </a:p>
                  </a:txBody>
                  <a:tcPr marL="19513" marR="19513" marT="9756" marB="975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Dashboard/backend</a:t>
                      </a:r>
                    </a:p>
                  </a:txBody>
                  <a:tcPr marL="19513" marR="19513" marT="9756" marB="9756" anchor="ctr"/>
                </a:tc>
                <a:extLst>
                  <a:ext uri="{0D108BD9-81ED-4DB2-BD59-A6C34878D82A}">
                    <a16:rowId xmlns:a16="http://schemas.microsoft.com/office/drawing/2014/main" val="98929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34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F6A0D3-34C7-4DDC-8B20-57921C9F3312}"/>
              </a:ext>
            </a:extLst>
          </p:cNvPr>
          <p:cNvSpPr>
            <a:spLocks noGrp="1"/>
          </p:cNvSpPr>
          <p:nvPr/>
        </p:nvSpPr>
        <p:spPr>
          <a:xfrm>
            <a:off x="304800" y="1009650"/>
            <a:ext cx="11582400" cy="28575"/>
          </a:xfrm>
          <a:prstGeom prst="rect">
            <a:avLst/>
          </a:prstGeom>
          <a:solidFill>
            <a:srgbClr val="ED1C24"/>
          </a:solidFill>
          <a:ln w="0">
            <a:noFill/>
          </a:ln>
        </p:spPr>
      </p:sp>
      <p:sp>
        <p:nvSpPr>
          <p:cNvPr id="56" name="Title 2">
            <a:extLst>
              <a:ext uri="{FF2B5EF4-FFF2-40B4-BE49-F238E27FC236}">
                <a16:creationId xmlns:a16="http://schemas.microsoft.com/office/drawing/2014/main" id="{746D50EF-322B-4038-BE79-07805E4D9570}"/>
              </a:ext>
            </a:extLst>
          </p:cNvPr>
          <p:cNvSpPr txBox="1">
            <a:spLocks/>
          </p:cNvSpPr>
          <p:nvPr/>
        </p:nvSpPr>
        <p:spPr>
          <a:xfrm>
            <a:off x="6096000" y="121734"/>
            <a:ext cx="5845630" cy="68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b="1" dirty="0">
                <a:solidFill>
                  <a:srgbClr val="000000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DASHBOARD FEATURES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30B503-3ADE-45AB-A37F-BFE34B3E9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52523"/>
              </p:ext>
            </p:extLst>
          </p:nvPr>
        </p:nvGraphicFramePr>
        <p:xfrm>
          <a:off x="927984" y="1394742"/>
          <a:ext cx="10785166" cy="420786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85134">
                  <a:extLst>
                    <a:ext uri="{9D8B030D-6E8A-4147-A177-3AD203B41FA5}">
                      <a16:colId xmlns:a16="http://schemas.microsoft.com/office/drawing/2014/main" val="3737894642"/>
                    </a:ext>
                  </a:extLst>
                </a:gridCol>
                <a:gridCol w="4791456">
                  <a:extLst>
                    <a:ext uri="{9D8B030D-6E8A-4147-A177-3AD203B41FA5}">
                      <a16:colId xmlns:a16="http://schemas.microsoft.com/office/drawing/2014/main" val="1856694324"/>
                    </a:ext>
                  </a:extLst>
                </a:gridCol>
                <a:gridCol w="4608576">
                  <a:extLst>
                    <a:ext uri="{9D8B030D-6E8A-4147-A177-3AD203B41FA5}">
                      <a16:colId xmlns:a16="http://schemas.microsoft.com/office/drawing/2014/main" val="420699705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r>
                        <a:rPr lang="en-US" sz="1200"/>
                        <a:t>Main Menu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Submenu / Isi Utama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Tujuan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86821772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r>
                        <a:rPr lang="en-US" sz="1200"/>
                        <a:t>1. Dashboard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Overview </a:t>
                      </a:r>
                      <a:r>
                        <a:rPr lang="en-US" sz="1200" dirty="0" err="1"/>
                        <a:t>masalah</a:t>
                      </a:r>
                      <a:r>
                        <a:rPr lang="en-US" sz="1200" dirty="0"/>
                        <a:t>, major/minor, </a:t>
                      </a:r>
                      <a:r>
                        <a:rPr lang="en-US" sz="1200" dirty="0" err="1"/>
                        <a:t>prioritas</a:t>
                      </a:r>
                      <a:r>
                        <a:rPr lang="en-US" sz="1200" dirty="0"/>
                        <a:t>, coverage, </a:t>
                      </a:r>
                      <a:r>
                        <a:rPr lang="en-US" sz="1200" dirty="0" err="1"/>
                        <a:t>progres</a:t>
                      </a:r>
                      <a:r>
                        <a:rPr lang="en-US" sz="1200" dirty="0"/>
                        <a:t> action plan, overdue, </a:t>
                      </a:r>
                      <a:r>
                        <a:rPr lang="en-US" sz="1200" dirty="0" err="1"/>
                        <a:t>ringkasan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produksi</a:t>
                      </a:r>
                      <a:r>
                        <a:rPr lang="en-US" sz="1200" dirty="0"/>
                        <a:t>/BCCR.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Melihat kondisi keseluruhan dan hal yang perlu perhatian.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770333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dirty="0"/>
                        <a:t>2. Map &amp; Coverage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Peta </a:t>
                      </a:r>
                      <a:r>
                        <a:rPr lang="en-US" sz="1200" dirty="0" err="1"/>
                        <a:t>masalah</a:t>
                      </a:r>
                      <a:r>
                        <a:rPr lang="en-US" sz="1200" dirty="0"/>
                        <a:t> &amp; action plan, </a:t>
                      </a:r>
                      <a:r>
                        <a:rPr lang="en-US" sz="1200" dirty="0" err="1"/>
                        <a:t>jalur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, coverage per </a:t>
                      </a:r>
                      <a:r>
                        <a:rPr lang="en-US" sz="1200" dirty="0" err="1"/>
                        <a:t>periode</a:t>
                      </a:r>
                      <a:r>
                        <a:rPr lang="en-US" sz="1200" dirty="0"/>
                        <a:t>, detail </a:t>
                      </a:r>
                      <a:r>
                        <a:rPr lang="en-US" sz="1200" dirty="0" err="1"/>
                        <a:t>blok</a:t>
                      </a:r>
                      <a:r>
                        <a:rPr lang="en-US" sz="1200" dirty="0"/>
                        <a:t>, layer </a:t>
                      </a:r>
                      <a:r>
                        <a:rPr lang="en-US" sz="1200" dirty="0" err="1"/>
                        <a:t>produksi</a:t>
                      </a:r>
                      <a:r>
                        <a:rPr lang="en-US" sz="1200" dirty="0"/>
                        <a:t>/BCCR.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Mengetahui lokasi masalah dan area yang perlu diperiksa.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66603523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/>
                        <a:t>3. Problem Tagging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Semua tagging, antrean verifikasi, tagging dikembalikan/ditolak, detail dan riwayat tagging.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Mengelola dan memvalidasi data masalah.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6578168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/>
                        <a:t>4. Action Plan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Daftar rencana, penugasan, progres, overdue, antrean verifikasi penyelesaian, closed/reopened.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Mengawal tindak lanjut sampai selesai terverifikasi.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3501473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dirty="0"/>
                        <a:t>5. Reports &amp; Analytics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Rekap</a:t>
                      </a:r>
                      <a:r>
                        <a:rPr lang="en-US" sz="1200" dirty="0"/>
                        <a:t> tagging &amp; action plan, </a:t>
                      </a:r>
                      <a:r>
                        <a:rPr lang="en-US" sz="1200" dirty="0" err="1"/>
                        <a:t>laporan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/coverage, </a:t>
                      </a:r>
                      <a:r>
                        <a:rPr lang="en-US" sz="1200" dirty="0" err="1"/>
                        <a:t>penyelesaian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waktu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penanganan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tren</a:t>
                      </a:r>
                      <a:r>
                        <a:rPr lang="en-US" sz="1200" dirty="0"/>
                        <a:t> dan </a:t>
                      </a:r>
                      <a:r>
                        <a:rPr lang="en-US" sz="1200" dirty="0" err="1"/>
                        <a:t>masalah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berulang</a:t>
                      </a:r>
                      <a:r>
                        <a:rPr lang="en-US" sz="1200" dirty="0"/>
                        <a:t>, export.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fi-FI" sz="1200" dirty="0"/>
                        <a:t>Menyediakan analisis dan laporan berkala.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58529250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dirty="0"/>
                        <a:t>6. Production &amp; BCCR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sv-SE" sz="1200"/>
                        <a:t>Aktual vs potensi, histori produksi, BCCR, masalah dan tindakan terkait per blok.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Mendukung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analisis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prioritas</a:t>
                      </a:r>
                      <a:r>
                        <a:rPr lang="es-ES" sz="1200" dirty="0"/>
                        <a:t> dan </a:t>
                      </a:r>
                      <a:r>
                        <a:rPr lang="es-ES" sz="1200" dirty="0" err="1"/>
                        <a:t>evaluasi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hasil</a:t>
                      </a:r>
                      <a:r>
                        <a:rPr lang="es-ES" sz="1200" dirty="0"/>
                        <a:t>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421294217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dirty="0"/>
                        <a:t>7. Administration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Master data, user &amp; role, </a:t>
                      </a:r>
                      <a:r>
                        <a:rPr lang="en-US" sz="1200" dirty="0" err="1"/>
                        <a:t>aturan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prioritas</a:t>
                      </a:r>
                      <a:r>
                        <a:rPr lang="en-US" sz="1200" dirty="0"/>
                        <a:t>/</a:t>
                      </a:r>
                      <a:r>
                        <a:rPr lang="en-US" sz="1200" dirty="0" err="1"/>
                        <a:t>notifikasi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integrasi</a:t>
                      </a:r>
                      <a:r>
                        <a:rPr lang="en-US" sz="1200" dirty="0"/>
                        <a:t> dan status </a:t>
                      </a:r>
                      <a:r>
                        <a:rPr lang="en-US" sz="1200" dirty="0" err="1"/>
                        <a:t>sinkronisasi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nb-NO" sz="1200" dirty="0"/>
                        <a:t>Mengatur referensi dan konfigurasi sistem.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6113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05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F6A0D3-34C7-4DDC-8B20-57921C9F3312}"/>
              </a:ext>
            </a:extLst>
          </p:cNvPr>
          <p:cNvSpPr>
            <a:spLocks noGrp="1"/>
          </p:cNvSpPr>
          <p:nvPr/>
        </p:nvSpPr>
        <p:spPr>
          <a:xfrm>
            <a:off x="304800" y="1009650"/>
            <a:ext cx="11582400" cy="28575"/>
          </a:xfrm>
          <a:prstGeom prst="rect">
            <a:avLst/>
          </a:prstGeom>
          <a:solidFill>
            <a:srgbClr val="ED1C24"/>
          </a:solidFill>
          <a:ln w="0">
            <a:noFill/>
          </a:ln>
        </p:spPr>
      </p:sp>
      <p:sp>
        <p:nvSpPr>
          <p:cNvPr id="56" name="Title 2">
            <a:extLst>
              <a:ext uri="{FF2B5EF4-FFF2-40B4-BE49-F238E27FC236}">
                <a16:creationId xmlns:a16="http://schemas.microsoft.com/office/drawing/2014/main" id="{746D50EF-322B-4038-BE79-07805E4D9570}"/>
              </a:ext>
            </a:extLst>
          </p:cNvPr>
          <p:cNvSpPr txBox="1">
            <a:spLocks/>
          </p:cNvSpPr>
          <p:nvPr/>
        </p:nvSpPr>
        <p:spPr>
          <a:xfrm>
            <a:off x="6096000" y="121734"/>
            <a:ext cx="5845630" cy="68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b="1" dirty="0">
                <a:solidFill>
                  <a:srgbClr val="000000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MOBILE APP FEATURES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C0AE37-B869-4F4C-85D0-D9544EDCB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27150"/>
              </p:ext>
            </p:extLst>
          </p:nvPr>
        </p:nvGraphicFramePr>
        <p:xfrm>
          <a:off x="927984" y="1390677"/>
          <a:ext cx="10785165" cy="325324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44280">
                  <a:extLst>
                    <a:ext uri="{9D8B030D-6E8A-4147-A177-3AD203B41FA5}">
                      <a16:colId xmlns:a16="http://schemas.microsoft.com/office/drawing/2014/main" val="3737894642"/>
                    </a:ext>
                  </a:extLst>
                </a:gridCol>
                <a:gridCol w="5108654">
                  <a:extLst>
                    <a:ext uri="{9D8B030D-6E8A-4147-A177-3AD203B41FA5}">
                      <a16:colId xmlns:a16="http://schemas.microsoft.com/office/drawing/2014/main" val="1856694324"/>
                    </a:ext>
                  </a:extLst>
                </a:gridCol>
                <a:gridCol w="4232231">
                  <a:extLst>
                    <a:ext uri="{9D8B030D-6E8A-4147-A177-3AD203B41FA5}">
                      <a16:colId xmlns:a16="http://schemas.microsoft.com/office/drawing/2014/main" val="420699705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r>
                        <a:rPr lang="en-US" sz="1200" dirty="0"/>
                        <a:t>Main Menu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Submenu / Isi Utama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Tujuan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821772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r>
                        <a:rPr lang="en-US" sz="1200" b="1"/>
                        <a:t>1. Home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Ringkasan tugas hari ini, tagging menunggu perbaikan/verifikasi, action plan jatuh tempo, notifikasi, shortcut tambah tagging.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Menunjukkan pekerjaan yang perlu dilakukan pengguna.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0333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b="1"/>
                        <a:t>2. Inspection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Start/stop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jenis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aktifitas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saat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, (IPD, Blok Checklist,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 Upkeep,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Pupuk</a:t>
                      </a:r>
                      <a:r>
                        <a:rPr lang="en-US" sz="1200" dirty="0"/>
                        <a:t>) peta </a:t>
                      </a:r>
                      <a:r>
                        <a:rPr lang="en-US" sz="1200" dirty="0" err="1"/>
                        <a:t>posisi</a:t>
                      </a:r>
                      <a:r>
                        <a:rPr lang="en-US" sz="1200" dirty="0"/>
                        <a:t> dan </a:t>
                      </a:r>
                      <a:r>
                        <a:rPr lang="en-US" sz="1200" dirty="0" err="1"/>
                        <a:t>rute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tambah</a:t>
                      </a:r>
                      <a:r>
                        <a:rPr lang="en-US" sz="1200" dirty="0"/>
                        <a:t> tagging </a:t>
                      </a:r>
                      <a:r>
                        <a:rPr lang="en-US" sz="1200" dirty="0" err="1"/>
                        <a:t>saat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, coverage, </a:t>
                      </a:r>
                      <a:r>
                        <a:rPr lang="en-US" sz="1200" dirty="0" err="1"/>
                        <a:t>riwayat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inspeksi</a:t>
                      </a:r>
                      <a:r>
                        <a:rPr lang="en-US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Mendukung pemeriksaan lapangan dan pencatatan jalur.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03523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b="1"/>
                        <a:t>3. Problem Tagging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Tambah</a:t>
                      </a:r>
                      <a:r>
                        <a:rPr lang="en-US" sz="1200" dirty="0"/>
                        <a:t> tagging, draft, submitted, returned, verified; detail </a:t>
                      </a:r>
                      <a:r>
                        <a:rPr lang="en-US" sz="1200" dirty="0" err="1"/>
                        <a:t>masalah</a:t>
                      </a:r>
                      <a:r>
                        <a:rPr lang="en-US" sz="1200" dirty="0"/>
                        <a:t>; tab </a:t>
                      </a:r>
                      <a:r>
                        <a:rPr lang="en-US" sz="1200" dirty="0" err="1"/>
                        <a:t>verifikasi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sesuai</a:t>
                      </a:r>
                      <a:r>
                        <a:rPr lang="en-US" sz="1200" dirty="0"/>
                        <a:t> role.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Mencatat dan memverifikasi masalah lapangan.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8168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b="1" dirty="0"/>
                        <a:t>4. Action Plan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Tugas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saya</a:t>
                      </a:r>
                      <a:r>
                        <a:rPr lang="en-US" sz="1200" dirty="0"/>
                        <a:t>, detail </a:t>
                      </a:r>
                      <a:r>
                        <a:rPr lang="en-US" sz="1200" dirty="0" err="1"/>
                        <a:t>tindakan</a:t>
                      </a:r>
                      <a:r>
                        <a:rPr lang="en-US" sz="1200" dirty="0"/>
                        <a:t> dan target, update </a:t>
                      </a:r>
                      <a:r>
                        <a:rPr lang="en-US" sz="1200" dirty="0" err="1"/>
                        <a:t>progres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foto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penyelesaian</a:t>
                      </a:r>
                      <a:r>
                        <a:rPr lang="en-US" sz="1200" dirty="0"/>
                        <a:t>, submit completion; tab </a:t>
                      </a:r>
                      <a:r>
                        <a:rPr lang="en-US" sz="1200" dirty="0" err="1"/>
                        <a:t>verifikasi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sesuai</a:t>
                      </a:r>
                      <a:r>
                        <a:rPr lang="en-US" sz="1200" dirty="0"/>
                        <a:t> role.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Melaksanakan dan memverifikasi tindak lanjut.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01473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200" b="1" dirty="0"/>
                        <a:t>5. Account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Profil</a:t>
                      </a:r>
                      <a:r>
                        <a:rPr lang="en-US" sz="1200" dirty="0"/>
                        <a:t>, role dan </a:t>
                      </a:r>
                      <a:r>
                        <a:rPr lang="en-US" sz="1200" dirty="0" err="1"/>
                        <a:t>wilayah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akses</a:t>
                      </a:r>
                      <a:r>
                        <a:rPr lang="en-US" sz="1200" dirty="0"/>
                        <a:t>, status </a:t>
                      </a:r>
                      <a:r>
                        <a:rPr lang="en-US" sz="1200" dirty="0" err="1"/>
                        <a:t>sinkronisasi</a:t>
                      </a:r>
                      <a:r>
                        <a:rPr lang="en-US" sz="1200" dirty="0"/>
                        <a:t>, data </a:t>
                      </a:r>
                      <a:r>
                        <a:rPr lang="en-US" sz="1200" dirty="0" err="1"/>
                        <a:t>belum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terkirim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pengaturan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aplikasi</a:t>
                      </a:r>
                      <a:r>
                        <a:rPr lang="en-US" sz="12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i-FI" sz="1200" dirty="0"/>
                        <a:t>Mengelola akun dan memastikan data lapangan terkirim.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942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48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AF6A0D3-34C7-4DDC-8B20-57921C9F3312}"/>
              </a:ext>
            </a:extLst>
          </p:cNvPr>
          <p:cNvSpPr>
            <a:spLocks noGrp="1"/>
          </p:cNvSpPr>
          <p:nvPr/>
        </p:nvSpPr>
        <p:spPr>
          <a:xfrm>
            <a:off x="304800" y="1009650"/>
            <a:ext cx="11582400" cy="28575"/>
          </a:xfrm>
          <a:prstGeom prst="rect">
            <a:avLst/>
          </a:prstGeom>
          <a:solidFill>
            <a:srgbClr val="ED1C24"/>
          </a:solidFill>
          <a:ln w="0">
            <a:noFill/>
          </a:ln>
        </p:spPr>
      </p:sp>
      <p:sp>
        <p:nvSpPr>
          <p:cNvPr id="56" name="Title 2">
            <a:extLst>
              <a:ext uri="{FF2B5EF4-FFF2-40B4-BE49-F238E27FC236}">
                <a16:creationId xmlns:a16="http://schemas.microsoft.com/office/drawing/2014/main" id="{746D50EF-322B-4038-BE79-07805E4D9570}"/>
              </a:ext>
            </a:extLst>
          </p:cNvPr>
          <p:cNvSpPr txBox="1">
            <a:spLocks/>
          </p:cNvSpPr>
          <p:nvPr/>
        </p:nvSpPr>
        <p:spPr>
          <a:xfrm>
            <a:off x="6096000" y="121734"/>
            <a:ext cx="5845630" cy="68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b="1" dirty="0">
                <a:solidFill>
                  <a:srgbClr val="000000"/>
                </a:solidFill>
                <a:latin typeface="Poppins Medium" panose="00000600000000000000" pitchFamily="2" charset="0"/>
                <a:ea typeface="+mn-ea"/>
                <a:cs typeface="Poppins Medium" panose="00000600000000000000" pitchFamily="2" charset="0"/>
              </a:rPr>
              <a:t>MOBILE APP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F225FE-9EA7-4DF2-8112-34EBDB194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48699"/>
              </p:ext>
            </p:extLst>
          </p:nvPr>
        </p:nvGraphicFramePr>
        <p:xfrm>
          <a:off x="836228" y="1178643"/>
          <a:ext cx="11050970" cy="5032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194">
                  <a:extLst>
                    <a:ext uri="{9D8B030D-6E8A-4147-A177-3AD203B41FA5}">
                      <a16:colId xmlns:a16="http://schemas.microsoft.com/office/drawing/2014/main" val="3941543262"/>
                    </a:ext>
                  </a:extLst>
                </a:gridCol>
                <a:gridCol w="2210194">
                  <a:extLst>
                    <a:ext uri="{9D8B030D-6E8A-4147-A177-3AD203B41FA5}">
                      <a16:colId xmlns:a16="http://schemas.microsoft.com/office/drawing/2014/main" val="3261579867"/>
                    </a:ext>
                  </a:extLst>
                </a:gridCol>
                <a:gridCol w="2210194">
                  <a:extLst>
                    <a:ext uri="{9D8B030D-6E8A-4147-A177-3AD203B41FA5}">
                      <a16:colId xmlns:a16="http://schemas.microsoft.com/office/drawing/2014/main" val="3891284352"/>
                    </a:ext>
                  </a:extLst>
                </a:gridCol>
                <a:gridCol w="2210194">
                  <a:extLst>
                    <a:ext uri="{9D8B030D-6E8A-4147-A177-3AD203B41FA5}">
                      <a16:colId xmlns:a16="http://schemas.microsoft.com/office/drawing/2014/main" val="268015101"/>
                    </a:ext>
                  </a:extLst>
                </a:gridCol>
                <a:gridCol w="2210194">
                  <a:extLst>
                    <a:ext uri="{9D8B030D-6E8A-4147-A177-3AD203B41FA5}">
                      <a16:colId xmlns:a16="http://schemas.microsoft.com/office/drawing/2014/main" val="3732585679"/>
                    </a:ext>
                  </a:extLst>
                </a:gridCol>
              </a:tblGrid>
              <a:tr h="266869">
                <a:tc>
                  <a:txBody>
                    <a:bodyPr/>
                    <a:lstStyle/>
                    <a:p>
                      <a:r>
                        <a:rPr lang="en-US" sz="1100"/>
                        <a:t>Aktivitas / Hak Akses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Estate Manager / Asisten Kepala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Asisten Divisi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Asisten Upkeep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Mandor Upkeep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523101534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Dashboard &amp; summary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Seluruh wilayah kewenangan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Divisi yang ditangani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Pekerjaan upkeep dalam kewenangannya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Ringkasan tugas sendiri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126223716"/>
                  </a:ext>
                </a:extLst>
              </a:tr>
              <a:tr h="266869">
                <a:tc>
                  <a:txBody>
                    <a:bodyPr/>
                    <a:lstStyle/>
                    <a:p>
                      <a:r>
                        <a:rPr lang="en-US" sz="1100"/>
                        <a:t>Visual map &amp; detail problem tagging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Seluruh wilayah kewenangan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Divisi yang ditangani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Area pekerjaan upkeep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Area penugasan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875995951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Tracking inspeksi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tracking &amp; coverage tim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Rekam inspeksi; lihat coverage divisi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Rekam inspeksi; lihat coverage area tugas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Rekam aktivitas inspeksi sesuai penugasan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845161062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Buat &amp; submit problem tagging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&amp; review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Buat, edit draft &amp; submit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Buat, edit draft &amp; submit untuk masalah upkeep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Buat draft/usulan untuk direview Asisten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581131710"/>
                  </a:ext>
                </a:extLst>
              </a:tr>
              <a:tr h="266869">
                <a:tc>
                  <a:txBody>
                    <a:bodyPr/>
                    <a:lstStyle/>
                    <a:p>
                      <a:r>
                        <a:rPr lang="en-US" sz="1100"/>
                        <a:t>Verifikasi problem tagging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Approve, return atau reject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Perbaiki tagging yang dikembalikan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Perbaiki tagging yang dikembalikan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Perbaiki draft/usulan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1311834048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 dirty="0" err="1"/>
                        <a:t>Susun</a:t>
                      </a:r>
                      <a:r>
                        <a:rPr lang="en-US" sz="1100" dirty="0"/>
                        <a:t> action plan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Review &amp; arahkan prioritas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fi-FI" sz="1100"/>
                        <a:t>Usulkan tindakan dan target kebutuhan divisi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Susun tindakan, target, sumber daya &amp; PIC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fi-FI" sz="1100"/>
                        <a:t>Lihat rencana; beri masukan lapangan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670472096"/>
                  </a:ext>
                </a:extLst>
              </a:tr>
              <a:tr h="266869">
                <a:tc>
                  <a:txBody>
                    <a:bodyPr/>
                    <a:lstStyle/>
                    <a:p>
                      <a:r>
                        <a:rPr lang="en-US" sz="1100"/>
                        <a:t>Persetujuan action plan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Approve atau return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hasil persetujuan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Revisi sesuai arahan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rencana yang disetujui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803697937"/>
                  </a:ext>
                </a:extLst>
              </a:tr>
              <a:tr h="266869">
                <a:tc>
                  <a:txBody>
                    <a:bodyPr/>
                    <a:lstStyle/>
                    <a:p>
                      <a:r>
                        <a:rPr lang="en-US" sz="1100"/>
                        <a:t>Penugasan pelaksanaan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Monitor &amp; arahkan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Koordinasikan kebutuhan area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Tugaskan Mandor Upkeep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Terima penugasan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417775310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 dirty="0"/>
                        <a:t>Update </a:t>
                      </a:r>
                      <a:r>
                        <a:rPr lang="en-US" sz="1100" dirty="0" err="1"/>
                        <a:t>progres</a:t>
                      </a:r>
                      <a:r>
                        <a:rPr lang="en-US" sz="1100" dirty="0"/>
                        <a:t> &amp; </a:t>
                      </a:r>
                      <a:r>
                        <a:rPr lang="en-US" sz="1100" dirty="0" err="1"/>
                        <a:t>bukti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pekerjaan</a:t>
                      </a:r>
                      <a:endParaRPr lang="en-US" sz="1100" dirty="0"/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&amp; beri komentar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&amp; beri komentar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Update/review realisasi dan kendala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Input realisasi, foto &amp; kendala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732914361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Ajukan penyelesaian pekerjaan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Monitor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pengajuan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Review pengajuan Mandor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Submit bukti penyelesaian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4052446767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Verifikasi hasil di lapangan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Lihat hasil verifikasi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Verifikasi kesesuaian hasil pada divisinya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fi-FI" sz="1100"/>
                        <a:t>Periksa kelengkapan dan realisasi pekerjaan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Perbaiki pekerjaan/bukti jika dikembalikan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3199069066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Final closure / reopen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Setujui penutupan atau buka kembali dengan alasan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Rekomendasikan close/reopen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Tindak lanjuti hasil verifikasi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Tindak lanjuti perbaikan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903259494"/>
                  </a:ext>
                </a:extLst>
              </a:tr>
              <a:tr h="381241">
                <a:tc>
                  <a:txBody>
                    <a:bodyPr/>
                    <a:lstStyle/>
                    <a:p>
                      <a:r>
                        <a:rPr lang="en-US" sz="1100"/>
                        <a:t>Reports &amp; export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Seluruh wilayah kewenangan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Divisi yang ditangani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Pekerjaan upkeep dalam kewenangannya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Riwayat tugas sendiri</a:t>
                      </a:r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877637249"/>
                  </a:ext>
                </a:extLst>
              </a:tr>
              <a:tr h="266869">
                <a:tc>
                  <a:txBody>
                    <a:bodyPr/>
                    <a:lstStyle/>
                    <a:p>
                      <a:r>
                        <a:rPr lang="en-US" sz="1100"/>
                        <a:t>Master data, user &amp; integrasi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Mengajukan perubahan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Mengajukan perubahan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Mengajukan perubahan</a:t>
                      </a:r>
                    </a:p>
                  </a:txBody>
                  <a:tcPr marL="32965" marR="32965" marT="16482" marB="16482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Tidak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ada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akses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pengaturan</a:t>
                      </a:r>
                      <a:endParaRPr lang="en-US" sz="1100" dirty="0"/>
                    </a:p>
                  </a:txBody>
                  <a:tcPr marL="32965" marR="32965" marT="16482" marB="16482" anchor="ctr"/>
                </a:tc>
                <a:extLst>
                  <a:ext uri="{0D108BD9-81ED-4DB2-BD59-A6C34878D82A}">
                    <a16:rowId xmlns:a16="http://schemas.microsoft.com/office/drawing/2014/main" val="2176013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128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2147</Words>
  <Application>Microsoft Office PowerPoint</Application>
  <PresentationFormat>Widescreen</PresentationFormat>
  <Paragraphs>266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Calibri Light</vt:lpstr>
      <vt:lpstr>Inter Medium</vt:lpstr>
      <vt:lpstr>Inter SemiBold</vt:lpstr>
      <vt:lpstr>Poppins</vt:lpstr>
      <vt:lpstr>Poppins Black</vt:lpstr>
      <vt:lpstr>Poppins Medium</vt:lpstr>
      <vt:lpstr>Office Theme</vt:lpstr>
      <vt:lpstr>think-cell Slide</vt:lpstr>
      <vt:lpstr>PowerPoint Presentation</vt:lpstr>
      <vt:lpstr>GUIDING PRINCIPLES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Afik Zainul Wafa</dc:creator>
  <cp:lastModifiedBy>Afik Zainul Wafa</cp:lastModifiedBy>
  <cp:revision>4</cp:revision>
  <dcterms:created xsi:type="dcterms:W3CDTF">2026-09-21T10:37:42Z</dcterms:created>
  <dcterms:modified xsi:type="dcterms:W3CDTF">2026-09-21T11:05:35Z</dcterms:modified>
</cp:coreProperties>
</file>